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590528" y="10361328"/>
            <a:ext cx="37528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#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zakaz@tdrusstankosbyt.ru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hyperlink" Target="mailto:zakaz@tdrusstankosbyt.ru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46099" y="1438274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46099" y="2400299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6476999" y="9524"/>
                </a:moveTo>
                <a:lnTo>
                  <a:pt x="0" y="9524"/>
                </a:lnTo>
                <a:lnTo>
                  <a:pt x="0" y="0"/>
                </a:lnTo>
                <a:lnTo>
                  <a:pt x="6476999" y="0"/>
                </a:lnTo>
                <a:lnTo>
                  <a:pt x="64769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46099" y="3381374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593724" y="3562349"/>
            <a:ext cx="6362700" cy="571500"/>
            <a:chOff x="593724" y="3562349"/>
            <a:chExt cx="6362700" cy="571500"/>
          </a:xfrm>
        </p:grpSpPr>
        <p:sp>
          <p:nvSpPr>
            <p:cNvPr id="8" name="object 8" descr=""/>
            <p:cNvSpPr/>
            <p:nvPr/>
          </p:nvSpPr>
          <p:spPr>
            <a:xfrm>
              <a:off x="593724" y="3562349"/>
              <a:ext cx="6362700" cy="571500"/>
            </a:xfrm>
            <a:custGeom>
              <a:avLst/>
              <a:gdLst/>
              <a:ahLst/>
              <a:cxnLst/>
              <a:rect l="l" t="t" r="r" b="b"/>
              <a:pathLst>
                <a:path w="6362700" h="571500">
                  <a:moveTo>
                    <a:pt x="6362699" y="571499"/>
                  </a:moveTo>
                  <a:lnTo>
                    <a:pt x="0" y="571499"/>
                  </a:lnTo>
                  <a:lnTo>
                    <a:pt x="0" y="0"/>
                  </a:lnTo>
                  <a:lnTo>
                    <a:pt x="6362699" y="0"/>
                  </a:lnTo>
                  <a:lnTo>
                    <a:pt x="6362699" y="571499"/>
                  </a:lnTo>
                  <a:close/>
                </a:path>
              </a:pathLst>
            </a:custGeom>
            <a:solidFill>
              <a:srgbClr val="7E7E7E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93724" y="3562349"/>
              <a:ext cx="47625" cy="571500"/>
            </a:xfrm>
            <a:custGeom>
              <a:avLst/>
              <a:gdLst/>
              <a:ahLst/>
              <a:cxnLst/>
              <a:rect l="l" t="t" r="r" b="b"/>
              <a:pathLst>
                <a:path w="47625" h="571500">
                  <a:moveTo>
                    <a:pt x="47624" y="571499"/>
                  </a:moveTo>
                  <a:lnTo>
                    <a:pt x="0" y="5714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571499"/>
                  </a:lnTo>
                  <a:close/>
                </a:path>
              </a:pathLst>
            </a:custGeom>
            <a:solidFill>
              <a:srgbClr val="0079CC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546099" y="4286249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46099" y="5819774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46087" y="8086725"/>
            <a:ext cx="4600575" cy="9525"/>
          </a:xfrm>
          <a:custGeom>
            <a:avLst/>
            <a:gdLst/>
            <a:ahLst/>
            <a:cxnLst/>
            <a:rect l="l" t="t" r="r" b="b"/>
            <a:pathLst>
              <a:path w="4600575" h="9525">
                <a:moveTo>
                  <a:pt x="4600575" y="0"/>
                </a:moveTo>
                <a:lnTo>
                  <a:pt x="1438275" y="0"/>
                </a:lnTo>
                <a:lnTo>
                  <a:pt x="0" y="0"/>
                </a:lnTo>
                <a:lnTo>
                  <a:pt x="0" y="9525"/>
                </a:lnTo>
                <a:lnTo>
                  <a:pt x="1438275" y="9525"/>
                </a:lnTo>
                <a:lnTo>
                  <a:pt x="4600575" y="9525"/>
                </a:lnTo>
                <a:lnTo>
                  <a:pt x="4600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46087" y="7772400"/>
            <a:ext cx="4600575" cy="9525"/>
          </a:xfrm>
          <a:custGeom>
            <a:avLst/>
            <a:gdLst/>
            <a:ahLst/>
            <a:cxnLst/>
            <a:rect l="l" t="t" r="r" b="b"/>
            <a:pathLst>
              <a:path w="4600575" h="9525">
                <a:moveTo>
                  <a:pt x="4600575" y="0"/>
                </a:moveTo>
                <a:lnTo>
                  <a:pt x="1438275" y="0"/>
                </a:lnTo>
                <a:lnTo>
                  <a:pt x="0" y="0"/>
                </a:lnTo>
                <a:lnTo>
                  <a:pt x="0" y="9525"/>
                </a:lnTo>
                <a:lnTo>
                  <a:pt x="1438275" y="9525"/>
                </a:lnTo>
                <a:lnTo>
                  <a:pt x="4600575" y="9525"/>
                </a:lnTo>
                <a:lnTo>
                  <a:pt x="4600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46087" y="7458075"/>
            <a:ext cx="4600575" cy="9525"/>
          </a:xfrm>
          <a:custGeom>
            <a:avLst/>
            <a:gdLst/>
            <a:ahLst/>
            <a:cxnLst/>
            <a:rect l="l" t="t" r="r" b="b"/>
            <a:pathLst>
              <a:path w="4600575" h="9525">
                <a:moveTo>
                  <a:pt x="4600575" y="0"/>
                </a:moveTo>
                <a:lnTo>
                  <a:pt x="1438275" y="0"/>
                </a:lnTo>
                <a:lnTo>
                  <a:pt x="0" y="0"/>
                </a:lnTo>
                <a:lnTo>
                  <a:pt x="0" y="9525"/>
                </a:lnTo>
                <a:lnTo>
                  <a:pt x="1438275" y="9525"/>
                </a:lnTo>
                <a:lnTo>
                  <a:pt x="4600575" y="9525"/>
                </a:lnTo>
                <a:lnTo>
                  <a:pt x="4600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46099" y="8486774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533399" y="673100"/>
            <a:ext cx="16002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Segoe UI"/>
                <a:cs typeface="Segoe UI"/>
              </a:rPr>
              <a:t>З#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 Emoji"/>
                <a:cs typeface="Segoe UI Emoji"/>
              </a:rPr>
              <a:t>🏭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ТД </a:t>
            </a:r>
            <a:r>
              <a:rPr dirty="0" sz="1050" spc="-10">
                <a:latin typeface="Segoe UI"/>
                <a:cs typeface="Segoe UI"/>
              </a:rPr>
              <a:t>РУССтанкоСбыт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33399" y="1016000"/>
            <a:ext cx="6423025" cy="59429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Segoe UI"/>
                <a:cs typeface="Segoe UI"/>
              </a:rPr>
              <a:t>Презентация</a:t>
            </a:r>
            <a:r>
              <a:rPr dirty="0" sz="1550" spc="4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для</a:t>
            </a:r>
            <a:r>
              <a:rPr dirty="0" sz="1550" spc="4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АО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"ПО</a:t>
            </a:r>
            <a:r>
              <a:rPr dirty="0" sz="1550" spc="4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"Севмаш"</a:t>
            </a:r>
            <a:r>
              <a:rPr dirty="0" sz="1550" spc="4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и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АО</a:t>
            </a:r>
            <a:r>
              <a:rPr dirty="0" sz="1550" spc="4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"ЦС</a:t>
            </a:r>
            <a:r>
              <a:rPr dirty="0" sz="1550" spc="40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"Звездочка"</a:t>
            </a:r>
            <a:endParaRPr sz="15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3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1:</a:t>
            </a:r>
            <a:r>
              <a:rPr dirty="0" sz="1550" spc="30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Титульный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2100">
                <a:latin typeface="Segoe UI Emoji"/>
                <a:cs typeface="Segoe UI Emoji"/>
              </a:rPr>
              <a:t>⚙</a:t>
            </a:r>
            <a:r>
              <a:rPr dirty="0" sz="2100" spc="-15">
                <a:latin typeface="Segoe UI Emoji"/>
                <a:cs typeface="Segoe UI Emoji"/>
              </a:rPr>
              <a:t> </a:t>
            </a:r>
            <a:r>
              <a:rPr dirty="0" sz="2100">
                <a:latin typeface="Segoe UI"/>
                <a:cs typeface="Segoe UI"/>
              </a:rPr>
              <a:t>ТД</a:t>
            </a:r>
            <a:r>
              <a:rPr dirty="0" sz="2100" spc="-15">
                <a:latin typeface="Segoe UI"/>
                <a:cs typeface="Segoe UI"/>
              </a:rPr>
              <a:t> </a:t>
            </a:r>
            <a:r>
              <a:rPr dirty="0" sz="2100" spc="-10">
                <a:latin typeface="Segoe UI"/>
                <a:cs typeface="Segoe UI"/>
              </a:rPr>
              <a:t>РУССтанкоСбыт</a:t>
            </a:r>
            <a:endParaRPr sz="2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dirty="0" sz="1200" b="1">
                <a:latin typeface="Segoe UI"/>
                <a:cs typeface="Segoe UI"/>
              </a:rPr>
              <a:t>Ремонт,</a:t>
            </a:r>
            <a:r>
              <a:rPr dirty="0" sz="1200" spc="6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модернизация</a:t>
            </a:r>
            <a:r>
              <a:rPr dirty="0" sz="1200" spc="6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и</a:t>
            </a:r>
            <a:r>
              <a:rPr dirty="0" sz="1200" spc="6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производство</a:t>
            </a:r>
            <a:r>
              <a:rPr dirty="0" sz="1200" spc="6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станочного</a:t>
            </a:r>
            <a:r>
              <a:rPr dirty="0" sz="1200" spc="60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оборудования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 sz="1100" spc="305">
                <a:latin typeface="Arial MT"/>
                <a:cs typeface="Arial MT"/>
              </a:rPr>
              <a:t>🚢</a:t>
            </a:r>
            <a:r>
              <a:rPr dirty="0" sz="1100" spc="335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Комплексные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решения</a:t>
            </a:r>
            <a:r>
              <a:rPr dirty="0" sz="1050" spc="-2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для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судостроительной</a:t>
            </a:r>
            <a:r>
              <a:rPr dirty="0" sz="1050" spc="-20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промышленности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050">
              <a:latin typeface="Segoe UI"/>
              <a:cs typeface="Segoe UI"/>
            </a:endParaRPr>
          </a:p>
          <a:p>
            <a:pPr marL="202565">
              <a:lnSpc>
                <a:spcPct val="100000"/>
              </a:lnSpc>
            </a:pPr>
            <a:r>
              <a:rPr dirty="0" sz="1200" spc="105">
                <a:latin typeface="Segoe UI Emoji"/>
                <a:cs typeface="Segoe UI Emoji"/>
              </a:rPr>
              <a:t>🏆</a:t>
            </a:r>
            <a:r>
              <a:rPr dirty="0" sz="1200" spc="55">
                <a:latin typeface="Segoe UI Emoji"/>
                <a:cs typeface="Segoe UI Emoji"/>
              </a:rPr>
              <a:t> </a:t>
            </a:r>
            <a:r>
              <a:rPr dirty="0" sz="1200">
                <a:latin typeface="Segoe UI"/>
                <a:cs typeface="Segoe UI"/>
              </a:rPr>
              <a:t>Надежный</a:t>
            </a:r>
            <a:r>
              <a:rPr dirty="0" sz="1200" spc="5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партнер</a:t>
            </a:r>
            <a:r>
              <a:rPr dirty="0" sz="1200" spc="6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с</a:t>
            </a:r>
            <a:r>
              <a:rPr dirty="0" sz="1200" spc="5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2014</a:t>
            </a:r>
            <a:r>
              <a:rPr dirty="0" sz="1200" spc="55">
                <a:latin typeface="Segoe UI"/>
                <a:cs typeface="Segoe UI"/>
              </a:rPr>
              <a:t> </a:t>
            </a:r>
            <a:r>
              <a:rPr dirty="0" sz="1200" spc="-20">
                <a:latin typeface="Segoe UI"/>
                <a:cs typeface="Segoe UI"/>
              </a:rPr>
              <a:t>года</a:t>
            </a:r>
            <a:endParaRPr sz="1200">
              <a:latin typeface="Segoe UI"/>
              <a:cs typeface="Segoe UI"/>
            </a:endParaRPr>
          </a:p>
          <a:p>
            <a:pPr marL="202565">
              <a:lnSpc>
                <a:spcPct val="100000"/>
              </a:lnSpc>
              <a:spcBef>
                <a:spcPts val="1410"/>
              </a:spcBef>
            </a:pPr>
            <a:r>
              <a:rPr dirty="0" sz="1050" b="1">
                <a:latin typeface="Segoe UI"/>
                <a:cs typeface="Segoe UI"/>
              </a:rPr>
              <a:t>12 лет опыта | 4 площадки</a:t>
            </a:r>
            <a:r>
              <a:rPr dirty="0" sz="1050" spc="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| 15 000+ м² | 60+</a:t>
            </a:r>
            <a:r>
              <a:rPr dirty="0" sz="1050" spc="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специалистов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105">
                <a:latin typeface="Segoe UI Emoji"/>
                <a:cs typeface="Segoe UI Emoji"/>
              </a:rPr>
              <a:t>📞</a:t>
            </a:r>
            <a:r>
              <a:rPr dirty="0" sz="1200" spc="5">
                <a:latin typeface="Segoe UI Emoji"/>
                <a:cs typeface="Segoe UI Emoji"/>
              </a:rPr>
              <a:t> </a:t>
            </a:r>
            <a:r>
              <a:rPr dirty="0" sz="1200" spc="-10">
                <a:latin typeface="Segoe UI"/>
                <a:cs typeface="Segoe UI"/>
              </a:rPr>
              <a:t>Контакты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050">
                <a:latin typeface="Segoe UI Emoji"/>
                <a:cs typeface="Segoe UI Emoji"/>
              </a:rPr>
              <a:t>📧</a:t>
            </a:r>
            <a:r>
              <a:rPr dirty="0" sz="1050" spc="-20">
                <a:latin typeface="Segoe UI Emoji"/>
                <a:cs typeface="Segoe UI Emoji"/>
              </a:rPr>
              <a:t> </a:t>
            </a:r>
            <a:r>
              <a:rPr dirty="0" sz="1050" b="1">
                <a:latin typeface="Segoe UI"/>
                <a:cs typeface="Segoe UI"/>
              </a:rPr>
              <a:t>Email:</a:t>
            </a:r>
            <a:r>
              <a:rPr dirty="0" sz="1050" spc="-20" b="1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  <a:hlinkClick r:id="rId2"/>
              </a:rPr>
              <a:t>zakaz@tdrusstankosbyt.ru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 spc="470">
                <a:latin typeface="Segoe UI Emoji"/>
                <a:cs typeface="Segoe UI Emoji"/>
              </a:rPr>
              <a:t>📱</a:t>
            </a:r>
            <a:r>
              <a:rPr dirty="0" sz="1050" spc="-10">
                <a:latin typeface="Segoe UI Emoji"/>
                <a:cs typeface="Segoe UI Emoj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Телефон: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+7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(499) 390-85-</a:t>
            </a:r>
            <a:r>
              <a:rPr dirty="0" sz="1050" spc="-25">
                <a:latin typeface="Segoe UI"/>
                <a:cs typeface="Segoe UI"/>
              </a:rPr>
              <a:t>04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 spc="65">
                <a:latin typeface="Segoe UI Emoji"/>
                <a:cs typeface="Segoe UI Emoji"/>
              </a:rPr>
              <a:t>🌐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 b="1">
                <a:latin typeface="Segoe UI"/>
                <a:cs typeface="Segoe UI"/>
              </a:rPr>
              <a:t>Сайт: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https://tdrusstankosbyt.ru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💬</a:t>
            </a:r>
            <a:r>
              <a:rPr dirty="0" sz="1050" spc="-10">
                <a:latin typeface="Segoe UI Emoji"/>
                <a:cs typeface="Segoe UI Emoj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Telegram: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https://t.me/tdrusstankosbyt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3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2:</a:t>
            </a:r>
            <a:r>
              <a:rPr dirty="0" sz="1550" spc="3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О</a:t>
            </a:r>
            <a:r>
              <a:rPr dirty="0" sz="1550" spc="30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компании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200">
                <a:latin typeface="Segoe UI Emoji"/>
                <a:cs typeface="Segoe UI Emoji"/>
              </a:rPr>
              <a:t>🏢</a:t>
            </a:r>
            <a:r>
              <a:rPr dirty="0" sz="1200" spc="70">
                <a:latin typeface="Segoe UI Emoji"/>
                <a:cs typeface="Segoe UI Emoji"/>
              </a:rPr>
              <a:t> </a:t>
            </a:r>
            <a:r>
              <a:rPr dirty="0" sz="1200">
                <a:latin typeface="Segoe UI"/>
                <a:cs typeface="Segoe UI"/>
              </a:rPr>
              <a:t>ТД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РУССтанкоСбыт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–</a:t>
            </a:r>
            <a:r>
              <a:rPr dirty="0" sz="1200" spc="7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Ваш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надёжный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партнёр</a:t>
            </a:r>
            <a:r>
              <a:rPr dirty="0" sz="1200" spc="7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в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области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станкостроения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spc="300">
                <a:latin typeface="Arial MT"/>
                <a:cs typeface="Arial MT"/>
              </a:rPr>
              <a:t>📊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Краткая</a:t>
            </a:r>
            <a:r>
              <a:rPr dirty="0" sz="1050" spc="-10" b="1">
                <a:latin typeface="Segoe UI"/>
                <a:cs typeface="Segoe UI"/>
              </a:rPr>
              <a:t> справка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28649" y="7207250"/>
            <a:ext cx="6718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Segoe UI"/>
                <a:cs typeface="Segoe UI"/>
              </a:rPr>
              <a:t>Параметр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066925" y="7207250"/>
            <a:ext cx="6419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Segoe UI"/>
                <a:cs typeface="Segoe UI"/>
              </a:rPr>
              <a:t>Значение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28649" y="7521575"/>
            <a:ext cx="12007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130">
                <a:latin typeface="Segoe UI Emoji"/>
                <a:cs typeface="Segoe UI Emoji"/>
              </a:rPr>
              <a:t>🗓</a:t>
            </a:r>
            <a:r>
              <a:rPr dirty="0" sz="1050" spc="-30">
                <a:latin typeface="Segoe UI Emoji"/>
                <a:cs typeface="Segoe UI Emoji"/>
              </a:rPr>
              <a:t> </a:t>
            </a:r>
            <a:r>
              <a:rPr dirty="0" sz="1050" spc="-20" b="1">
                <a:latin typeface="Segoe UI"/>
                <a:cs typeface="Segoe UI"/>
              </a:rPr>
              <a:t>Год</a:t>
            </a:r>
            <a:r>
              <a:rPr dirty="0" sz="1050" spc="-2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основания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066925" y="7521575"/>
            <a:ext cx="3130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>
                <a:latin typeface="Segoe UI"/>
                <a:cs typeface="Segoe UI"/>
              </a:rPr>
              <a:t>2014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28649" y="7835900"/>
            <a:ext cx="11169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130">
                <a:latin typeface="Segoe UI Emoji"/>
                <a:cs typeface="Segoe UI Emoji"/>
              </a:rPr>
              <a:t>⏱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 b="1">
                <a:latin typeface="Segoe UI"/>
                <a:cs typeface="Segoe UI"/>
              </a:rPr>
              <a:t>Опыт </a:t>
            </a:r>
            <a:r>
              <a:rPr dirty="0" sz="1050" spc="-10" b="1">
                <a:latin typeface="Segoe UI"/>
                <a:cs typeface="Segoe UI"/>
              </a:rPr>
              <a:t>работы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066925" y="7835900"/>
            <a:ext cx="29946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Segoe UI"/>
                <a:cs typeface="Segoe UI"/>
              </a:rPr>
              <a:t>12 лет на рынке промышленного </a:t>
            </a:r>
            <a:r>
              <a:rPr dirty="0" sz="1050" spc="-10">
                <a:latin typeface="Segoe UI"/>
                <a:cs typeface="Segoe UI"/>
              </a:rPr>
              <a:t>оборудования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28649" y="8150225"/>
            <a:ext cx="12706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Segoe UI Emoji"/>
                <a:cs typeface="Segoe UI Emoji"/>
              </a:rPr>
              <a:t>🎯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Специализация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066925" y="8150225"/>
            <a:ext cx="29032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Segoe UI"/>
                <a:cs typeface="Segoe UI"/>
              </a:rPr>
              <a:t>Полный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цикл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обслуживания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станочного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парка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33399" y="8672833"/>
            <a:ext cx="168783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310">
                <a:latin typeface="Arial MT"/>
                <a:cs typeface="Arial MT"/>
              </a:rPr>
              <a:t>🔧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Наша </a:t>
            </a:r>
            <a:r>
              <a:rPr dirty="0" sz="1050" spc="-30" b="1">
                <a:latin typeface="Segoe UI"/>
                <a:cs typeface="Segoe UI"/>
              </a:rPr>
              <a:t>специализация: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765174" y="9715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65174" y="99250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765174" y="101345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533399" y="9282682"/>
            <a:ext cx="3868420" cy="967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2720">
                <a:latin typeface="Microsoft Sans Serif"/>
                <a:cs typeface="Microsoft Sans Serif"/>
              </a:rPr>
              <a:t>🛠</a:t>
            </a:r>
            <a:r>
              <a:rPr dirty="0" sz="1200" spc="270">
                <a:latin typeface="Microsoft Sans Serif"/>
                <a:cs typeface="Microsoft Sans Serif"/>
              </a:rPr>
              <a:t> </a:t>
            </a:r>
            <a:r>
              <a:rPr dirty="0" sz="1050" b="1">
                <a:latin typeface="Segoe UI"/>
                <a:cs typeface="Segoe UI"/>
              </a:rPr>
              <a:t>РЕМОНТ И </a:t>
            </a:r>
            <a:r>
              <a:rPr dirty="0" sz="1050" spc="-10" b="1">
                <a:latin typeface="Segoe UI"/>
                <a:cs typeface="Segoe UI"/>
              </a:rPr>
              <a:t>МОДЕРНИЗАЦИЯ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Ремонт и восстановление станочного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оборудования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 </a:t>
            </a:r>
            <a:r>
              <a:rPr dirty="0" sz="1050">
                <a:latin typeface="Segoe UI"/>
                <a:cs typeface="Segoe UI"/>
              </a:rPr>
              <a:t>Модернизация производственных </a:t>
            </a:r>
            <a:r>
              <a:rPr dirty="0" sz="1050" spc="-10">
                <a:latin typeface="Segoe UI"/>
                <a:cs typeface="Segoe UI"/>
              </a:rPr>
              <a:t>линий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30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Установка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систем</a:t>
            </a:r>
            <a:r>
              <a:rPr dirty="0" sz="1050" spc="-30">
                <a:latin typeface="Segoe UI"/>
                <a:cs typeface="Segoe UI"/>
              </a:rPr>
              <a:t> </a:t>
            </a:r>
            <a:r>
              <a:rPr dirty="0" sz="1050" spc="-25">
                <a:latin typeface="Segoe UI"/>
                <a:cs typeface="Segoe UI"/>
              </a:rPr>
              <a:t>ЧПУ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46099" y="1657349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546099" y="2238374"/>
            <a:ext cx="6477000" cy="1543050"/>
            <a:chOff x="546099" y="2238374"/>
            <a:chExt cx="6477000" cy="1543050"/>
          </a:xfrm>
        </p:grpSpPr>
        <p:sp>
          <p:nvSpPr>
            <p:cNvPr id="6" name="object 6" descr=""/>
            <p:cNvSpPr/>
            <p:nvPr/>
          </p:nvSpPr>
          <p:spPr>
            <a:xfrm>
              <a:off x="550862" y="2243136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6446819" y="1533523"/>
                  </a:moveTo>
                  <a:lnTo>
                    <a:pt x="20654" y="1533523"/>
                  </a:lnTo>
                  <a:lnTo>
                    <a:pt x="17617" y="1532919"/>
                  </a:lnTo>
                  <a:lnTo>
                    <a:pt x="0" y="1512869"/>
                  </a:lnTo>
                  <a:lnTo>
                    <a:pt x="0" y="1509712"/>
                  </a:lnTo>
                  <a:lnTo>
                    <a:pt x="0" y="20653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3"/>
                  </a:lnTo>
                  <a:lnTo>
                    <a:pt x="6467473" y="1512869"/>
                  </a:lnTo>
                  <a:lnTo>
                    <a:pt x="6449856" y="1532919"/>
                  </a:lnTo>
                  <a:lnTo>
                    <a:pt x="6446819" y="1533523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50862" y="2243136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0" y="1509712"/>
                  </a:moveTo>
                  <a:lnTo>
                    <a:pt x="0" y="23812"/>
                  </a:lnTo>
                  <a:lnTo>
                    <a:pt x="0" y="20653"/>
                  </a:lnTo>
                  <a:lnTo>
                    <a:pt x="604" y="17616"/>
                  </a:lnTo>
                  <a:lnTo>
                    <a:pt x="1812" y="14699"/>
                  </a:lnTo>
                  <a:lnTo>
                    <a:pt x="3021" y="11781"/>
                  </a:lnTo>
                  <a:lnTo>
                    <a:pt x="4741" y="9206"/>
                  </a:lnTo>
                  <a:lnTo>
                    <a:pt x="6974" y="6974"/>
                  </a:lnTo>
                  <a:lnTo>
                    <a:pt x="9207" y="4740"/>
                  </a:lnTo>
                  <a:lnTo>
                    <a:pt x="11782" y="3019"/>
                  </a:lnTo>
                  <a:lnTo>
                    <a:pt x="14699" y="1811"/>
                  </a:lnTo>
                  <a:lnTo>
                    <a:pt x="17617" y="603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3"/>
                  </a:lnTo>
                  <a:lnTo>
                    <a:pt x="6452774" y="1811"/>
                  </a:lnTo>
                  <a:lnTo>
                    <a:pt x="6455691" y="3019"/>
                  </a:lnTo>
                  <a:lnTo>
                    <a:pt x="6458266" y="4740"/>
                  </a:lnTo>
                  <a:lnTo>
                    <a:pt x="6460499" y="6974"/>
                  </a:lnTo>
                  <a:lnTo>
                    <a:pt x="6462732" y="9206"/>
                  </a:lnTo>
                  <a:lnTo>
                    <a:pt x="6467474" y="23812"/>
                  </a:lnTo>
                  <a:lnTo>
                    <a:pt x="6467474" y="1509712"/>
                  </a:lnTo>
                  <a:lnTo>
                    <a:pt x="6443662" y="1533524"/>
                  </a:lnTo>
                  <a:lnTo>
                    <a:pt x="23812" y="1533524"/>
                  </a:lnTo>
                  <a:lnTo>
                    <a:pt x="20654" y="1533523"/>
                  </a:lnTo>
                  <a:lnTo>
                    <a:pt x="17617" y="1532919"/>
                  </a:lnTo>
                  <a:lnTo>
                    <a:pt x="14699" y="1531711"/>
                  </a:lnTo>
                  <a:lnTo>
                    <a:pt x="11782" y="1530502"/>
                  </a:lnTo>
                  <a:lnTo>
                    <a:pt x="1812" y="1518823"/>
                  </a:lnTo>
                  <a:lnTo>
                    <a:pt x="604" y="1515906"/>
                  </a:lnTo>
                  <a:lnTo>
                    <a:pt x="0" y="1512869"/>
                  </a:lnTo>
                  <a:lnTo>
                    <a:pt x="0" y="150971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657474"/>
              <a:ext cx="34925" cy="1587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2567" y="2657474"/>
              <a:ext cx="34925" cy="15875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838449"/>
              <a:ext cx="34925" cy="15875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5883" y="2838449"/>
              <a:ext cx="34925" cy="1587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3019424"/>
              <a:ext cx="34925" cy="15875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5883" y="3019424"/>
              <a:ext cx="34925" cy="1587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3200399"/>
              <a:ext cx="34925" cy="1587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5883" y="3200399"/>
              <a:ext cx="34925" cy="158750"/>
            </a:xfrm>
            <a:prstGeom prst="rect">
              <a:avLst/>
            </a:prstGeom>
          </p:spPr>
        </p:pic>
      </p:grpSp>
      <p:sp>
        <p:nvSpPr>
          <p:cNvPr id="16" name="object 16" descr=""/>
          <p:cNvSpPr/>
          <p:nvPr/>
        </p:nvSpPr>
        <p:spPr>
          <a:xfrm>
            <a:off x="546099" y="3933824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65174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65174" y="11620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765174" y="13715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533399" y="522104"/>
            <a:ext cx="3874135" cy="15316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50">
                <a:latin typeface="Arial MT"/>
                <a:cs typeface="Arial MT"/>
              </a:rPr>
              <a:t>🏭</a:t>
            </a:r>
            <a:r>
              <a:rPr dirty="0" sz="1150" spc="345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ПРОИЗВОДСТВО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И</a:t>
            </a:r>
            <a:r>
              <a:rPr dirty="0" sz="1050" spc="-10" b="1">
                <a:latin typeface="Segoe UI"/>
                <a:cs typeface="Segoe UI"/>
              </a:rPr>
              <a:t> ПОСТАВКА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20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Поставка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нового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оборудования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запасных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частей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1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Изготовление</a:t>
            </a:r>
            <a:r>
              <a:rPr dirty="0" sz="1050" spc="2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индивидуальных</a:t>
            </a:r>
            <a:r>
              <a:rPr dirty="0" sz="1050" spc="2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заказов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Производство специализированных узлов 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деталей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2590">
                <a:latin typeface="Microsoft Sans Serif"/>
                <a:cs typeface="Microsoft Sans Serif"/>
              </a:rPr>
              <a:t>🤝</a:t>
            </a:r>
            <a:r>
              <a:rPr dirty="0" sz="1200" spc="280">
                <a:latin typeface="Microsoft Sans Serif"/>
                <a:cs typeface="Microsoft Sans Serif"/>
              </a:rPr>
              <a:t> </a:t>
            </a:r>
            <a:r>
              <a:rPr dirty="0" sz="1050" b="1">
                <a:latin typeface="Segoe UI"/>
                <a:cs typeface="Segoe UI"/>
              </a:rPr>
              <a:t>Работаем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с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крупнейшими</a:t>
            </a:r>
            <a:r>
              <a:rPr dirty="0" sz="1050" spc="-10" b="1">
                <a:latin typeface="Segoe UI"/>
                <a:cs typeface="Segoe UI"/>
              </a:rPr>
              <a:t> предприятиями: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761999" y="2433320"/>
            <a:ext cx="4424680" cy="11112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╔══════════════════════════════════════════════════════════╗</a:t>
            </a:r>
            <a:endParaRPr sz="1050">
              <a:latin typeface="Consolas"/>
              <a:cs typeface="Consolas"/>
            </a:endParaRPr>
          </a:p>
          <a:p>
            <a:pPr marL="23241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🏢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Корпорация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"Звездочка"</a:t>
            </a:r>
            <a:endParaRPr sz="1050">
              <a:latin typeface="Consolas"/>
              <a:cs typeface="Consolas"/>
            </a:endParaRPr>
          </a:p>
          <a:p>
            <a:pPr marL="23241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🏢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ПАО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"Севмаш"</a:t>
            </a:r>
            <a:endParaRPr sz="1050">
              <a:latin typeface="Consolas"/>
              <a:cs typeface="Consolas"/>
            </a:endParaRPr>
          </a:p>
          <a:p>
            <a:pPr marL="23241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🏢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АО "Уральская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Сталь"</a:t>
            </a:r>
            <a:endParaRPr sz="1050">
              <a:latin typeface="Consolas"/>
              <a:cs typeface="Consolas"/>
            </a:endParaRPr>
          </a:p>
          <a:p>
            <a:pPr marL="23241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🏢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И другие промышленные гиганты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России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╚══════════════════════════════════════════════════════════╝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33399" y="4102100"/>
            <a:ext cx="2884805" cy="61626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3: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Ключевые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показатели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200" spc="105">
                <a:latin typeface="Segoe UI Emoji"/>
                <a:cs typeface="Segoe UI Emoji"/>
              </a:rPr>
              <a:t>📈</a:t>
            </a:r>
            <a:r>
              <a:rPr dirty="0" sz="1200" spc="50">
                <a:latin typeface="Segoe UI Emoji"/>
                <a:cs typeface="Segoe UI Emoji"/>
              </a:rPr>
              <a:t> </a:t>
            </a:r>
            <a:r>
              <a:rPr dirty="0" sz="1200">
                <a:latin typeface="Segoe UI"/>
                <a:cs typeface="Segoe UI"/>
              </a:rPr>
              <a:t>Наши</a:t>
            </a:r>
            <a:r>
              <a:rPr dirty="0" sz="1200" spc="5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цифры</a:t>
            </a:r>
            <a:r>
              <a:rPr dirty="0" sz="1200" spc="5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говорят</a:t>
            </a:r>
            <a:r>
              <a:rPr dirty="0" sz="1200" spc="5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сами</a:t>
            </a:r>
            <a:r>
              <a:rPr dirty="0" sz="1200" spc="5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за</a:t>
            </a:r>
            <a:r>
              <a:rPr dirty="0" sz="1200" spc="50">
                <a:latin typeface="Segoe UI"/>
                <a:cs typeface="Segoe UI"/>
              </a:rPr>
              <a:t> </a:t>
            </a:r>
            <a:r>
              <a:rPr dirty="0" sz="1200" spc="-20">
                <a:latin typeface="Segoe UI"/>
                <a:cs typeface="Segoe UI"/>
              </a:rPr>
              <a:t>себя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204">
                <a:latin typeface="Segoe UI Emoji"/>
                <a:cs typeface="Segoe UI Emoji"/>
              </a:rPr>
              <a:t>🗓</a:t>
            </a:r>
            <a:r>
              <a:rPr dirty="0" sz="1200" spc="15">
                <a:latin typeface="Segoe UI Emoji"/>
                <a:cs typeface="Segoe UI Emoji"/>
              </a:rPr>
              <a:t> </a:t>
            </a:r>
            <a:r>
              <a:rPr dirty="0" sz="1200" b="1">
                <a:latin typeface="Segoe UI"/>
                <a:cs typeface="Segoe UI"/>
              </a:rPr>
              <a:t>12</a:t>
            </a:r>
            <a:r>
              <a:rPr dirty="0" sz="1200" spc="20" b="1">
                <a:latin typeface="Segoe UI"/>
                <a:cs typeface="Segoe UI"/>
              </a:rPr>
              <a:t> </a:t>
            </a:r>
            <a:r>
              <a:rPr dirty="0" sz="1200" spc="-25" b="1">
                <a:latin typeface="Segoe UI"/>
                <a:cs typeface="Segoe UI"/>
              </a:rPr>
              <a:t>ЛЕТ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050" b="1">
                <a:latin typeface="Segoe UI"/>
                <a:cs typeface="Segoe UI"/>
              </a:rPr>
              <a:t>на </a:t>
            </a:r>
            <a:r>
              <a:rPr dirty="0" sz="1050" spc="-10" b="1">
                <a:latin typeface="Segoe UI"/>
                <a:cs typeface="Segoe UI"/>
              </a:rPr>
              <a:t>рынке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с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2014 </a:t>
            </a:r>
            <a:r>
              <a:rPr dirty="0" sz="1050" spc="-20">
                <a:latin typeface="Segoe UI"/>
                <a:cs typeface="Segoe UI"/>
              </a:rPr>
              <a:t>года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Segoe UI Emoji"/>
                <a:cs typeface="Segoe UI Emoji"/>
              </a:rPr>
              <a:t>🏭</a:t>
            </a:r>
            <a:r>
              <a:rPr dirty="0" sz="1200" spc="25">
                <a:latin typeface="Segoe UI Emoji"/>
                <a:cs typeface="Segoe UI Emoji"/>
              </a:rPr>
              <a:t> </a:t>
            </a:r>
            <a:r>
              <a:rPr dirty="0" sz="1200" b="1">
                <a:latin typeface="Segoe UI"/>
                <a:cs typeface="Segoe UI"/>
              </a:rPr>
              <a:t>4</a:t>
            </a:r>
            <a:r>
              <a:rPr dirty="0" sz="1200" spc="30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ПЛОЩАДКИ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050" spc="-10" b="1">
                <a:latin typeface="Segoe UI"/>
                <a:cs typeface="Segoe UI"/>
              </a:rPr>
              <a:t>производственных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Рязань,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Воронеж,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Ижевск,</a:t>
            </a:r>
            <a:r>
              <a:rPr dirty="0" sz="1050" spc="-10">
                <a:latin typeface="Segoe UI"/>
                <a:cs typeface="Segoe UI"/>
              </a:rPr>
              <a:t> Беларусь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105">
                <a:latin typeface="Segoe UI Emoji"/>
                <a:cs typeface="Segoe UI Emoji"/>
              </a:rPr>
              <a:t>📐</a:t>
            </a:r>
            <a:r>
              <a:rPr dirty="0" sz="1200" spc="35">
                <a:latin typeface="Segoe UI Emoji"/>
                <a:cs typeface="Segoe UI Emoji"/>
              </a:rPr>
              <a:t> </a:t>
            </a:r>
            <a:r>
              <a:rPr dirty="0" sz="1200" b="1">
                <a:latin typeface="Segoe UI"/>
                <a:cs typeface="Segoe UI"/>
              </a:rPr>
              <a:t>15</a:t>
            </a:r>
            <a:r>
              <a:rPr dirty="0" sz="1200" spc="3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000+</a:t>
            </a:r>
            <a:r>
              <a:rPr dirty="0" sz="1200" spc="35" b="1">
                <a:latin typeface="Segoe UI"/>
                <a:cs typeface="Segoe UI"/>
              </a:rPr>
              <a:t> </a:t>
            </a:r>
            <a:r>
              <a:rPr dirty="0" sz="1200" spc="-25" b="1">
                <a:latin typeface="Segoe UI"/>
                <a:cs typeface="Segoe UI"/>
              </a:rPr>
              <a:t>м²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050" spc="-10" b="1">
                <a:latin typeface="Segoe UI"/>
                <a:cs typeface="Segoe UI"/>
              </a:rPr>
              <a:t>производственных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 spc="-10">
                <a:latin typeface="Segoe UI"/>
                <a:cs typeface="Segoe UI"/>
              </a:rPr>
              <a:t>площадей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355">
                <a:latin typeface="Segoe UI Emoji"/>
                <a:cs typeface="Segoe UI Emoji"/>
              </a:rPr>
              <a:t>   </a:t>
            </a:r>
            <a:r>
              <a:rPr dirty="0" sz="1200" b="1">
                <a:latin typeface="Segoe UI"/>
                <a:cs typeface="Segoe UI"/>
              </a:rPr>
              <a:t>60+</a:t>
            </a:r>
            <a:r>
              <a:rPr dirty="0" sz="1200" spc="15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ЧЕЛОВЕК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050" spc="-10" b="1">
                <a:latin typeface="Segoe UI"/>
                <a:cs typeface="Segoe UI"/>
              </a:rPr>
              <a:t>квалифицированных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 spc="-10">
                <a:latin typeface="Segoe UI"/>
                <a:cs typeface="Segoe UI"/>
              </a:rPr>
              <a:t>специалистов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Segoe UI Emoji"/>
                <a:cs typeface="Segoe UI Emoji"/>
              </a:rPr>
              <a:t>🏗</a:t>
            </a:r>
            <a:r>
              <a:rPr dirty="0" sz="1200" spc="25">
                <a:latin typeface="Segoe UI Emoji"/>
                <a:cs typeface="Segoe UI Emoji"/>
              </a:rPr>
              <a:t> </a:t>
            </a:r>
            <a:r>
              <a:rPr dirty="0" sz="1200" b="1">
                <a:latin typeface="Segoe UI"/>
                <a:cs typeface="Segoe UI"/>
              </a:rPr>
              <a:t>2</a:t>
            </a:r>
            <a:r>
              <a:rPr dirty="0" sz="1200" spc="30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ОБЪЕКТА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050" spc="-10" b="1">
                <a:latin typeface="Segoe UI"/>
                <a:cs typeface="Segoe UI"/>
              </a:rPr>
              <a:t>складских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 spc="-10">
                <a:latin typeface="Segoe UI"/>
                <a:cs typeface="Segoe UI"/>
              </a:rPr>
              <a:t>помещений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Segoe UI Emoji"/>
                <a:cs typeface="Segoe UI Emoji"/>
              </a:rPr>
              <a:t>⚙</a:t>
            </a:r>
            <a:r>
              <a:rPr dirty="0" sz="1200" spc="50">
                <a:latin typeface="Segoe UI Emoji"/>
                <a:cs typeface="Segoe UI Emoji"/>
              </a:rPr>
              <a:t> </a:t>
            </a:r>
            <a:r>
              <a:rPr dirty="0" sz="1200" b="1">
                <a:latin typeface="Segoe UI"/>
                <a:cs typeface="Segoe UI"/>
              </a:rPr>
              <a:t>500+</a:t>
            </a:r>
            <a:r>
              <a:rPr dirty="0" sz="1200" spc="50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МОДЕЛЕЙ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46099" y="1104899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46099" y="3933823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46099" y="5286373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546099" y="6038848"/>
            <a:ext cx="6477000" cy="1724025"/>
            <a:chOff x="546099" y="6038848"/>
            <a:chExt cx="6477000" cy="1724025"/>
          </a:xfrm>
        </p:grpSpPr>
        <p:sp>
          <p:nvSpPr>
            <p:cNvPr id="8" name="object 8" descr=""/>
            <p:cNvSpPr/>
            <p:nvPr/>
          </p:nvSpPr>
          <p:spPr>
            <a:xfrm>
              <a:off x="550862" y="6043611"/>
              <a:ext cx="6467475" cy="1714500"/>
            </a:xfrm>
            <a:custGeom>
              <a:avLst/>
              <a:gdLst/>
              <a:ahLst/>
              <a:cxnLst/>
              <a:rect l="l" t="t" r="r" b="b"/>
              <a:pathLst>
                <a:path w="6467475" h="1714500">
                  <a:moveTo>
                    <a:pt x="6446819" y="1714497"/>
                  </a:moveTo>
                  <a:lnTo>
                    <a:pt x="20654" y="1714497"/>
                  </a:lnTo>
                  <a:lnTo>
                    <a:pt x="17617" y="1713890"/>
                  </a:lnTo>
                  <a:lnTo>
                    <a:pt x="0" y="1693842"/>
                  </a:lnTo>
                  <a:lnTo>
                    <a:pt x="0" y="1690687"/>
                  </a:lnTo>
                  <a:lnTo>
                    <a:pt x="0" y="20652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2"/>
                  </a:lnTo>
                  <a:lnTo>
                    <a:pt x="6467473" y="1693842"/>
                  </a:lnTo>
                  <a:lnTo>
                    <a:pt x="6449856" y="1713890"/>
                  </a:lnTo>
                  <a:lnTo>
                    <a:pt x="6446819" y="1714497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50862" y="6043611"/>
              <a:ext cx="6467475" cy="1714500"/>
            </a:xfrm>
            <a:custGeom>
              <a:avLst/>
              <a:gdLst/>
              <a:ahLst/>
              <a:cxnLst/>
              <a:rect l="l" t="t" r="r" b="b"/>
              <a:pathLst>
                <a:path w="6467475" h="1714500">
                  <a:moveTo>
                    <a:pt x="0" y="1690687"/>
                  </a:moveTo>
                  <a:lnTo>
                    <a:pt x="0" y="23812"/>
                  </a:lnTo>
                  <a:lnTo>
                    <a:pt x="0" y="20652"/>
                  </a:lnTo>
                  <a:lnTo>
                    <a:pt x="604" y="17615"/>
                  </a:lnTo>
                  <a:lnTo>
                    <a:pt x="1812" y="14697"/>
                  </a:lnTo>
                  <a:lnTo>
                    <a:pt x="3021" y="11778"/>
                  </a:lnTo>
                  <a:lnTo>
                    <a:pt x="4741" y="9204"/>
                  </a:lnTo>
                  <a:lnTo>
                    <a:pt x="6974" y="6974"/>
                  </a:lnTo>
                  <a:lnTo>
                    <a:pt x="9207" y="4739"/>
                  </a:lnTo>
                  <a:lnTo>
                    <a:pt x="11782" y="3018"/>
                  </a:lnTo>
                  <a:lnTo>
                    <a:pt x="14699" y="1808"/>
                  </a:lnTo>
                  <a:lnTo>
                    <a:pt x="17617" y="601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1"/>
                  </a:lnTo>
                  <a:lnTo>
                    <a:pt x="6452774" y="1808"/>
                  </a:lnTo>
                  <a:lnTo>
                    <a:pt x="6455691" y="3018"/>
                  </a:lnTo>
                  <a:lnTo>
                    <a:pt x="6458266" y="4739"/>
                  </a:lnTo>
                  <a:lnTo>
                    <a:pt x="6460499" y="6974"/>
                  </a:lnTo>
                  <a:lnTo>
                    <a:pt x="6462732" y="9204"/>
                  </a:lnTo>
                  <a:lnTo>
                    <a:pt x="6467474" y="23812"/>
                  </a:lnTo>
                  <a:lnTo>
                    <a:pt x="6467474" y="1690687"/>
                  </a:lnTo>
                  <a:lnTo>
                    <a:pt x="6443662" y="1714499"/>
                  </a:lnTo>
                  <a:lnTo>
                    <a:pt x="23812" y="1714499"/>
                  </a:lnTo>
                  <a:lnTo>
                    <a:pt x="1812" y="1699798"/>
                  </a:lnTo>
                  <a:lnTo>
                    <a:pt x="604" y="1696879"/>
                  </a:lnTo>
                  <a:lnTo>
                    <a:pt x="0" y="1693842"/>
                  </a:lnTo>
                  <a:lnTo>
                    <a:pt x="0" y="1690687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546099" y="8324848"/>
            <a:ext cx="6477000" cy="1905000"/>
            <a:chOff x="546099" y="8324848"/>
            <a:chExt cx="6477000" cy="1905000"/>
          </a:xfrm>
        </p:grpSpPr>
        <p:sp>
          <p:nvSpPr>
            <p:cNvPr id="11" name="object 11" descr=""/>
            <p:cNvSpPr/>
            <p:nvPr/>
          </p:nvSpPr>
          <p:spPr>
            <a:xfrm>
              <a:off x="550862" y="8329610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6446819" y="1895472"/>
                  </a:moveTo>
                  <a:lnTo>
                    <a:pt x="20654" y="1895472"/>
                  </a:lnTo>
                  <a:lnTo>
                    <a:pt x="17617" y="1894868"/>
                  </a:lnTo>
                  <a:lnTo>
                    <a:pt x="0" y="1874817"/>
                  </a:lnTo>
                  <a:lnTo>
                    <a:pt x="0" y="1871662"/>
                  </a:lnTo>
                  <a:lnTo>
                    <a:pt x="0" y="20652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2"/>
                  </a:lnTo>
                  <a:lnTo>
                    <a:pt x="6467473" y="1874817"/>
                  </a:lnTo>
                  <a:lnTo>
                    <a:pt x="6449856" y="1894868"/>
                  </a:lnTo>
                  <a:lnTo>
                    <a:pt x="6446819" y="1895472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50862" y="8329610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0" y="1871662"/>
                  </a:moveTo>
                  <a:lnTo>
                    <a:pt x="0" y="23812"/>
                  </a:lnTo>
                  <a:lnTo>
                    <a:pt x="0" y="20652"/>
                  </a:lnTo>
                  <a:lnTo>
                    <a:pt x="604" y="17615"/>
                  </a:lnTo>
                  <a:lnTo>
                    <a:pt x="1812" y="14698"/>
                  </a:lnTo>
                  <a:lnTo>
                    <a:pt x="3021" y="11780"/>
                  </a:lnTo>
                  <a:lnTo>
                    <a:pt x="4741" y="9204"/>
                  </a:lnTo>
                  <a:lnTo>
                    <a:pt x="6974" y="6974"/>
                  </a:lnTo>
                  <a:lnTo>
                    <a:pt x="9207" y="4739"/>
                  </a:lnTo>
                  <a:lnTo>
                    <a:pt x="11782" y="3018"/>
                  </a:lnTo>
                  <a:lnTo>
                    <a:pt x="14699" y="1811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11"/>
                  </a:lnTo>
                  <a:lnTo>
                    <a:pt x="6455691" y="3018"/>
                  </a:lnTo>
                  <a:lnTo>
                    <a:pt x="6458266" y="4739"/>
                  </a:lnTo>
                  <a:lnTo>
                    <a:pt x="6460499" y="6974"/>
                  </a:lnTo>
                  <a:lnTo>
                    <a:pt x="6462732" y="9204"/>
                  </a:lnTo>
                  <a:lnTo>
                    <a:pt x="6467474" y="23812"/>
                  </a:lnTo>
                  <a:lnTo>
                    <a:pt x="6467474" y="1871662"/>
                  </a:lnTo>
                  <a:lnTo>
                    <a:pt x="6452774" y="1893658"/>
                  </a:lnTo>
                  <a:lnTo>
                    <a:pt x="6449856" y="1894868"/>
                  </a:lnTo>
                  <a:lnTo>
                    <a:pt x="6446819" y="1895472"/>
                  </a:lnTo>
                  <a:lnTo>
                    <a:pt x="6443662" y="1895474"/>
                  </a:lnTo>
                  <a:lnTo>
                    <a:pt x="23812" y="1895474"/>
                  </a:lnTo>
                  <a:lnTo>
                    <a:pt x="20654" y="1895472"/>
                  </a:lnTo>
                  <a:lnTo>
                    <a:pt x="17617" y="1894868"/>
                  </a:lnTo>
                  <a:lnTo>
                    <a:pt x="14699" y="1893658"/>
                  </a:lnTo>
                  <a:lnTo>
                    <a:pt x="11782" y="1892451"/>
                  </a:lnTo>
                  <a:lnTo>
                    <a:pt x="0" y="1874817"/>
                  </a:lnTo>
                  <a:lnTo>
                    <a:pt x="0" y="187166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33399" y="490219"/>
            <a:ext cx="2160270" cy="101028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050" spc="-10" b="1">
                <a:latin typeface="Segoe UI"/>
                <a:cs typeface="Segoe UI"/>
              </a:rPr>
              <a:t>станков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в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портфеле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150" spc="770">
                <a:latin typeface="Arial MT"/>
                <a:cs typeface="Arial MT"/>
              </a:rPr>
              <a:t>👥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Профессиональная </a:t>
            </a:r>
            <a:r>
              <a:rPr dirty="0" sz="1050" spc="-60" b="1">
                <a:latin typeface="Segoe UI"/>
                <a:cs typeface="Segoe UI"/>
              </a:rPr>
              <a:t>команда: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65174" y="23336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65174" y="25431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8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65174" y="32289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65174" y="34385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65174" y="36480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533399" y="1905367"/>
            <a:ext cx="4138295" cy="31730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355">
                <a:latin typeface="Arial MT"/>
                <a:cs typeface="Arial MT"/>
              </a:rPr>
              <a:t>🎨</a:t>
            </a:r>
            <a:r>
              <a:rPr dirty="0" sz="1150" spc="310">
                <a:latin typeface="Arial MT"/>
                <a:cs typeface="Arial MT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КОНСТРУКТОРСКИЙ</a:t>
            </a:r>
            <a:r>
              <a:rPr dirty="0" sz="1050" spc="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ОТДЕЛ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 spc="285">
                <a:latin typeface="Segoe UI Emoji"/>
                <a:cs typeface="Segoe UI Emoji"/>
              </a:rPr>
              <a:t>   </a:t>
            </a:r>
            <a:r>
              <a:rPr dirty="0" sz="1050">
                <a:latin typeface="Segoe UI"/>
                <a:cs typeface="Segoe UI"/>
              </a:rPr>
              <a:t>Конструкторы:</a:t>
            </a:r>
            <a:r>
              <a:rPr dirty="0" sz="1050" spc="5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5 </a:t>
            </a:r>
            <a:r>
              <a:rPr dirty="0" sz="1050" spc="-10" b="1">
                <a:latin typeface="Segoe UI"/>
                <a:cs typeface="Segoe UI"/>
              </a:rPr>
              <a:t>специалистов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🛠</a:t>
            </a:r>
            <a:r>
              <a:rPr dirty="0" sz="1050" spc="-20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Технологи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технические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директора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200" spc="310">
                <a:latin typeface="Arial MT"/>
                <a:cs typeface="Arial MT"/>
              </a:rPr>
              <a:t>🔧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ПРОИЗВОДСТВЕННЫЙ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ПЕРСОНАЛ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 spc="285">
                <a:latin typeface="Segoe UI Emoji"/>
                <a:cs typeface="Segoe UI Emoji"/>
              </a:rPr>
              <a:t>🔩</a:t>
            </a:r>
            <a:r>
              <a:rPr dirty="0" sz="1050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Токари: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15 </a:t>
            </a:r>
            <a:r>
              <a:rPr dirty="0" sz="1050" spc="-10" b="1">
                <a:latin typeface="Segoe UI"/>
                <a:cs typeface="Segoe UI"/>
              </a:rPr>
              <a:t>человек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⚙</a:t>
            </a:r>
            <a:r>
              <a:rPr dirty="0" sz="1050" spc="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Фрезеровщики</a:t>
            </a:r>
            <a:r>
              <a:rPr dirty="0" sz="1050" spc="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1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шлифовщики:</a:t>
            </a:r>
            <a:r>
              <a:rPr dirty="0" sz="1050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5</a:t>
            </a:r>
            <a:r>
              <a:rPr dirty="0" sz="1050" spc="10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человек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spc="90">
                <a:latin typeface="Segoe UI Emoji"/>
                <a:cs typeface="Segoe UI Emoji"/>
              </a:rPr>
              <a:t>🔌</a:t>
            </a:r>
            <a:r>
              <a:rPr dirty="0" sz="1050" spc="20">
                <a:latin typeface="Segoe UI Emoji"/>
                <a:cs typeface="Segoe UI Emoji"/>
              </a:rPr>
              <a:t> </a:t>
            </a:r>
            <a:r>
              <a:rPr dirty="0" sz="1050" spc="-10">
                <a:latin typeface="Segoe UI"/>
                <a:cs typeface="Segoe UI"/>
              </a:rPr>
              <a:t>Пусконаладчики:</a:t>
            </a:r>
            <a:r>
              <a:rPr dirty="0" sz="1050" spc="20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3</a:t>
            </a:r>
            <a:r>
              <a:rPr dirty="0" sz="1050" spc="2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специалиста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4: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География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присутствия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200">
                <a:latin typeface="Segoe UI Emoji"/>
                <a:cs typeface="Segoe UI Emoji"/>
              </a:rPr>
              <a:t>🗺</a:t>
            </a:r>
            <a:r>
              <a:rPr dirty="0" sz="1200" spc="65">
                <a:latin typeface="Segoe UI Emoji"/>
                <a:cs typeface="Segoe UI Emoji"/>
              </a:rPr>
              <a:t> </a:t>
            </a:r>
            <a:r>
              <a:rPr dirty="0" sz="1200">
                <a:latin typeface="Segoe UI"/>
                <a:cs typeface="Segoe UI"/>
              </a:rPr>
              <a:t>4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производственные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площадки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по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всей</a:t>
            </a:r>
            <a:r>
              <a:rPr dirty="0" sz="1200" spc="6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России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и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 spc="-25">
                <a:latin typeface="Segoe UI"/>
                <a:cs typeface="Segoe UI"/>
              </a:rPr>
              <a:t>СНГ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b="1">
                <a:latin typeface="Segoe UI"/>
                <a:cs typeface="Segoe UI"/>
              </a:rPr>
              <a:t>Суммарная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производственная мощность: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15 000+ </a:t>
            </a:r>
            <a:r>
              <a:rPr dirty="0" sz="1050" spc="-25" b="1">
                <a:latin typeface="Segoe UI"/>
                <a:cs typeface="Segoe UI"/>
              </a:rPr>
              <a:t>м²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533399" y="5634685"/>
            <a:ext cx="1920239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4950" algn="l"/>
              </a:tabLst>
            </a:pPr>
            <a:r>
              <a:rPr dirty="0" sz="1200" spc="-350">
                <a:latin typeface="Arial MT"/>
                <a:cs typeface="Arial MT"/>
              </a:rPr>
              <a:t>📍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050" b="1">
                <a:latin typeface="Segoe UI"/>
                <a:cs typeface="Segoe UI"/>
              </a:rPr>
              <a:t>Площадка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№1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–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г.</a:t>
            </a:r>
            <a:r>
              <a:rPr dirty="0" sz="1050" spc="-10" b="1">
                <a:latin typeface="Segoe UI"/>
                <a:cs typeface="Segoe UI"/>
              </a:rPr>
              <a:t> Рязань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61999" y="6254749"/>
            <a:ext cx="25920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┌─────────────────────────────────┐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61999" y="6414769"/>
            <a:ext cx="2518410" cy="3873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243205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Площадь: 2 000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м²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Специализация: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61999" y="6776719"/>
            <a:ext cx="2225040" cy="5683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• Полный цикл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производства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• Ремонт и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модернизация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• Электромонтаж и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гидравлика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254759" y="6595744"/>
            <a:ext cx="99060" cy="7493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61999" y="7340600"/>
            <a:ext cx="25920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└─────────────────────────────────┘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33399" y="7920685"/>
            <a:ext cx="206883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4950" algn="l"/>
              </a:tabLst>
            </a:pPr>
            <a:r>
              <a:rPr dirty="0" sz="1200" spc="-350">
                <a:latin typeface="Arial MT"/>
                <a:cs typeface="Arial MT"/>
              </a:rPr>
              <a:t>📍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050" b="1">
                <a:latin typeface="Segoe UI"/>
                <a:cs typeface="Segoe UI"/>
              </a:rPr>
              <a:t>Площадка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№2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–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г.</a:t>
            </a:r>
            <a:r>
              <a:rPr dirty="0" sz="1050" spc="-10" b="1">
                <a:latin typeface="Segoe UI"/>
                <a:cs typeface="Segoe UI"/>
              </a:rPr>
              <a:t> Воронеж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61999" y="8540750"/>
            <a:ext cx="25920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┌─────────────────────────────────┐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61999" y="8700769"/>
            <a:ext cx="2518410" cy="3873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243205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Площадь: 2 000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м²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Особенность: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254759" y="8881744"/>
            <a:ext cx="99060" cy="5683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61999" y="9062719"/>
            <a:ext cx="1565275" cy="7493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• Партнерство с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ОАО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30543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«Тяжмехпресс»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908632" y="9424669"/>
            <a:ext cx="2481580" cy="3873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265"/>
              </a:spcBef>
              <a:buChar char="•"/>
              <a:tabLst>
                <a:tab pos="15875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Обработка деталей до 150 тонн 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58750" indent="-146050">
              <a:lnSpc>
                <a:spcPct val="100000"/>
              </a:lnSpc>
              <a:spcBef>
                <a:spcPts val="165"/>
              </a:spcBef>
              <a:buChar char="•"/>
              <a:tabLst>
                <a:tab pos="158750" algn="l"/>
                <a:tab pos="239522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Мостовой кран 160 тонн </a:t>
            </a:r>
            <a:r>
              <a:rPr dirty="0" sz="1050" spc="-50">
                <a:solidFill>
                  <a:srgbClr val="4D4D4B"/>
                </a:solidFill>
                <a:latin typeface="Segoe UI Emoji"/>
                <a:cs typeface="Segoe UI Emoji"/>
              </a:rPr>
              <a:t>⭐</a:t>
            </a: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61999" y="9807575"/>
            <a:ext cx="25920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└─────────────────────────────────┘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46099" y="923923"/>
            <a:ext cx="6477000" cy="1905000"/>
            <a:chOff x="546099" y="923923"/>
            <a:chExt cx="6477000" cy="1905000"/>
          </a:xfrm>
        </p:grpSpPr>
        <p:sp>
          <p:nvSpPr>
            <p:cNvPr id="5" name="object 5" descr=""/>
            <p:cNvSpPr/>
            <p:nvPr/>
          </p:nvSpPr>
          <p:spPr>
            <a:xfrm>
              <a:off x="550862" y="928686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6446819" y="1895472"/>
                  </a:moveTo>
                  <a:lnTo>
                    <a:pt x="20654" y="1895472"/>
                  </a:lnTo>
                  <a:lnTo>
                    <a:pt x="17617" y="1894865"/>
                  </a:lnTo>
                  <a:lnTo>
                    <a:pt x="0" y="1874817"/>
                  </a:lnTo>
                  <a:lnTo>
                    <a:pt x="0" y="1871662"/>
                  </a:lnTo>
                  <a:lnTo>
                    <a:pt x="0" y="20652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2"/>
                  </a:lnTo>
                  <a:lnTo>
                    <a:pt x="6467473" y="1874817"/>
                  </a:lnTo>
                  <a:lnTo>
                    <a:pt x="6449856" y="1894865"/>
                  </a:lnTo>
                  <a:lnTo>
                    <a:pt x="6446819" y="1895472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0862" y="928686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0" y="1871662"/>
                  </a:moveTo>
                  <a:lnTo>
                    <a:pt x="0" y="23812"/>
                  </a:lnTo>
                  <a:lnTo>
                    <a:pt x="0" y="20652"/>
                  </a:lnTo>
                  <a:lnTo>
                    <a:pt x="604" y="17615"/>
                  </a:lnTo>
                  <a:lnTo>
                    <a:pt x="1812" y="14697"/>
                  </a:lnTo>
                  <a:lnTo>
                    <a:pt x="3021" y="11778"/>
                  </a:lnTo>
                  <a:lnTo>
                    <a:pt x="4741" y="9204"/>
                  </a:lnTo>
                  <a:lnTo>
                    <a:pt x="6974" y="6974"/>
                  </a:lnTo>
                  <a:lnTo>
                    <a:pt x="9207" y="4739"/>
                  </a:lnTo>
                  <a:lnTo>
                    <a:pt x="11782" y="3018"/>
                  </a:lnTo>
                  <a:lnTo>
                    <a:pt x="14699" y="1808"/>
                  </a:lnTo>
                  <a:lnTo>
                    <a:pt x="17617" y="601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11"/>
                  </a:lnTo>
                  <a:lnTo>
                    <a:pt x="6455691" y="3018"/>
                  </a:lnTo>
                  <a:lnTo>
                    <a:pt x="6458266" y="4739"/>
                  </a:lnTo>
                  <a:lnTo>
                    <a:pt x="6460499" y="6974"/>
                  </a:lnTo>
                  <a:lnTo>
                    <a:pt x="6462732" y="9204"/>
                  </a:lnTo>
                  <a:lnTo>
                    <a:pt x="6467474" y="23812"/>
                  </a:lnTo>
                  <a:lnTo>
                    <a:pt x="6467474" y="1871662"/>
                  </a:lnTo>
                  <a:lnTo>
                    <a:pt x="6443662" y="1895474"/>
                  </a:lnTo>
                  <a:lnTo>
                    <a:pt x="23812" y="1895474"/>
                  </a:lnTo>
                  <a:lnTo>
                    <a:pt x="0" y="1874817"/>
                  </a:lnTo>
                  <a:lnTo>
                    <a:pt x="0" y="187166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546099" y="3390898"/>
            <a:ext cx="6477000" cy="1724025"/>
            <a:chOff x="546099" y="3390898"/>
            <a:chExt cx="6477000" cy="1724025"/>
          </a:xfrm>
        </p:grpSpPr>
        <p:sp>
          <p:nvSpPr>
            <p:cNvPr id="8" name="object 8" descr=""/>
            <p:cNvSpPr/>
            <p:nvPr/>
          </p:nvSpPr>
          <p:spPr>
            <a:xfrm>
              <a:off x="550862" y="3395661"/>
              <a:ext cx="6467475" cy="1714500"/>
            </a:xfrm>
            <a:custGeom>
              <a:avLst/>
              <a:gdLst/>
              <a:ahLst/>
              <a:cxnLst/>
              <a:rect l="l" t="t" r="r" b="b"/>
              <a:pathLst>
                <a:path w="6467475" h="1714500">
                  <a:moveTo>
                    <a:pt x="6446819" y="1714497"/>
                  </a:moveTo>
                  <a:lnTo>
                    <a:pt x="20654" y="1714497"/>
                  </a:lnTo>
                  <a:lnTo>
                    <a:pt x="17617" y="1713893"/>
                  </a:lnTo>
                  <a:lnTo>
                    <a:pt x="0" y="1693842"/>
                  </a:lnTo>
                  <a:lnTo>
                    <a:pt x="0" y="1690687"/>
                  </a:lnTo>
                  <a:lnTo>
                    <a:pt x="0" y="20652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2"/>
                  </a:lnTo>
                  <a:lnTo>
                    <a:pt x="6467473" y="1693842"/>
                  </a:lnTo>
                  <a:lnTo>
                    <a:pt x="6449856" y="1713893"/>
                  </a:lnTo>
                  <a:lnTo>
                    <a:pt x="6446819" y="1714497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50862" y="3395661"/>
              <a:ext cx="6467475" cy="1714500"/>
            </a:xfrm>
            <a:custGeom>
              <a:avLst/>
              <a:gdLst/>
              <a:ahLst/>
              <a:cxnLst/>
              <a:rect l="l" t="t" r="r" b="b"/>
              <a:pathLst>
                <a:path w="6467475" h="1714500">
                  <a:moveTo>
                    <a:pt x="0" y="1690687"/>
                  </a:moveTo>
                  <a:lnTo>
                    <a:pt x="0" y="23812"/>
                  </a:lnTo>
                  <a:lnTo>
                    <a:pt x="0" y="20652"/>
                  </a:lnTo>
                  <a:lnTo>
                    <a:pt x="604" y="17615"/>
                  </a:lnTo>
                  <a:lnTo>
                    <a:pt x="1812" y="14698"/>
                  </a:lnTo>
                  <a:lnTo>
                    <a:pt x="3021" y="11778"/>
                  </a:lnTo>
                  <a:lnTo>
                    <a:pt x="4741" y="9202"/>
                  </a:lnTo>
                  <a:lnTo>
                    <a:pt x="6974" y="6971"/>
                  </a:lnTo>
                  <a:lnTo>
                    <a:pt x="9207" y="4736"/>
                  </a:lnTo>
                  <a:lnTo>
                    <a:pt x="11782" y="3016"/>
                  </a:lnTo>
                  <a:lnTo>
                    <a:pt x="14699" y="1808"/>
                  </a:lnTo>
                  <a:lnTo>
                    <a:pt x="17617" y="601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1"/>
                  </a:lnTo>
                  <a:lnTo>
                    <a:pt x="6452774" y="1808"/>
                  </a:lnTo>
                  <a:lnTo>
                    <a:pt x="6455691" y="3016"/>
                  </a:lnTo>
                  <a:lnTo>
                    <a:pt x="6458266" y="4736"/>
                  </a:lnTo>
                  <a:lnTo>
                    <a:pt x="6460499" y="6971"/>
                  </a:lnTo>
                  <a:lnTo>
                    <a:pt x="6462732" y="9202"/>
                  </a:lnTo>
                  <a:lnTo>
                    <a:pt x="6467474" y="23812"/>
                  </a:lnTo>
                  <a:lnTo>
                    <a:pt x="6467474" y="1690687"/>
                  </a:lnTo>
                  <a:lnTo>
                    <a:pt x="6452774" y="1712683"/>
                  </a:lnTo>
                  <a:lnTo>
                    <a:pt x="6449856" y="1713893"/>
                  </a:lnTo>
                  <a:lnTo>
                    <a:pt x="6446819" y="1714497"/>
                  </a:lnTo>
                  <a:lnTo>
                    <a:pt x="6443662" y="1714499"/>
                  </a:lnTo>
                  <a:lnTo>
                    <a:pt x="23812" y="1714499"/>
                  </a:lnTo>
                  <a:lnTo>
                    <a:pt x="20654" y="1714497"/>
                  </a:lnTo>
                  <a:lnTo>
                    <a:pt x="17617" y="1713893"/>
                  </a:lnTo>
                  <a:lnTo>
                    <a:pt x="14699" y="1712683"/>
                  </a:lnTo>
                  <a:lnTo>
                    <a:pt x="11782" y="1711476"/>
                  </a:lnTo>
                  <a:lnTo>
                    <a:pt x="0" y="1693842"/>
                  </a:lnTo>
                  <a:lnTo>
                    <a:pt x="0" y="1690687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546099" y="5267323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546099" y="6848473"/>
            <a:ext cx="6477000" cy="1543050"/>
            <a:chOff x="546099" y="6848473"/>
            <a:chExt cx="6477000" cy="1543050"/>
          </a:xfrm>
        </p:grpSpPr>
        <p:sp>
          <p:nvSpPr>
            <p:cNvPr id="12" name="object 12" descr=""/>
            <p:cNvSpPr/>
            <p:nvPr/>
          </p:nvSpPr>
          <p:spPr>
            <a:xfrm>
              <a:off x="550862" y="6853235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6446819" y="1533522"/>
                  </a:moveTo>
                  <a:lnTo>
                    <a:pt x="20654" y="1533522"/>
                  </a:lnTo>
                  <a:lnTo>
                    <a:pt x="17617" y="1532918"/>
                  </a:lnTo>
                  <a:lnTo>
                    <a:pt x="0" y="1512868"/>
                  </a:lnTo>
                  <a:lnTo>
                    <a:pt x="0" y="1509712"/>
                  </a:lnTo>
                  <a:lnTo>
                    <a:pt x="0" y="20652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2"/>
                  </a:lnTo>
                  <a:lnTo>
                    <a:pt x="6467473" y="1512868"/>
                  </a:lnTo>
                  <a:lnTo>
                    <a:pt x="6449856" y="1532918"/>
                  </a:lnTo>
                  <a:lnTo>
                    <a:pt x="6446819" y="1533522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50862" y="6853235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0" y="1509712"/>
                  </a:moveTo>
                  <a:lnTo>
                    <a:pt x="0" y="23812"/>
                  </a:lnTo>
                  <a:lnTo>
                    <a:pt x="0" y="20652"/>
                  </a:lnTo>
                  <a:lnTo>
                    <a:pt x="604" y="17615"/>
                  </a:lnTo>
                  <a:lnTo>
                    <a:pt x="1812" y="14697"/>
                  </a:lnTo>
                  <a:lnTo>
                    <a:pt x="3021" y="11778"/>
                  </a:lnTo>
                  <a:lnTo>
                    <a:pt x="4741" y="9202"/>
                  </a:lnTo>
                  <a:lnTo>
                    <a:pt x="6974" y="6971"/>
                  </a:lnTo>
                  <a:lnTo>
                    <a:pt x="9207" y="4736"/>
                  </a:lnTo>
                  <a:lnTo>
                    <a:pt x="11782" y="3016"/>
                  </a:lnTo>
                  <a:lnTo>
                    <a:pt x="14699" y="1806"/>
                  </a:lnTo>
                  <a:lnTo>
                    <a:pt x="17617" y="601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1"/>
                  </a:lnTo>
                  <a:lnTo>
                    <a:pt x="6452774" y="1806"/>
                  </a:lnTo>
                  <a:lnTo>
                    <a:pt x="6455691" y="3016"/>
                  </a:lnTo>
                  <a:lnTo>
                    <a:pt x="6458266" y="4736"/>
                  </a:lnTo>
                  <a:lnTo>
                    <a:pt x="6460499" y="6971"/>
                  </a:lnTo>
                  <a:lnTo>
                    <a:pt x="6462732" y="9202"/>
                  </a:lnTo>
                  <a:lnTo>
                    <a:pt x="6467474" y="23812"/>
                  </a:lnTo>
                  <a:lnTo>
                    <a:pt x="6467474" y="1509712"/>
                  </a:lnTo>
                  <a:lnTo>
                    <a:pt x="6467473" y="1512868"/>
                  </a:lnTo>
                  <a:lnTo>
                    <a:pt x="6466869" y="1515904"/>
                  </a:lnTo>
                  <a:lnTo>
                    <a:pt x="6465661" y="1518821"/>
                  </a:lnTo>
                  <a:lnTo>
                    <a:pt x="6464453" y="1521739"/>
                  </a:lnTo>
                  <a:lnTo>
                    <a:pt x="6452774" y="1531708"/>
                  </a:lnTo>
                  <a:lnTo>
                    <a:pt x="6449856" y="1532918"/>
                  </a:lnTo>
                  <a:lnTo>
                    <a:pt x="6446819" y="1533522"/>
                  </a:lnTo>
                  <a:lnTo>
                    <a:pt x="6443662" y="1533524"/>
                  </a:lnTo>
                  <a:lnTo>
                    <a:pt x="23812" y="1533524"/>
                  </a:lnTo>
                  <a:lnTo>
                    <a:pt x="20654" y="1533522"/>
                  </a:lnTo>
                  <a:lnTo>
                    <a:pt x="17617" y="1532918"/>
                  </a:lnTo>
                  <a:lnTo>
                    <a:pt x="14699" y="1531708"/>
                  </a:lnTo>
                  <a:lnTo>
                    <a:pt x="11782" y="1530499"/>
                  </a:lnTo>
                  <a:lnTo>
                    <a:pt x="1812" y="1518821"/>
                  </a:lnTo>
                  <a:lnTo>
                    <a:pt x="604" y="1515904"/>
                  </a:lnTo>
                  <a:lnTo>
                    <a:pt x="0" y="1512868"/>
                  </a:lnTo>
                  <a:lnTo>
                    <a:pt x="0" y="150971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7267574"/>
              <a:ext cx="34925" cy="1587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192" y="7267574"/>
              <a:ext cx="34925" cy="1587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7448549"/>
              <a:ext cx="34925" cy="1587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192" y="7448549"/>
              <a:ext cx="34925" cy="15875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7629524"/>
              <a:ext cx="34925" cy="1587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758" y="7629524"/>
              <a:ext cx="34925" cy="15875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7810499"/>
              <a:ext cx="34925" cy="15875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758" y="7810499"/>
              <a:ext cx="34925" cy="158750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546099" y="8953495"/>
            <a:ext cx="6477000" cy="1386205"/>
            <a:chOff x="546099" y="8953495"/>
            <a:chExt cx="6477000" cy="1386205"/>
          </a:xfrm>
        </p:grpSpPr>
        <p:sp>
          <p:nvSpPr>
            <p:cNvPr id="23" name="object 23" descr=""/>
            <p:cNvSpPr/>
            <p:nvPr/>
          </p:nvSpPr>
          <p:spPr>
            <a:xfrm>
              <a:off x="550862" y="8958257"/>
              <a:ext cx="6467475" cy="1376680"/>
            </a:xfrm>
            <a:custGeom>
              <a:avLst/>
              <a:gdLst/>
              <a:ahLst/>
              <a:cxnLst/>
              <a:rect l="l" t="t" r="r" b="b"/>
              <a:pathLst>
                <a:path w="6467475" h="1376679">
                  <a:moveTo>
                    <a:pt x="6467474" y="1376364"/>
                  </a:moveTo>
                  <a:lnTo>
                    <a:pt x="0" y="1376364"/>
                  </a:lnTo>
                  <a:lnTo>
                    <a:pt x="0" y="20652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4" y="1376364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50862" y="8958257"/>
              <a:ext cx="6467475" cy="1376680"/>
            </a:xfrm>
            <a:custGeom>
              <a:avLst/>
              <a:gdLst/>
              <a:ahLst/>
              <a:cxnLst/>
              <a:rect l="l" t="t" r="r" b="b"/>
              <a:pathLst>
                <a:path w="6467475" h="1376679">
                  <a:moveTo>
                    <a:pt x="0" y="1376364"/>
                  </a:moveTo>
                  <a:lnTo>
                    <a:pt x="0" y="23812"/>
                  </a:lnTo>
                  <a:lnTo>
                    <a:pt x="0" y="20652"/>
                  </a:lnTo>
                  <a:lnTo>
                    <a:pt x="604" y="17612"/>
                  </a:lnTo>
                  <a:lnTo>
                    <a:pt x="1812" y="14694"/>
                  </a:lnTo>
                  <a:lnTo>
                    <a:pt x="3021" y="11775"/>
                  </a:lnTo>
                  <a:lnTo>
                    <a:pt x="4741" y="9202"/>
                  </a:lnTo>
                  <a:lnTo>
                    <a:pt x="6974" y="6971"/>
                  </a:lnTo>
                  <a:lnTo>
                    <a:pt x="9207" y="4739"/>
                  </a:lnTo>
                  <a:lnTo>
                    <a:pt x="11782" y="3018"/>
                  </a:lnTo>
                  <a:lnTo>
                    <a:pt x="14699" y="1808"/>
                  </a:lnTo>
                  <a:lnTo>
                    <a:pt x="17617" y="601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1" y="0"/>
                  </a:lnTo>
                  <a:lnTo>
                    <a:pt x="6446819" y="0"/>
                  </a:lnTo>
                  <a:lnTo>
                    <a:pt x="6449856" y="601"/>
                  </a:lnTo>
                  <a:lnTo>
                    <a:pt x="6452773" y="1808"/>
                  </a:lnTo>
                  <a:lnTo>
                    <a:pt x="6455691" y="3018"/>
                  </a:lnTo>
                  <a:lnTo>
                    <a:pt x="6458266" y="4739"/>
                  </a:lnTo>
                  <a:lnTo>
                    <a:pt x="6460499" y="6971"/>
                  </a:lnTo>
                  <a:lnTo>
                    <a:pt x="6462732" y="9202"/>
                  </a:lnTo>
                  <a:lnTo>
                    <a:pt x="6467474" y="23812"/>
                  </a:lnTo>
                  <a:lnTo>
                    <a:pt x="6467474" y="1376364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372599"/>
              <a:ext cx="34925" cy="15875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192" y="9372599"/>
              <a:ext cx="34925" cy="15875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553574"/>
              <a:ext cx="34925" cy="15875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192" y="9553574"/>
              <a:ext cx="34925" cy="15875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734549"/>
              <a:ext cx="34925" cy="15875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758" y="9734549"/>
              <a:ext cx="34925" cy="15875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915524"/>
              <a:ext cx="34925" cy="15875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758" y="9915524"/>
              <a:ext cx="34925" cy="158750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533399" y="519760"/>
            <a:ext cx="19748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4950" algn="l"/>
              </a:tabLst>
            </a:pPr>
            <a:r>
              <a:rPr dirty="0" sz="1200" spc="-350">
                <a:latin typeface="Arial MT"/>
                <a:cs typeface="Arial MT"/>
              </a:rPr>
              <a:t>📍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050" b="1">
                <a:latin typeface="Segoe UI"/>
                <a:cs typeface="Segoe UI"/>
              </a:rPr>
              <a:t>Площадка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№3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–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г.</a:t>
            </a:r>
            <a:r>
              <a:rPr dirty="0" sz="1050" spc="-10" b="1">
                <a:latin typeface="Segoe UI"/>
                <a:cs typeface="Segoe UI"/>
              </a:rPr>
              <a:t> Ижевск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9" name="object 4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  <p:sp>
        <p:nvSpPr>
          <p:cNvPr id="34" name="object 34" descr=""/>
          <p:cNvSpPr txBox="1"/>
          <p:nvPr/>
        </p:nvSpPr>
        <p:spPr>
          <a:xfrm>
            <a:off x="761999" y="1139825"/>
            <a:ext cx="25920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┌─────────────────────────────────┐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61999" y="1299844"/>
            <a:ext cx="2518410" cy="3873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243205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Площадь: 2 000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м²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Специализация: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61999" y="1661795"/>
            <a:ext cx="2152015" cy="7493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• Изготовление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шестерен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• Производство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револьверных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30543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головок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• Полный механический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цикл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254759" y="1480819"/>
            <a:ext cx="99060" cy="9302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61999" y="2406650"/>
            <a:ext cx="25920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└─────────────────────────────────┘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33399" y="2986735"/>
            <a:ext cx="194945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4950" algn="l"/>
              </a:tabLst>
            </a:pPr>
            <a:r>
              <a:rPr dirty="0" sz="1200" spc="-350">
                <a:latin typeface="Arial MT"/>
                <a:cs typeface="Arial MT"/>
              </a:rPr>
              <a:t>📍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050" b="1">
                <a:latin typeface="Segoe UI"/>
                <a:cs typeface="Segoe UI"/>
              </a:rPr>
              <a:t>Площадка №4 – </a:t>
            </a:r>
            <a:r>
              <a:rPr dirty="0" sz="1050" spc="-10" b="1">
                <a:latin typeface="Segoe UI"/>
                <a:cs typeface="Segoe UI"/>
              </a:rPr>
              <a:t>Беларусь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74699" y="3585845"/>
            <a:ext cx="2579370" cy="9302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┌─────────────────────────────────┐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tabLst>
                <a:tab pos="2492375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Назначение: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• Расширение географии поставок 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• Обслуживание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международных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tabLst>
                <a:tab pos="29273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клиентов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774699" y="4511675"/>
            <a:ext cx="16992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• Логистический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центр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267459" y="4128770"/>
            <a:ext cx="86360" cy="5683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774699" y="4692650"/>
            <a:ext cx="257937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└─────────────────────────────────┘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33399" y="5426074"/>
            <a:ext cx="4875530" cy="619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5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5:</a:t>
            </a:r>
            <a:r>
              <a:rPr dirty="0" sz="1550" spc="5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Оборудование</a:t>
            </a:r>
            <a:r>
              <a:rPr dirty="0" sz="1550" spc="6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и</a:t>
            </a:r>
            <a:r>
              <a:rPr dirty="0" sz="1550" spc="5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технические</a:t>
            </a:r>
            <a:r>
              <a:rPr dirty="0" sz="1550" spc="55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возможности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200">
                <a:latin typeface="Segoe UI Emoji"/>
                <a:cs typeface="Segoe UI Emoji"/>
              </a:rPr>
              <a:t>⚙</a:t>
            </a:r>
            <a:r>
              <a:rPr dirty="0" sz="1200" spc="114">
                <a:latin typeface="Segoe UI Emoji"/>
                <a:cs typeface="Segoe UI Emoji"/>
              </a:rPr>
              <a:t> </a:t>
            </a:r>
            <a:r>
              <a:rPr dirty="0" sz="1200">
                <a:latin typeface="Segoe UI"/>
                <a:cs typeface="Segoe UI"/>
              </a:rPr>
              <a:t>Современный</a:t>
            </a:r>
            <a:r>
              <a:rPr dirty="0" sz="1200" spc="1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станочный</a:t>
            </a:r>
            <a:r>
              <a:rPr dirty="0" sz="1200" spc="114">
                <a:latin typeface="Segoe UI"/>
                <a:cs typeface="Segoe UI"/>
              </a:rPr>
              <a:t> </a:t>
            </a:r>
            <a:r>
              <a:rPr dirty="0" sz="1200" spc="-20">
                <a:latin typeface="Segoe UI"/>
                <a:cs typeface="Segoe UI"/>
              </a:rPr>
              <a:t>парк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33399" y="6453508"/>
            <a:ext cx="157543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310">
                <a:latin typeface="Arial MT"/>
                <a:cs typeface="Arial MT"/>
              </a:rPr>
              <a:t>🔧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Токарная</a:t>
            </a:r>
            <a:r>
              <a:rPr dirty="0" sz="1050" b="1">
                <a:latin typeface="Segoe UI"/>
                <a:cs typeface="Segoe UI"/>
              </a:rPr>
              <a:t> </a:t>
            </a:r>
            <a:r>
              <a:rPr dirty="0" sz="1050" spc="-40" b="1">
                <a:latin typeface="Segoe UI"/>
                <a:cs typeface="Segoe UI"/>
              </a:rPr>
              <a:t>обработка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761999" y="7043419"/>
            <a:ext cx="2518410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31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╔════════════════════════════════╗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Максимальный диаметр: Ø1000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мм</a:t>
            </a:r>
            <a:endParaRPr sz="1050">
              <a:latin typeface="Consolas"/>
              <a:cs typeface="Consolas"/>
            </a:endParaRPr>
          </a:p>
          <a:p>
            <a:pPr marL="15875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Максимальная длина: 3000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мм</a:t>
            </a:r>
            <a:endParaRPr sz="1050">
              <a:latin typeface="Consolas"/>
              <a:cs typeface="Consolas"/>
            </a:endParaRPr>
          </a:p>
          <a:p>
            <a:pPr marL="331470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33147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Станки с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ЧПУ</a:t>
            </a:r>
            <a:endParaRPr sz="1050">
              <a:latin typeface="Consolas"/>
              <a:cs typeface="Consolas"/>
            </a:endParaRPr>
          </a:p>
          <a:p>
            <a:pPr marL="331470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33147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Высокоточная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обработка</a:t>
            </a:r>
            <a:endParaRPr sz="10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533399" y="8558795"/>
            <a:ext cx="168338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110">
                <a:latin typeface="Segoe UI Symbol"/>
                <a:cs typeface="Segoe UI Symbol"/>
              </a:rPr>
              <a:t>⚙</a:t>
            </a:r>
            <a:r>
              <a:rPr dirty="0" sz="1200" spc="285">
                <a:latin typeface="Segoe UI Symbol"/>
                <a:cs typeface="Segoe UI Symbol"/>
              </a:rPr>
              <a:t> </a:t>
            </a:r>
            <a:r>
              <a:rPr dirty="0" sz="1050" b="1">
                <a:latin typeface="Segoe UI"/>
                <a:cs typeface="Segoe UI"/>
              </a:rPr>
              <a:t>Фрезерная </a:t>
            </a:r>
            <a:r>
              <a:rPr dirty="0" sz="1050" spc="-10" b="1">
                <a:latin typeface="Segoe UI"/>
                <a:cs typeface="Segoe UI"/>
              </a:rPr>
              <a:t>обработка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761999" y="9148444"/>
            <a:ext cx="2518410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5080" indent="-146685">
              <a:lnSpc>
                <a:spcPct val="1131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╔════════════════════════════════╗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Максимальные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 габариты:</a:t>
            </a:r>
            <a:endParaRPr sz="1050">
              <a:latin typeface="Consolas"/>
              <a:cs typeface="Consolas"/>
            </a:endParaRPr>
          </a:p>
          <a:p>
            <a:pPr marL="15875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1200 × 5000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мм</a:t>
            </a:r>
            <a:endParaRPr sz="1050">
              <a:latin typeface="Consolas"/>
              <a:cs typeface="Consolas"/>
            </a:endParaRPr>
          </a:p>
          <a:p>
            <a:pPr marL="331470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33147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Фрезерная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группа</a:t>
            </a:r>
            <a:endParaRPr sz="1050">
              <a:latin typeface="Consolas"/>
              <a:cs typeface="Consolas"/>
            </a:endParaRPr>
          </a:p>
          <a:p>
            <a:pPr marL="331470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33147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Различная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конфигурация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46099" y="528636"/>
            <a:ext cx="6477000" cy="167005"/>
            <a:chOff x="546099" y="528636"/>
            <a:chExt cx="6477000" cy="167005"/>
          </a:xfrm>
        </p:grpSpPr>
        <p:sp>
          <p:nvSpPr>
            <p:cNvPr id="5" name="object 5" descr=""/>
            <p:cNvSpPr/>
            <p:nvPr/>
          </p:nvSpPr>
          <p:spPr>
            <a:xfrm>
              <a:off x="550862" y="533398"/>
              <a:ext cx="6467475" cy="157480"/>
            </a:xfrm>
            <a:custGeom>
              <a:avLst/>
              <a:gdLst/>
              <a:ahLst/>
              <a:cxnLst/>
              <a:rect l="l" t="t" r="r" b="b"/>
              <a:pathLst>
                <a:path w="6467475" h="157479">
                  <a:moveTo>
                    <a:pt x="6446819" y="157156"/>
                  </a:moveTo>
                  <a:lnTo>
                    <a:pt x="20654" y="157156"/>
                  </a:lnTo>
                  <a:lnTo>
                    <a:pt x="17617" y="156551"/>
                  </a:lnTo>
                  <a:lnTo>
                    <a:pt x="0" y="136506"/>
                  </a:lnTo>
                  <a:lnTo>
                    <a:pt x="0" y="0"/>
                  </a:lnTo>
                  <a:lnTo>
                    <a:pt x="6467474" y="0"/>
                  </a:lnTo>
                  <a:lnTo>
                    <a:pt x="6467473" y="136506"/>
                  </a:lnTo>
                  <a:lnTo>
                    <a:pt x="6446819" y="157156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0862" y="533398"/>
              <a:ext cx="6467475" cy="157480"/>
            </a:xfrm>
            <a:custGeom>
              <a:avLst/>
              <a:gdLst/>
              <a:ahLst/>
              <a:cxnLst/>
              <a:rect l="l" t="t" r="r" b="b"/>
              <a:pathLst>
                <a:path w="6467475" h="157479">
                  <a:moveTo>
                    <a:pt x="6467474" y="0"/>
                  </a:moveTo>
                  <a:lnTo>
                    <a:pt x="6467474" y="133348"/>
                  </a:lnTo>
                  <a:lnTo>
                    <a:pt x="6467473" y="136506"/>
                  </a:lnTo>
                  <a:lnTo>
                    <a:pt x="6443661" y="157160"/>
                  </a:lnTo>
                  <a:lnTo>
                    <a:pt x="23812" y="157160"/>
                  </a:lnTo>
                  <a:lnTo>
                    <a:pt x="0" y="136506"/>
                  </a:lnTo>
                  <a:lnTo>
                    <a:pt x="0" y="133348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546099" y="1266823"/>
            <a:ext cx="6477000" cy="1543050"/>
            <a:chOff x="546099" y="1266823"/>
            <a:chExt cx="6477000" cy="1543050"/>
          </a:xfrm>
        </p:grpSpPr>
        <p:sp>
          <p:nvSpPr>
            <p:cNvPr id="8" name="object 8" descr=""/>
            <p:cNvSpPr/>
            <p:nvPr/>
          </p:nvSpPr>
          <p:spPr>
            <a:xfrm>
              <a:off x="550862" y="1271585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6446819" y="1533520"/>
                  </a:moveTo>
                  <a:lnTo>
                    <a:pt x="20654" y="1533520"/>
                  </a:lnTo>
                  <a:lnTo>
                    <a:pt x="17617" y="1532915"/>
                  </a:lnTo>
                  <a:lnTo>
                    <a:pt x="0" y="1512866"/>
                  </a:lnTo>
                  <a:lnTo>
                    <a:pt x="0" y="150971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4"/>
                  </a:lnTo>
                  <a:lnTo>
                    <a:pt x="6467473" y="1512866"/>
                  </a:lnTo>
                  <a:lnTo>
                    <a:pt x="6449856" y="1532915"/>
                  </a:lnTo>
                  <a:lnTo>
                    <a:pt x="6446819" y="153352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50862" y="1271585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0" y="1509712"/>
                  </a:moveTo>
                  <a:lnTo>
                    <a:pt x="0" y="23812"/>
                  </a:lnTo>
                  <a:lnTo>
                    <a:pt x="0" y="20654"/>
                  </a:lnTo>
                  <a:lnTo>
                    <a:pt x="604" y="17612"/>
                  </a:lnTo>
                  <a:lnTo>
                    <a:pt x="1812" y="14697"/>
                  </a:lnTo>
                  <a:lnTo>
                    <a:pt x="3021" y="11775"/>
                  </a:lnTo>
                  <a:lnTo>
                    <a:pt x="4741" y="9199"/>
                  </a:lnTo>
                  <a:lnTo>
                    <a:pt x="6974" y="6971"/>
                  </a:lnTo>
                  <a:lnTo>
                    <a:pt x="9207" y="4739"/>
                  </a:lnTo>
                  <a:lnTo>
                    <a:pt x="11782" y="3018"/>
                  </a:lnTo>
                  <a:lnTo>
                    <a:pt x="14699" y="1808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08"/>
                  </a:lnTo>
                  <a:lnTo>
                    <a:pt x="6455691" y="3018"/>
                  </a:lnTo>
                  <a:lnTo>
                    <a:pt x="6458266" y="4739"/>
                  </a:lnTo>
                  <a:lnTo>
                    <a:pt x="6460499" y="6971"/>
                  </a:lnTo>
                  <a:lnTo>
                    <a:pt x="6462732" y="9199"/>
                  </a:lnTo>
                  <a:lnTo>
                    <a:pt x="6467474" y="23812"/>
                  </a:lnTo>
                  <a:lnTo>
                    <a:pt x="6467474" y="1509712"/>
                  </a:lnTo>
                  <a:lnTo>
                    <a:pt x="6443662" y="1533524"/>
                  </a:lnTo>
                  <a:lnTo>
                    <a:pt x="23812" y="1533524"/>
                  </a:lnTo>
                  <a:lnTo>
                    <a:pt x="0" y="1512866"/>
                  </a:lnTo>
                  <a:lnTo>
                    <a:pt x="0" y="150971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1685924"/>
              <a:ext cx="34925" cy="15875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192" y="1685924"/>
              <a:ext cx="34925" cy="1587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1866899"/>
              <a:ext cx="34925" cy="15875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192" y="1866899"/>
              <a:ext cx="34925" cy="1587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047874"/>
              <a:ext cx="34925" cy="1587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192" y="2047874"/>
              <a:ext cx="34925" cy="1587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228849"/>
              <a:ext cx="34925" cy="1587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192" y="2228849"/>
              <a:ext cx="34925" cy="158750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546099" y="3371848"/>
            <a:ext cx="6477000" cy="1362075"/>
            <a:chOff x="546099" y="3371848"/>
            <a:chExt cx="6477000" cy="1362075"/>
          </a:xfrm>
        </p:grpSpPr>
        <p:sp>
          <p:nvSpPr>
            <p:cNvPr id="19" name="object 19" descr=""/>
            <p:cNvSpPr/>
            <p:nvPr/>
          </p:nvSpPr>
          <p:spPr>
            <a:xfrm>
              <a:off x="550862" y="3376610"/>
              <a:ext cx="6467475" cy="1352550"/>
            </a:xfrm>
            <a:custGeom>
              <a:avLst/>
              <a:gdLst/>
              <a:ahLst/>
              <a:cxnLst/>
              <a:rect l="l" t="t" r="r" b="b"/>
              <a:pathLst>
                <a:path w="6467475" h="1352550">
                  <a:moveTo>
                    <a:pt x="6446819" y="1352545"/>
                  </a:moveTo>
                  <a:lnTo>
                    <a:pt x="20654" y="1352545"/>
                  </a:lnTo>
                  <a:lnTo>
                    <a:pt x="17617" y="1351935"/>
                  </a:lnTo>
                  <a:lnTo>
                    <a:pt x="0" y="1331891"/>
                  </a:lnTo>
                  <a:lnTo>
                    <a:pt x="0" y="1328737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4"/>
                  </a:lnTo>
                  <a:lnTo>
                    <a:pt x="6467473" y="1331891"/>
                  </a:lnTo>
                  <a:lnTo>
                    <a:pt x="6449856" y="1351935"/>
                  </a:lnTo>
                  <a:lnTo>
                    <a:pt x="6446819" y="1352545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50862" y="3376610"/>
              <a:ext cx="6467475" cy="1352550"/>
            </a:xfrm>
            <a:custGeom>
              <a:avLst/>
              <a:gdLst/>
              <a:ahLst/>
              <a:cxnLst/>
              <a:rect l="l" t="t" r="r" b="b"/>
              <a:pathLst>
                <a:path w="6467475" h="1352550">
                  <a:moveTo>
                    <a:pt x="0" y="1328737"/>
                  </a:moveTo>
                  <a:lnTo>
                    <a:pt x="0" y="23812"/>
                  </a:lnTo>
                  <a:lnTo>
                    <a:pt x="0" y="20654"/>
                  </a:lnTo>
                  <a:lnTo>
                    <a:pt x="604" y="17612"/>
                  </a:lnTo>
                  <a:lnTo>
                    <a:pt x="1812" y="14697"/>
                  </a:lnTo>
                  <a:lnTo>
                    <a:pt x="3021" y="11775"/>
                  </a:lnTo>
                  <a:lnTo>
                    <a:pt x="4741" y="9199"/>
                  </a:lnTo>
                  <a:lnTo>
                    <a:pt x="6974" y="6971"/>
                  </a:lnTo>
                  <a:lnTo>
                    <a:pt x="9207" y="4734"/>
                  </a:lnTo>
                  <a:lnTo>
                    <a:pt x="11782" y="3013"/>
                  </a:lnTo>
                  <a:lnTo>
                    <a:pt x="14699" y="1808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08"/>
                  </a:lnTo>
                  <a:lnTo>
                    <a:pt x="6455691" y="3013"/>
                  </a:lnTo>
                  <a:lnTo>
                    <a:pt x="6458266" y="4734"/>
                  </a:lnTo>
                  <a:lnTo>
                    <a:pt x="6460499" y="6971"/>
                  </a:lnTo>
                  <a:lnTo>
                    <a:pt x="6462732" y="9199"/>
                  </a:lnTo>
                  <a:lnTo>
                    <a:pt x="6464453" y="11775"/>
                  </a:lnTo>
                  <a:lnTo>
                    <a:pt x="6465661" y="14697"/>
                  </a:lnTo>
                  <a:lnTo>
                    <a:pt x="6466869" y="17612"/>
                  </a:lnTo>
                  <a:lnTo>
                    <a:pt x="6467473" y="20654"/>
                  </a:lnTo>
                  <a:lnTo>
                    <a:pt x="6467474" y="23812"/>
                  </a:lnTo>
                  <a:lnTo>
                    <a:pt x="6467474" y="1328737"/>
                  </a:lnTo>
                  <a:lnTo>
                    <a:pt x="6452774" y="1350726"/>
                  </a:lnTo>
                  <a:lnTo>
                    <a:pt x="6449856" y="1351935"/>
                  </a:lnTo>
                  <a:lnTo>
                    <a:pt x="6446819" y="1352545"/>
                  </a:lnTo>
                  <a:lnTo>
                    <a:pt x="6443662" y="1352549"/>
                  </a:lnTo>
                  <a:lnTo>
                    <a:pt x="23812" y="1352549"/>
                  </a:lnTo>
                  <a:lnTo>
                    <a:pt x="20654" y="1352545"/>
                  </a:lnTo>
                  <a:lnTo>
                    <a:pt x="17617" y="1351935"/>
                  </a:lnTo>
                  <a:lnTo>
                    <a:pt x="14699" y="1350726"/>
                  </a:lnTo>
                  <a:lnTo>
                    <a:pt x="11782" y="1349521"/>
                  </a:lnTo>
                  <a:lnTo>
                    <a:pt x="0" y="1331891"/>
                  </a:lnTo>
                  <a:lnTo>
                    <a:pt x="0" y="1328737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3790950"/>
              <a:ext cx="34925" cy="15875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192" y="3790950"/>
              <a:ext cx="34925" cy="15875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3971925"/>
              <a:ext cx="34925" cy="15875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3192" y="3971925"/>
              <a:ext cx="34925" cy="15875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4152900"/>
              <a:ext cx="34925" cy="15875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758" y="4152900"/>
              <a:ext cx="34925" cy="158750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546099" y="4886323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 descr=""/>
          <p:cNvGrpSpPr/>
          <p:nvPr/>
        </p:nvGrpSpPr>
        <p:grpSpPr>
          <a:xfrm>
            <a:off x="546099" y="6467473"/>
            <a:ext cx="6477000" cy="1724025"/>
            <a:chOff x="546099" y="6467473"/>
            <a:chExt cx="6477000" cy="1724025"/>
          </a:xfrm>
        </p:grpSpPr>
        <p:sp>
          <p:nvSpPr>
            <p:cNvPr id="29" name="object 29" descr=""/>
            <p:cNvSpPr/>
            <p:nvPr/>
          </p:nvSpPr>
          <p:spPr>
            <a:xfrm>
              <a:off x="550862" y="6472235"/>
              <a:ext cx="6467475" cy="1714500"/>
            </a:xfrm>
            <a:custGeom>
              <a:avLst/>
              <a:gdLst/>
              <a:ahLst/>
              <a:cxnLst/>
              <a:rect l="l" t="t" r="r" b="b"/>
              <a:pathLst>
                <a:path w="6467475" h="1714500">
                  <a:moveTo>
                    <a:pt x="6446819" y="1714495"/>
                  </a:moveTo>
                  <a:lnTo>
                    <a:pt x="20654" y="1714495"/>
                  </a:lnTo>
                  <a:lnTo>
                    <a:pt x="17617" y="1713890"/>
                  </a:lnTo>
                  <a:lnTo>
                    <a:pt x="0" y="1693841"/>
                  </a:lnTo>
                  <a:lnTo>
                    <a:pt x="0" y="1690687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4"/>
                  </a:lnTo>
                  <a:lnTo>
                    <a:pt x="6467473" y="1693841"/>
                  </a:lnTo>
                  <a:lnTo>
                    <a:pt x="6449856" y="1713890"/>
                  </a:lnTo>
                  <a:lnTo>
                    <a:pt x="6446819" y="1714495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50862" y="6472235"/>
              <a:ext cx="6467475" cy="1714500"/>
            </a:xfrm>
            <a:custGeom>
              <a:avLst/>
              <a:gdLst/>
              <a:ahLst/>
              <a:cxnLst/>
              <a:rect l="l" t="t" r="r" b="b"/>
              <a:pathLst>
                <a:path w="6467475" h="1714500">
                  <a:moveTo>
                    <a:pt x="0" y="1690687"/>
                  </a:moveTo>
                  <a:lnTo>
                    <a:pt x="0" y="23812"/>
                  </a:lnTo>
                  <a:lnTo>
                    <a:pt x="0" y="20654"/>
                  </a:lnTo>
                  <a:lnTo>
                    <a:pt x="604" y="17612"/>
                  </a:lnTo>
                  <a:lnTo>
                    <a:pt x="1812" y="14697"/>
                  </a:lnTo>
                  <a:lnTo>
                    <a:pt x="3021" y="11780"/>
                  </a:lnTo>
                  <a:lnTo>
                    <a:pt x="4741" y="9204"/>
                  </a:lnTo>
                  <a:lnTo>
                    <a:pt x="6974" y="6971"/>
                  </a:lnTo>
                  <a:lnTo>
                    <a:pt x="9207" y="4734"/>
                  </a:lnTo>
                  <a:lnTo>
                    <a:pt x="11782" y="3013"/>
                  </a:lnTo>
                  <a:lnTo>
                    <a:pt x="14699" y="1804"/>
                  </a:lnTo>
                  <a:lnTo>
                    <a:pt x="17617" y="600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0"/>
                  </a:lnTo>
                  <a:lnTo>
                    <a:pt x="6452774" y="1804"/>
                  </a:lnTo>
                  <a:lnTo>
                    <a:pt x="6455691" y="3013"/>
                  </a:lnTo>
                  <a:lnTo>
                    <a:pt x="6458266" y="4734"/>
                  </a:lnTo>
                  <a:lnTo>
                    <a:pt x="6460499" y="6971"/>
                  </a:lnTo>
                  <a:lnTo>
                    <a:pt x="6462732" y="9204"/>
                  </a:lnTo>
                  <a:lnTo>
                    <a:pt x="6467474" y="23812"/>
                  </a:lnTo>
                  <a:lnTo>
                    <a:pt x="6467474" y="1690687"/>
                  </a:lnTo>
                  <a:lnTo>
                    <a:pt x="6452774" y="1712676"/>
                  </a:lnTo>
                  <a:lnTo>
                    <a:pt x="6449856" y="1713890"/>
                  </a:lnTo>
                  <a:lnTo>
                    <a:pt x="6446819" y="1714495"/>
                  </a:lnTo>
                  <a:lnTo>
                    <a:pt x="6443662" y="1714499"/>
                  </a:lnTo>
                  <a:lnTo>
                    <a:pt x="23812" y="1714499"/>
                  </a:lnTo>
                  <a:lnTo>
                    <a:pt x="20654" y="1714495"/>
                  </a:lnTo>
                  <a:lnTo>
                    <a:pt x="17617" y="1713890"/>
                  </a:lnTo>
                  <a:lnTo>
                    <a:pt x="14699" y="1712676"/>
                  </a:lnTo>
                  <a:lnTo>
                    <a:pt x="11782" y="1711467"/>
                  </a:lnTo>
                  <a:lnTo>
                    <a:pt x="0" y="1693841"/>
                  </a:lnTo>
                  <a:lnTo>
                    <a:pt x="0" y="1690687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533399" y="862595"/>
            <a:ext cx="1986914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latin typeface="Segoe UI Symbol"/>
                <a:cs typeface="Segoe UI Symbol"/>
              </a:rPr>
              <a:t>✨</a:t>
            </a:r>
            <a:r>
              <a:rPr dirty="0" sz="1200" spc="285">
                <a:latin typeface="Segoe UI Symbol"/>
                <a:cs typeface="Segoe UI Symbol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Шлифовальная</a:t>
            </a:r>
            <a:r>
              <a:rPr dirty="0" sz="1050" spc="-30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обработка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61999" y="1461769"/>
            <a:ext cx="2518410" cy="111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5080" indent="-146685">
              <a:lnSpc>
                <a:spcPct val="1131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╔════════════════════════════════╗ Круглошлифовальная:</a:t>
            </a:r>
            <a:endParaRPr sz="1050">
              <a:latin typeface="Consolas"/>
              <a:cs typeface="Consolas"/>
            </a:endParaRPr>
          </a:p>
          <a:p>
            <a:pPr algn="just" marL="158750" marR="518159" indent="146050">
              <a:lnSpc>
                <a:spcPct val="113100"/>
              </a:lnSpc>
              <a:buChar char="•"/>
              <a:tabLst>
                <a:tab pos="30480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Ø 400 мм, длина 1200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мм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Плоскошлифовальная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группа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Координатно-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шлифовальная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33399" y="2967358"/>
            <a:ext cx="14649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300">
                <a:latin typeface="Arial MT"/>
                <a:cs typeface="Arial MT"/>
              </a:rPr>
              <a:t>🔩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Расточные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 spc="-55" b="1">
                <a:latin typeface="Segoe UI"/>
                <a:cs typeface="Segoe UI"/>
              </a:rPr>
              <a:t>работы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61999" y="3566795"/>
            <a:ext cx="2518410" cy="930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5080" indent="-146685">
              <a:lnSpc>
                <a:spcPct val="1131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╔════════════════════════════════╗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Расточный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стол:</a:t>
            </a:r>
            <a:endParaRPr sz="1050">
              <a:latin typeface="Consolas"/>
              <a:cs typeface="Consolas"/>
            </a:endParaRPr>
          </a:p>
          <a:p>
            <a:pPr marL="15875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1200 × 1200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мм</a:t>
            </a:r>
            <a:endParaRPr sz="1050">
              <a:latin typeface="Consolas"/>
              <a:cs typeface="Consolas"/>
            </a:endParaRPr>
          </a:p>
          <a:p>
            <a:pPr marL="331470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33147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Прецизионная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обработка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33399" y="5045075"/>
            <a:ext cx="4237355" cy="619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7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6:</a:t>
            </a:r>
            <a:r>
              <a:rPr dirty="0" sz="1550" spc="7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Специализированное</a:t>
            </a:r>
            <a:r>
              <a:rPr dirty="0" sz="1550" spc="75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оборудование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200">
                <a:latin typeface="Segoe UI Emoji"/>
                <a:cs typeface="Segoe UI Emoji"/>
              </a:rPr>
              <a:t>🏭</a:t>
            </a:r>
            <a:r>
              <a:rPr dirty="0" sz="1200" spc="50">
                <a:latin typeface="Segoe UI Emoji"/>
                <a:cs typeface="Segoe UI Emoji"/>
              </a:rPr>
              <a:t> </a:t>
            </a:r>
            <a:r>
              <a:rPr dirty="0" sz="1200">
                <a:latin typeface="Segoe UI"/>
                <a:cs typeface="Segoe UI"/>
              </a:rPr>
              <a:t>Полный</a:t>
            </a:r>
            <a:r>
              <a:rPr dirty="0" sz="1200" spc="5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цикл</a:t>
            </a:r>
            <a:r>
              <a:rPr dirty="0" sz="1200" spc="5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металлообработки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33399" y="6072508"/>
            <a:ext cx="234315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300">
                <a:latin typeface="Arial MT"/>
                <a:cs typeface="Arial MT"/>
              </a:rPr>
              <a:t>🔨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Дополнительное </a:t>
            </a:r>
            <a:r>
              <a:rPr dirty="0" sz="1050" spc="-35" b="1">
                <a:latin typeface="Segoe UI"/>
                <a:cs typeface="Segoe UI"/>
              </a:rPr>
              <a:t>оборудование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61999" y="6662419"/>
            <a:ext cx="2481580" cy="5683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┌───────────────────────────────┐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 spc="90">
                <a:solidFill>
                  <a:srgbClr val="4D4D4B"/>
                </a:solidFill>
                <a:latin typeface="Segoe UI Emoji"/>
                <a:cs typeface="Segoe UI Emoji"/>
              </a:rPr>
              <a:t>🔪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Гильотины для</a:t>
            </a:r>
            <a:r>
              <a:rPr dirty="0" sz="1050" spc="5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резки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металла│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 spc="65">
                <a:solidFill>
                  <a:srgbClr val="4D4D4B"/>
                </a:solidFill>
                <a:latin typeface="Segoe UI Emoji"/>
                <a:cs typeface="Segoe UI Emoji"/>
              </a:rPr>
              <a:t>⚡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Сварочное</a:t>
            </a:r>
            <a:r>
              <a:rPr dirty="0" sz="1050" spc="5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оборудование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217905" y="7045325"/>
            <a:ext cx="990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761999" y="7205344"/>
            <a:ext cx="2481580" cy="7493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379095" algn="l"/>
                <a:tab pos="2358390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(все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типы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сварки)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239522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🎨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Покрасочные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участки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239522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🔥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Термообработка</a:t>
            </a:r>
            <a:r>
              <a:rPr dirty="0" sz="1050" spc="5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(Воронеж)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└───────────────────────────────┘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765174" y="883919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765174" y="904874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765174" y="925829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765174" y="1002982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533399" y="8358770"/>
            <a:ext cx="4019550" cy="17868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4950" algn="l"/>
              </a:tabLst>
            </a:pPr>
            <a:r>
              <a:rPr dirty="0" sz="1200" spc="20">
                <a:latin typeface="Segoe UI Symbol"/>
                <a:cs typeface="Segoe UI Symbol"/>
              </a:rPr>
              <a:t>⚡</a:t>
            </a:r>
            <a:r>
              <a:rPr dirty="0" sz="1200">
                <a:latin typeface="Segoe UI Symbol"/>
                <a:cs typeface="Segoe UI Symbol"/>
              </a:rPr>
              <a:t>	</a:t>
            </a:r>
            <a:r>
              <a:rPr dirty="0" sz="1050" b="1">
                <a:latin typeface="Segoe UI"/>
                <a:cs typeface="Segoe UI"/>
              </a:rPr>
              <a:t>Электромонтажный </a:t>
            </a:r>
            <a:r>
              <a:rPr dirty="0" sz="1050" spc="-10" b="1">
                <a:latin typeface="Segoe UI"/>
                <a:cs typeface="Segoe UI"/>
              </a:rPr>
              <a:t>участок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Производство и ремонт электрооборудования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станков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1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Модернизация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систем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 spc="-25">
                <a:latin typeface="Segoe UI"/>
                <a:cs typeface="Segoe UI"/>
              </a:rPr>
              <a:t>ЧПУ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 </a:t>
            </a:r>
            <a:r>
              <a:rPr dirty="0" sz="1050">
                <a:latin typeface="Segoe UI"/>
                <a:cs typeface="Segoe UI"/>
              </a:rPr>
              <a:t>Электротехнические </a:t>
            </a:r>
            <a:r>
              <a:rPr dirty="0" sz="1050" spc="-10">
                <a:latin typeface="Segoe UI"/>
                <a:cs typeface="Segoe UI"/>
              </a:rPr>
              <a:t>работы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💧</a:t>
            </a:r>
            <a:r>
              <a:rPr dirty="0" sz="1200" spc="85">
                <a:latin typeface="Arial MT"/>
                <a:cs typeface="Arial MT"/>
              </a:rPr>
              <a:t>  </a:t>
            </a:r>
            <a:r>
              <a:rPr dirty="0" sz="1050" b="1">
                <a:latin typeface="Segoe UI"/>
                <a:cs typeface="Segoe UI"/>
              </a:rPr>
              <a:t>Участок</a:t>
            </a:r>
            <a:r>
              <a:rPr dirty="0" sz="1050" spc="-4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гидравлики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10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Ремонт</a:t>
            </a:r>
            <a:r>
              <a:rPr dirty="0" sz="1050" spc="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производство</a:t>
            </a:r>
            <a:r>
              <a:rPr dirty="0" sz="1050" spc="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гидравлических</a:t>
            </a:r>
            <a:r>
              <a:rPr dirty="0" sz="1050" spc="1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систем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5" name="object 4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7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46099" y="3276598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46099" y="4638672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546099" y="5333997"/>
            <a:ext cx="6477000" cy="1905000"/>
            <a:chOff x="546099" y="5333997"/>
            <a:chExt cx="6477000" cy="1905000"/>
          </a:xfrm>
        </p:grpSpPr>
        <p:sp>
          <p:nvSpPr>
            <p:cNvPr id="7" name="object 7" descr=""/>
            <p:cNvSpPr/>
            <p:nvPr/>
          </p:nvSpPr>
          <p:spPr>
            <a:xfrm>
              <a:off x="550862" y="5338760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6446819" y="1895470"/>
                  </a:moveTo>
                  <a:lnTo>
                    <a:pt x="20654" y="1895470"/>
                  </a:lnTo>
                  <a:lnTo>
                    <a:pt x="17617" y="1894860"/>
                  </a:lnTo>
                  <a:lnTo>
                    <a:pt x="0" y="1874816"/>
                  </a:lnTo>
                  <a:lnTo>
                    <a:pt x="0" y="1871662"/>
                  </a:lnTo>
                  <a:lnTo>
                    <a:pt x="0" y="20654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4"/>
                  </a:lnTo>
                  <a:lnTo>
                    <a:pt x="6467473" y="1874816"/>
                  </a:lnTo>
                  <a:lnTo>
                    <a:pt x="6449856" y="1894860"/>
                  </a:lnTo>
                  <a:lnTo>
                    <a:pt x="6446819" y="189547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50862" y="5338760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0" y="1871662"/>
                  </a:moveTo>
                  <a:lnTo>
                    <a:pt x="0" y="23812"/>
                  </a:lnTo>
                  <a:lnTo>
                    <a:pt x="0" y="20654"/>
                  </a:lnTo>
                  <a:lnTo>
                    <a:pt x="604" y="17612"/>
                  </a:lnTo>
                  <a:lnTo>
                    <a:pt x="1812" y="14697"/>
                  </a:lnTo>
                  <a:lnTo>
                    <a:pt x="3021" y="11780"/>
                  </a:lnTo>
                  <a:lnTo>
                    <a:pt x="4741" y="9204"/>
                  </a:lnTo>
                  <a:lnTo>
                    <a:pt x="6974" y="6971"/>
                  </a:lnTo>
                  <a:lnTo>
                    <a:pt x="9207" y="4734"/>
                  </a:lnTo>
                  <a:lnTo>
                    <a:pt x="11782" y="3013"/>
                  </a:lnTo>
                  <a:lnTo>
                    <a:pt x="14699" y="1804"/>
                  </a:lnTo>
                  <a:lnTo>
                    <a:pt x="17617" y="600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0"/>
                  </a:lnTo>
                  <a:lnTo>
                    <a:pt x="6452774" y="1804"/>
                  </a:lnTo>
                  <a:lnTo>
                    <a:pt x="6455691" y="3013"/>
                  </a:lnTo>
                  <a:lnTo>
                    <a:pt x="6458266" y="4734"/>
                  </a:lnTo>
                  <a:lnTo>
                    <a:pt x="6460499" y="6971"/>
                  </a:lnTo>
                  <a:lnTo>
                    <a:pt x="6462732" y="9204"/>
                  </a:lnTo>
                  <a:lnTo>
                    <a:pt x="6467474" y="23812"/>
                  </a:lnTo>
                  <a:lnTo>
                    <a:pt x="6467474" y="1871662"/>
                  </a:lnTo>
                  <a:lnTo>
                    <a:pt x="6443662" y="1895474"/>
                  </a:lnTo>
                  <a:lnTo>
                    <a:pt x="23812" y="1895474"/>
                  </a:lnTo>
                  <a:lnTo>
                    <a:pt x="0" y="1874816"/>
                  </a:lnTo>
                  <a:lnTo>
                    <a:pt x="0" y="187166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5753099"/>
              <a:ext cx="34925" cy="15875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9807" y="5753099"/>
              <a:ext cx="34925" cy="15875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6115049"/>
              <a:ext cx="34925" cy="1587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6115049"/>
              <a:ext cx="34925" cy="15875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6296024"/>
              <a:ext cx="34925" cy="1587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6296024"/>
              <a:ext cx="34925" cy="1587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6476999"/>
              <a:ext cx="34925" cy="1587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6476999"/>
              <a:ext cx="34925" cy="1587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6657974"/>
              <a:ext cx="34925" cy="15875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6657974"/>
              <a:ext cx="34925" cy="158750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546099" y="7762872"/>
            <a:ext cx="6477000" cy="1905000"/>
            <a:chOff x="546099" y="7762872"/>
            <a:chExt cx="6477000" cy="1905000"/>
          </a:xfrm>
        </p:grpSpPr>
        <p:sp>
          <p:nvSpPr>
            <p:cNvPr id="20" name="object 20" descr=""/>
            <p:cNvSpPr/>
            <p:nvPr/>
          </p:nvSpPr>
          <p:spPr>
            <a:xfrm>
              <a:off x="550862" y="7767635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6446819" y="1895470"/>
                  </a:moveTo>
                  <a:lnTo>
                    <a:pt x="20654" y="1895470"/>
                  </a:lnTo>
                  <a:lnTo>
                    <a:pt x="17617" y="1894865"/>
                  </a:lnTo>
                  <a:lnTo>
                    <a:pt x="0" y="1874811"/>
                  </a:lnTo>
                  <a:lnTo>
                    <a:pt x="0" y="1871662"/>
                  </a:lnTo>
                  <a:lnTo>
                    <a:pt x="0" y="2065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0"/>
                  </a:lnTo>
                  <a:lnTo>
                    <a:pt x="6467473" y="1874811"/>
                  </a:lnTo>
                  <a:lnTo>
                    <a:pt x="6449856" y="1894865"/>
                  </a:lnTo>
                  <a:lnTo>
                    <a:pt x="6446819" y="189547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50862" y="7767635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0" y="1871662"/>
                  </a:moveTo>
                  <a:lnTo>
                    <a:pt x="0" y="23812"/>
                  </a:lnTo>
                  <a:lnTo>
                    <a:pt x="0" y="20650"/>
                  </a:lnTo>
                  <a:lnTo>
                    <a:pt x="604" y="17607"/>
                  </a:lnTo>
                  <a:lnTo>
                    <a:pt x="1812" y="14692"/>
                  </a:lnTo>
                  <a:lnTo>
                    <a:pt x="3021" y="11775"/>
                  </a:lnTo>
                  <a:lnTo>
                    <a:pt x="4741" y="9199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0"/>
                  </a:lnTo>
                  <a:lnTo>
                    <a:pt x="6467474" y="23812"/>
                  </a:lnTo>
                  <a:lnTo>
                    <a:pt x="6467474" y="1871662"/>
                  </a:lnTo>
                  <a:lnTo>
                    <a:pt x="6443662" y="1895474"/>
                  </a:lnTo>
                  <a:lnTo>
                    <a:pt x="23812" y="1895474"/>
                  </a:lnTo>
                  <a:lnTo>
                    <a:pt x="0" y="1874811"/>
                  </a:lnTo>
                  <a:lnTo>
                    <a:pt x="0" y="187166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8181974"/>
              <a:ext cx="34925" cy="15875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9807" y="8181974"/>
              <a:ext cx="34925" cy="15875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8543924"/>
              <a:ext cx="34925" cy="15875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8543924"/>
              <a:ext cx="34925" cy="15875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8724899"/>
              <a:ext cx="34925" cy="15875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9807" y="8724899"/>
              <a:ext cx="34925" cy="15875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8905874"/>
              <a:ext cx="34925" cy="15875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8905874"/>
              <a:ext cx="34925" cy="15875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086849"/>
              <a:ext cx="34925" cy="15875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9086849"/>
              <a:ext cx="34925" cy="158750"/>
            </a:xfrm>
            <a:prstGeom prst="rect">
              <a:avLst/>
            </a:prstGeom>
          </p:spPr>
        </p:pic>
      </p:grpSp>
      <p:sp>
        <p:nvSpPr>
          <p:cNvPr id="32" name="object 32" descr=""/>
          <p:cNvSpPr/>
          <p:nvPr/>
        </p:nvSpPr>
        <p:spPr>
          <a:xfrm>
            <a:off x="765174" y="6095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765174" y="8191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1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1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765174" y="15906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765174" y="18002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765174" y="20097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765174" y="27812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765174" y="29908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533399" y="490219"/>
            <a:ext cx="4660900" cy="393509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393065">
              <a:lnSpc>
                <a:spcPct val="100000"/>
              </a:lnSpc>
              <a:spcBef>
                <a:spcPts val="4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Диагностика 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наладка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 </a:t>
            </a:r>
            <a:r>
              <a:rPr dirty="0" sz="1050">
                <a:latin typeface="Segoe UI"/>
                <a:cs typeface="Segoe UI"/>
              </a:rPr>
              <a:t>Испытания под </a:t>
            </a:r>
            <a:r>
              <a:rPr dirty="0" sz="1050" spc="-10">
                <a:latin typeface="Segoe UI"/>
                <a:cs typeface="Segoe UI"/>
              </a:rPr>
              <a:t>давлением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110">
                <a:latin typeface="Segoe UI Symbol"/>
                <a:cs typeface="Segoe UI Symbol"/>
              </a:rPr>
              <a:t>⚙</a:t>
            </a:r>
            <a:r>
              <a:rPr dirty="0" sz="1200" spc="295">
                <a:latin typeface="Segoe UI Symbol"/>
                <a:cs typeface="Segoe UI Symbol"/>
              </a:rPr>
              <a:t> </a:t>
            </a:r>
            <a:r>
              <a:rPr dirty="0" sz="1050" b="1">
                <a:latin typeface="Segoe UI"/>
                <a:cs typeface="Segoe UI"/>
              </a:rPr>
              <a:t>Участок</a:t>
            </a:r>
            <a:r>
              <a:rPr dirty="0" sz="1050" spc="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изготовления</a:t>
            </a:r>
            <a:r>
              <a:rPr dirty="0" sz="1050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шестерен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1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Производство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зубчатых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передач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 </a:t>
            </a:r>
            <a:r>
              <a:rPr dirty="0" sz="1050">
                <a:latin typeface="Segoe UI"/>
                <a:cs typeface="Segoe UI"/>
              </a:rPr>
              <a:t>Восстановление изношенных </a:t>
            </a:r>
            <a:r>
              <a:rPr dirty="0" sz="1050" spc="-10">
                <a:latin typeface="Segoe UI"/>
                <a:cs typeface="Segoe UI"/>
              </a:rPr>
              <a:t>шестерен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1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Высокая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точность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изготовления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300">
                <a:latin typeface="Arial MT"/>
                <a:cs typeface="Arial MT"/>
              </a:rPr>
              <a:t>🔄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Участок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револьверных </a:t>
            </a:r>
            <a:r>
              <a:rPr dirty="0" sz="1050" spc="-10" b="1">
                <a:latin typeface="Segoe UI"/>
                <a:cs typeface="Segoe UI"/>
              </a:rPr>
              <a:t>головок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Производство 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ремонт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 </a:t>
            </a:r>
            <a:r>
              <a:rPr dirty="0" sz="1050">
                <a:latin typeface="Segoe UI"/>
                <a:cs typeface="Segoe UI"/>
              </a:rPr>
              <a:t>Модернизация под современные </a:t>
            </a:r>
            <a:r>
              <a:rPr dirty="0" sz="1050" spc="-10">
                <a:latin typeface="Segoe UI"/>
                <a:cs typeface="Segoe UI"/>
              </a:rPr>
              <a:t>требования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6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7:</a:t>
            </a:r>
            <a:r>
              <a:rPr dirty="0" sz="1550" spc="6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Грузоподъемное</a:t>
            </a:r>
            <a:r>
              <a:rPr dirty="0" sz="1550" spc="65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оборудование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200">
                <a:latin typeface="Segoe UI Emoji"/>
                <a:cs typeface="Segoe UI Emoji"/>
              </a:rPr>
              <a:t>🏗</a:t>
            </a:r>
            <a:r>
              <a:rPr dirty="0" sz="1200" spc="85">
                <a:latin typeface="Segoe UI Emoji"/>
                <a:cs typeface="Segoe UI Emoji"/>
              </a:rPr>
              <a:t> </a:t>
            </a:r>
            <a:r>
              <a:rPr dirty="0" sz="1200">
                <a:latin typeface="Segoe UI"/>
                <a:cs typeface="Segoe UI"/>
              </a:rPr>
              <a:t>Мощности</a:t>
            </a:r>
            <a:r>
              <a:rPr dirty="0" sz="1200" spc="9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для</a:t>
            </a:r>
            <a:r>
              <a:rPr dirty="0" sz="1200" spc="9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работы</a:t>
            </a:r>
            <a:r>
              <a:rPr dirty="0" sz="1200" spc="9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с</a:t>
            </a:r>
            <a:r>
              <a:rPr dirty="0" sz="1200" spc="9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крупногабаритными</a:t>
            </a:r>
            <a:r>
              <a:rPr dirty="0" sz="1200" spc="9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деталями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200">
                <a:latin typeface="Segoe UI Symbol"/>
                <a:cs typeface="Segoe UI Symbol"/>
              </a:rPr>
              <a:t>⭐</a:t>
            </a:r>
            <a:r>
              <a:rPr dirty="0" sz="1200" spc="355">
                <a:latin typeface="Segoe UI Symbol"/>
                <a:cs typeface="Segoe UI Symbol"/>
              </a:rPr>
              <a:t> </a:t>
            </a:r>
            <a:r>
              <a:rPr dirty="0" sz="1050" b="1">
                <a:latin typeface="Segoe UI"/>
                <a:cs typeface="Segoe UI"/>
              </a:rPr>
              <a:t>УНИКАЛЬНОЕ </a:t>
            </a:r>
            <a:r>
              <a:rPr dirty="0" sz="1050" spc="-10" b="1">
                <a:latin typeface="Segoe UI"/>
                <a:cs typeface="Segoe UI"/>
              </a:rPr>
              <a:t>ПРЕИМУЩЕСТВО:</a:t>
            </a:r>
            <a:r>
              <a:rPr dirty="0" sz="1050" b="1">
                <a:latin typeface="Segoe UI"/>
                <a:cs typeface="Segoe UI"/>
              </a:rPr>
              <a:t> Обработка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деталей до 150 тонн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200" spc="-50">
                <a:latin typeface="Segoe UI Symbol"/>
                <a:cs typeface="Segoe UI Symbol"/>
              </a:rPr>
              <a:t>⭐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43" name="object 4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7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  <p:sp>
        <p:nvSpPr>
          <p:cNvPr id="40" name="object 40" descr=""/>
          <p:cNvSpPr txBox="1"/>
          <p:nvPr/>
        </p:nvSpPr>
        <p:spPr>
          <a:xfrm>
            <a:off x="533399" y="4974875"/>
            <a:ext cx="2087245" cy="20275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700">
                <a:latin typeface="Segoe UI Emoji"/>
                <a:cs typeface="Segoe UI Emoji"/>
              </a:rPr>
              <a:t>📍</a:t>
            </a:r>
            <a:r>
              <a:rPr dirty="0" sz="1200" spc="5">
                <a:latin typeface="Segoe UI Emoji"/>
                <a:cs typeface="Segoe UI Emoj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РЯЗАНЬ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200">
              <a:latin typeface="Segoe UI"/>
              <a:cs typeface="Segoe UI"/>
            </a:endParaRPr>
          </a:p>
          <a:p>
            <a:pPr algn="ctr" marL="227965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╔═══════════════════════╗</a:t>
            </a:r>
            <a:endParaRPr sz="1050">
              <a:latin typeface="Consolas"/>
              <a:cs typeface="Consolas"/>
            </a:endParaRPr>
          </a:p>
          <a:p>
            <a:pPr algn="ctr" marL="264795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🏗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Грузоподъемность</a:t>
            </a:r>
            <a:endParaRPr sz="1050">
              <a:latin typeface="Consolas"/>
              <a:cs typeface="Consolas"/>
            </a:endParaRPr>
          </a:p>
          <a:p>
            <a:pPr algn="ctr" marL="227965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╠═══════════════════════╣</a:t>
            </a:r>
            <a:endParaRPr sz="105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2 × 10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тонн</a:t>
            </a:r>
            <a:endParaRPr sz="105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(стационарные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краны)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Автокран до 65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тонн</a:t>
            </a:r>
            <a:endParaRPr sz="1050">
              <a:latin typeface="Consolas"/>
              <a:cs typeface="Consolas"/>
            </a:endParaRPr>
          </a:p>
          <a:p>
            <a:pPr algn="ctr" marL="227965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33399" y="7403750"/>
            <a:ext cx="2087245" cy="20275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700">
                <a:latin typeface="Segoe UI Emoji"/>
                <a:cs typeface="Segoe UI Emoji"/>
              </a:rPr>
              <a:t>📍</a:t>
            </a:r>
            <a:r>
              <a:rPr dirty="0" sz="1200" spc="60">
                <a:latin typeface="Segoe UI Emoji"/>
                <a:cs typeface="Segoe UI Emoji"/>
              </a:rPr>
              <a:t> </a:t>
            </a:r>
            <a:r>
              <a:rPr dirty="0" sz="1200" b="1">
                <a:latin typeface="Segoe UI"/>
                <a:cs typeface="Segoe UI"/>
              </a:rPr>
              <a:t>ВОРОНЕЖ</a:t>
            </a:r>
            <a:r>
              <a:rPr dirty="0" sz="1200" spc="60" b="1">
                <a:latin typeface="Segoe UI"/>
                <a:cs typeface="Segoe UI"/>
              </a:rPr>
              <a:t> </a:t>
            </a:r>
            <a:r>
              <a:rPr dirty="0" sz="1200" spc="-50">
                <a:latin typeface="Segoe UI Emoji"/>
                <a:cs typeface="Segoe UI Emoji"/>
              </a:rPr>
              <a:t>⭐</a:t>
            </a:r>
            <a:endParaRPr sz="1200">
              <a:latin typeface="Segoe UI Emoji"/>
              <a:cs typeface="Segoe UI Emoj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200">
              <a:latin typeface="Segoe UI Emoji"/>
              <a:cs typeface="Segoe UI Emoji"/>
            </a:endParaRPr>
          </a:p>
          <a:p>
            <a:pPr marL="240665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╔═══════════════════════╗</a:t>
            </a:r>
            <a:endParaRPr sz="105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🏗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Грузоподъемность</a:t>
            </a:r>
            <a:endParaRPr sz="1050">
              <a:latin typeface="Consolas"/>
              <a:cs typeface="Consolas"/>
            </a:endParaRPr>
          </a:p>
          <a:p>
            <a:pPr marL="387350" marR="5080" indent="-146685">
              <a:lnSpc>
                <a:spcPct val="1131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╠═══════════════════════╣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МОСТОВОЙ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КРАН</a:t>
            </a:r>
            <a:endParaRPr sz="105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60/160 ТОНН! </a:t>
            </a:r>
            <a:r>
              <a:rPr dirty="0" sz="1050" spc="-50">
                <a:solidFill>
                  <a:srgbClr val="4D4D4B"/>
                </a:solidFill>
                <a:latin typeface="Segoe UI Emoji"/>
                <a:cs typeface="Segoe UI Emoji"/>
              </a:rPr>
              <a:t>🌟</a:t>
            </a:r>
            <a:endParaRPr sz="1050">
              <a:latin typeface="Segoe UI Emoji"/>
              <a:cs typeface="Segoe UI Emoj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50">
              <a:latin typeface="Segoe UI Emoji"/>
              <a:cs typeface="Segoe UI Emoji"/>
            </a:endParaRPr>
          </a:p>
          <a:p>
            <a:pPr marL="387350">
              <a:lnSpc>
                <a:spcPct val="100000"/>
              </a:lnSpc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Детали до 150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тонн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33399" y="9807575"/>
            <a:ext cx="9277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Segoe UI"/>
                <a:cs typeface="Segoe UI"/>
              </a:rPr>
              <a:t>УНИКАЛЬНО!</a:t>
            </a:r>
            <a:endParaRPr sz="10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46099" y="895347"/>
            <a:ext cx="6477000" cy="1905000"/>
            <a:chOff x="546099" y="895347"/>
            <a:chExt cx="6477000" cy="1905000"/>
          </a:xfrm>
        </p:grpSpPr>
        <p:sp>
          <p:nvSpPr>
            <p:cNvPr id="5" name="object 5" descr=""/>
            <p:cNvSpPr/>
            <p:nvPr/>
          </p:nvSpPr>
          <p:spPr>
            <a:xfrm>
              <a:off x="550862" y="900110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6446819" y="1895470"/>
                  </a:moveTo>
                  <a:lnTo>
                    <a:pt x="20654" y="1895470"/>
                  </a:lnTo>
                  <a:lnTo>
                    <a:pt x="17617" y="1894860"/>
                  </a:lnTo>
                  <a:lnTo>
                    <a:pt x="0" y="1874816"/>
                  </a:lnTo>
                  <a:lnTo>
                    <a:pt x="0" y="1871662"/>
                  </a:lnTo>
                  <a:lnTo>
                    <a:pt x="0" y="2065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0"/>
                  </a:lnTo>
                  <a:lnTo>
                    <a:pt x="6467473" y="1874816"/>
                  </a:lnTo>
                  <a:lnTo>
                    <a:pt x="6449856" y="1894865"/>
                  </a:lnTo>
                  <a:lnTo>
                    <a:pt x="6446819" y="189547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0862" y="900110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0" y="1871662"/>
                  </a:moveTo>
                  <a:lnTo>
                    <a:pt x="0" y="23812"/>
                  </a:lnTo>
                  <a:lnTo>
                    <a:pt x="0" y="20650"/>
                  </a:lnTo>
                  <a:lnTo>
                    <a:pt x="604" y="17607"/>
                  </a:lnTo>
                  <a:lnTo>
                    <a:pt x="1812" y="14692"/>
                  </a:lnTo>
                  <a:lnTo>
                    <a:pt x="3021" y="11770"/>
                  </a:lnTo>
                  <a:lnTo>
                    <a:pt x="4741" y="9194"/>
                  </a:lnTo>
                  <a:lnTo>
                    <a:pt x="6974" y="6966"/>
                  </a:lnTo>
                  <a:lnTo>
                    <a:pt x="9207" y="4730"/>
                  </a:lnTo>
                  <a:lnTo>
                    <a:pt x="11782" y="3008"/>
                  </a:lnTo>
                  <a:lnTo>
                    <a:pt x="14699" y="1804"/>
                  </a:lnTo>
                  <a:lnTo>
                    <a:pt x="17617" y="600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0"/>
                  </a:lnTo>
                  <a:lnTo>
                    <a:pt x="6452774" y="1804"/>
                  </a:lnTo>
                  <a:lnTo>
                    <a:pt x="6455691" y="3008"/>
                  </a:lnTo>
                  <a:lnTo>
                    <a:pt x="6458266" y="4730"/>
                  </a:lnTo>
                  <a:lnTo>
                    <a:pt x="6460499" y="6966"/>
                  </a:lnTo>
                  <a:lnTo>
                    <a:pt x="6462732" y="9194"/>
                  </a:lnTo>
                  <a:lnTo>
                    <a:pt x="6464453" y="11770"/>
                  </a:lnTo>
                  <a:lnTo>
                    <a:pt x="6465661" y="14692"/>
                  </a:lnTo>
                  <a:lnTo>
                    <a:pt x="6466869" y="17607"/>
                  </a:lnTo>
                  <a:lnTo>
                    <a:pt x="6467473" y="20650"/>
                  </a:lnTo>
                  <a:lnTo>
                    <a:pt x="6467474" y="23812"/>
                  </a:lnTo>
                  <a:lnTo>
                    <a:pt x="6467474" y="1871662"/>
                  </a:lnTo>
                  <a:lnTo>
                    <a:pt x="6443662" y="1895474"/>
                  </a:lnTo>
                  <a:lnTo>
                    <a:pt x="23812" y="1895474"/>
                  </a:lnTo>
                  <a:lnTo>
                    <a:pt x="20654" y="1895470"/>
                  </a:lnTo>
                  <a:lnTo>
                    <a:pt x="17617" y="1894860"/>
                  </a:lnTo>
                  <a:lnTo>
                    <a:pt x="14699" y="1893651"/>
                  </a:lnTo>
                  <a:lnTo>
                    <a:pt x="11782" y="1892446"/>
                  </a:lnTo>
                  <a:lnTo>
                    <a:pt x="0" y="1874816"/>
                  </a:lnTo>
                  <a:lnTo>
                    <a:pt x="0" y="187166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1314450"/>
              <a:ext cx="34925" cy="15875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9807" y="1314450"/>
              <a:ext cx="34925" cy="1587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1676399"/>
              <a:ext cx="34925" cy="15875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1676399"/>
              <a:ext cx="34925" cy="15875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1857375"/>
              <a:ext cx="34925" cy="1587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1857375"/>
              <a:ext cx="34925" cy="15875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038349"/>
              <a:ext cx="34925" cy="1587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2038349"/>
              <a:ext cx="34925" cy="1587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219324"/>
              <a:ext cx="34925" cy="1587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3344" y="2219324"/>
              <a:ext cx="34925" cy="158750"/>
            </a:xfrm>
            <a:prstGeom prst="rect">
              <a:avLst/>
            </a:prstGeom>
          </p:spPr>
        </p:pic>
      </p:grpSp>
      <p:sp>
        <p:nvSpPr>
          <p:cNvPr id="17" name="object 17" descr=""/>
          <p:cNvSpPr/>
          <p:nvPr/>
        </p:nvSpPr>
        <p:spPr>
          <a:xfrm>
            <a:off x="546099" y="2952747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593724" y="3133722"/>
            <a:ext cx="6362700" cy="781050"/>
            <a:chOff x="593724" y="3133722"/>
            <a:chExt cx="6362700" cy="781050"/>
          </a:xfrm>
        </p:grpSpPr>
        <p:sp>
          <p:nvSpPr>
            <p:cNvPr id="19" name="object 19" descr=""/>
            <p:cNvSpPr/>
            <p:nvPr/>
          </p:nvSpPr>
          <p:spPr>
            <a:xfrm>
              <a:off x="593724" y="3133722"/>
              <a:ext cx="6362700" cy="781050"/>
            </a:xfrm>
            <a:custGeom>
              <a:avLst/>
              <a:gdLst/>
              <a:ahLst/>
              <a:cxnLst/>
              <a:rect l="l" t="t" r="r" b="b"/>
              <a:pathLst>
                <a:path w="6362700" h="781050">
                  <a:moveTo>
                    <a:pt x="6362699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6362699" y="0"/>
                  </a:lnTo>
                  <a:lnTo>
                    <a:pt x="6362699" y="781049"/>
                  </a:lnTo>
                  <a:close/>
                </a:path>
              </a:pathLst>
            </a:custGeom>
            <a:solidFill>
              <a:srgbClr val="7E7E7E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93724" y="3133722"/>
              <a:ext cx="47625" cy="781050"/>
            </a:xfrm>
            <a:custGeom>
              <a:avLst/>
              <a:gdLst/>
              <a:ahLst/>
              <a:cxnLst/>
              <a:rect l="l" t="t" r="r" b="b"/>
              <a:pathLst>
                <a:path w="47625" h="781050">
                  <a:moveTo>
                    <a:pt x="47624" y="781049"/>
                  </a:moveTo>
                  <a:lnTo>
                    <a:pt x="0" y="78104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781049"/>
                  </a:lnTo>
                  <a:close/>
                </a:path>
              </a:pathLst>
            </a:custGeom>
            <a:solidFill>
              <a:srgbClr val="0079CC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/>
          <p:nvPr/>
        </p:nvSpPr>
        <p:spPr>
          <a:xfrm>
            <a:off x="546099" y="4067172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546099" y="9563096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533399" y="536225"/>
            <a:ext cx="2087245" cy="20275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700">
                <a:latin typeface="Segoe UI Emoji"/>
                <a:cs typeface="Segoe UI Emoji"/>
              </a:rPr>
              <a:t>📍</a:t>
            </a:r>
            <a:r>
              <a:rPr dirty="0" sz="1200" spc="5">
                <a:latin typeface="Segoe UI Emoji"/>
                <a:cs typeface="Segoe UI Emoj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ИЖЕВСК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2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╔═══════════════════════╗</a:t>
            </a:r>
            <a:endParaRPr sz="105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🏗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Грузоподъемность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╠═══════════════════════╣</a:t>
            </a:r>
            <a:endParaRPr sz="105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2 × 25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тонн</a:t>
            </a:r>
            <a:endParaRPr sz="105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(стационарные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краны)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Автокран до 65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тонн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765174" y="547687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765174" y="568642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765174" y="589597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765174" y="666749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65174" y="687704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765174" y="70865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765174" y="72961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1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1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765174" y="75056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4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765174" y="77152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533399" y="3136550"/>
            <a:ext cx="6423025" cy="72040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25"/>
              </a:spcBef>
            </a:pPr>
            <a:r>
              <a:rPr dirty="0" sz="1200" spc="450">
                <a:latin typeface="Segoe UI Emoji"/>
                <a:cs typeface="Segoe UI Emoji"/>
              </a:rPr>
              <a:t>💡</a:t>
            </a:r>
            <a:r>
              <a:rPr dirty="0" sz="1200" spc="75">
                <a:latin typeface="Segoe UI Emoji"/>
                <a:cs typeface="Segoe UI Emoji"/>
              </a:rPr>
              <a:t> </a:t>
            </a:r>
            <a:r>
              <a:rPr dirty="0" sz="1200" b="1">
                <a:latin typeface="Segoe UI"/>
                <a:cs typeface="Segoe UI"/>
              </a:rPr>
              <a:t>Ключевое</a:t>
            </a:r>
            <a:r>
              <a:rPr dirty="0" sz="1200" spc="80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преимущество:</a:t>
            </a:r>
            <a:endParaRPr sz="1200">
              <a:latin typeface="Segoe UI"/>
              <a:cs typeface="Segoe UI"/>
            </a:endParaRPr>
          </a:p>
          <a:p>
            <a:pPr marL="202565" marR="441325">
              <a:lnSpc>
                <a:spcPct val="131000"/>
              </a:lnSpc>
              <a:spcBef>
                <a:spcPts val="1019"/>
              </a:spcBef>
            </a:pPr>
            <a:r>
              <a:rPr dirty="0" sz="1050">
                <a:latin typeface="Segoe UI"/>
                <a:cs typeface="Segoe UI"/>
              </a:rPr>
              <a:t>Возможность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работы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крупногабаритными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тяжелыми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деталями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благодаря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партнерству </a:t>
            </a:r>
            <a:r>
              <a:rPr dirty="0" sz="1050">
                <a:latin typeface="Segoe UI"/>
                <a:cs typeface="Segoe UI"/>
              </a:rPr>
              <a:t>с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ОАО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«Тяжмехпресс»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Воронеже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-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мостовой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кран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грузоподъемностью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160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тонн!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3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8:</a:t>
            </a:r>
            <a:r>
              <a:rPr dirty="0" sz="1550" spc="3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Наша</a:t>
            </a:r>
            <a:r>
              <a:rPr dirty="0" sz="1550" spc="35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команда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200">
                <a:latin typeface="Segoe UI"/>
                <a:cs typeface="Segoe UI"/>
              </a:rPr>
              <a:t>Высококвалифицированные</a:t>
            </a:r>
            <a:r>
              <a:rPr dirty="0" sz="1200" spc="28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специалисты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240">
                <a:latin typeface="Arial MT"/>
                <a:cs typeface="Arial MT"/>
              </a:rPr>
              <a:t>   </a:t>
            </a:r>
            <a:r>
              <a:rPr dirty="0" sz="1050" b="1">
                <a:latin typeface="Segoe UI"/>
                <a:cs typeface="Segoe UI"/>
              </a:rPr>
              <a:t>Управление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и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проектирование: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 spc="-10" b="1">
                <a:latin typeface="Segoe UI"/>
                <a:cs typeface="Segoe UI"/>
              </a:rPr>
              <a:t>Технические</a:t>
            </a:r>
            <a:r>
              <a:rPr dirty="0" sz="1050" spc="-2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директора</a:t>
            </a:r>
            <a:r>
              <a:rPr dirty="0" sz="1050" spc="-2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руководство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проектами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b="1">
                <a:latin typeface="Segoe UI"/>
                <a:cs typeface="Segoe UI"/>
              </a:rPr>
              <a:t>Конструкторы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(5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чел.)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разработка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технической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документации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spc="-10" b="1">
                <a:latin typeface="Segoe UI"/>
                <a:cs typeface="Segoe UI"/>
              </a:rPr>
              <a:t>Технологи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 оптимизация производственных </a:t>
            </a:r>
            <a:r>
              <a:rPr dirty="0" sz="1050" spc="-10">
                <a:latin typeface="Segoe UI"/>
                <a:cs typeface="Segoe UI"/>
              </a:rPr>
              <a:t>процессов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250">
                <a:latin typeface="Arial MT"/>
                <a:cs typeface="Arial MT"/>
              </a:rPr>
              <a:t>   </a:t>
            </a:r>
            <a:r>
              <a:rPr dirty="0" sz="1050" b="1">
                <a:latin typeface="Segoe UI"/>
                <a:cs typeface="Segoe UI"/>
              </a:rPr>
              <a:t>Производственный</a:t>
            </a:r>
            <a:r>
              <a:rPr dirty="0" sz="1050" spc="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персонал: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 spc="-10" b="1">
                <a:latin typeface="Segoe UI"/>
                <a:cs typeface="Segoe UI"/>
              </a:rPr>
              <a:t>Токари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(15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чел.)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все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виды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токарной</a:t>
            </a:r>
            <a:r>
              <a:rPr dirty="0" sz="1050" spc="-10">
                <a:latin typeface="Segoe UI"/>
                <a:cs typeface="Segoe UI"/>
              </a:rPr>
              <a:t> обработки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b="1">
                <a:latin typeface="Segoe UI"/>
                <a:cs typeface="Segoe UI"/>
              </a:rPr>
              <a:t>Фрезеровщики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(5 чел.) – фрезерные работы любой </a:t>
            </a:r>
            <a:r>
              <a:rPr dirty="0" sz="1050" spc="-10">
                <a:latin typeface="Segoe UI"/>
                <a:cs typeface="Segoe UI"/>
              </a:rPr>
              <a:t>сложности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spc="-10" b="1">
                <a:latin typeface="Segoe UI"/>
                <a:cs typeface="Segoe UI"/>
              </a:rPr>
              <a:t>Шлифовщики</a:t>
            </a:r>
            <a:r>
              <a:rPr dirty="0" sz="1050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(5</a:t>
            </a:r>
            <a:r>
              <a:rPr dirty="0" sz="1050" spc="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чел.)</a:t>
            </a:r>
            <a:r>
              <a:rPr dirty="0" sz="1050" spc="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прецизионная</a:t>
            </a:r>
            <a:r>
              <a:rPr dirty="0" sz="1050" spc="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шлифовка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b="1">
                <a:latin typeface="Segoe UI"/>
                <a:cs typeface="Segoe UI"/>
              </a:rPr>
              <a:t>Пусконаладчики</a:t>
            </a:r>
            <a:r>
              <a:rPr dirty="0" sz="1050" spc="-2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(3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чел.)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наладка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запуск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оборудования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b="1">
                <a:latin typeface="Segoe UI"/>
                <a:cs typeface="Segoe UI"/>
              </a:rPr>
              <a:t>Сварщики</a:t>
            </a:r>
            <a:r>
              <a:rPr dirty="0" sz="1050" spc="-2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все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типы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сварки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b="1">
                <a:latin typeface="Segoe UI"/>
                <a:cs typeface="Segoe UI"/>
              </a:rPr>
              <a:t>Электромонтажники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 электротехнические </a:t>
            </a:r>
            <a:r>
              <a:rPr dirty="0" sz="1050" spc="-10">
                <a:latin typeface="Segoe UI"/>
                <a:cs typeface="Segoe UI"/>
              </a:rPr>
              <a:t>работы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Segoe UI"/>
                <a:cs typeface="Segoe UI"/>
              </a:rPr>
              <a:t>Общая</a:t>
            </a:r>
            <a:r>
              <a:rPr dirty="0" sz="1200" spc="8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численность:</a:t>
            </a:r>
            <a:r>
              <a:rPr dirty="0" sz="1200" spc="9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60+</a:t>
            </a:r>
            <a:r>
              <a:rPr dirty="0" sz="1200" spc="9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специалистов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050" b="1">
                <a:latin typeface="Segoe UI"/>
                <a:cs typeface="Segoe UI"/>
              </a:rPr>
              <a:t>Наши </a:t>
            </a:r>
            <a:r>
              <a:rPr dirty="0" sz="1050" spc="-10" b="1">
                <a:latin typeface="Segoe UI"/>
                <a:cs typeface="Segoe UI"/>
              </a:rPr>
              <a:t>преимущества: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Постоянное обучение и повышение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квалификации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Опыт работы с оборонными </a:t>
            </a:r>
            <a:r>
              <a:rPr dirty="0" sz="1050" spc="-10">
                <a:latin typeface="Segoe UI"/>
                <a:cs typeface="Segoe UI"/>
              </a:rPr>
              <a:t>предприятиями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1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Знание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специфики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судостроительной</a:t>
            </a:r>
            <a:r>
              <a:rPr dirty="0" sz="1050" spc="-10">
                <a:latin typeface="Segoe UI"/>
                <a:cs typeface="Segoe UI"/>
              </a:rPr>
              <a:t> отрасли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9: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Комплекс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услуг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200">
                <a:latin typeface="Segoe UI"/>
                <a:cs typeface="Segoe UI"/>
              </a:rPr>
              <a:t>Полный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спектр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услуг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для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вашего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производства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7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46099" y="6115046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65174" y="100012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65174" y="120967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65174" y="141922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1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1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65174" y="162877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65174" y="240029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65174" y="260984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65174" y="281939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1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1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65174" y="302894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65174" y="380047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65174" y="401002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65174" y="421957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4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65174" y="442912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65174" y="52006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65174" y="54101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765174" y="56197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765174" y="58292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1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1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765174" y="75247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1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1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765174" y="77342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765174" y="79438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765174" y="81533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4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765174" y="89344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765174" y="91439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765174" y="93535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1"/>
                </a:lnTo>
                <a:lnTo>
                  <a:pt x="0" y="2064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1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65174" y="95630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6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765174" y="97726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1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1"/>
                </a:lnTo>
                <a:lnTo>
                  <a:pt x="26970" y="4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765174" y="99821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765174" y="101917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533399" y="519433"/>
            <a:ext cx="4890770" cy="97878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310">
                <a:latin typeface="Arial MT"/>
                <a:cs typeface="Arial MT"/>
              </a:rPr>
              <a:t>🔧</a:t>
            </a:r>
            <a:r>
              <a:rPr dirty="0" sz="1200" spc="254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Ремонт</a:t>
            </a:r>
            <a:r>
              <a:rPr dirty="0" sz="1050" spc="-10" b="1">
                <a:latin typeface="Segoe UI"/>
                <a:cs typeface="Segoe UI"/>
              </a:rPr>
              <a:t> оборудования:</a:t>
            </a:r>
            <a:endParaRPr sz="1050">
              <a:latin typeface="Segoe UI"/>
              <a:cs typeface="Segoe UI"/>
            </a:endParaRPr>
          </a:p>
          <a:p>
            <a:pPr marL="393065" marR="1946910">
              <a:lnSpc>
                <a:spcPct val="131000"/>
              </a:lnSpc>
              <a:spcBef>
                <a:spcPts val="1395"/>
              </a:spcBef>
            </a:pPr>
            <a:r>
              <a:rPr dirty="0" sz="1050">
                <a:latin typeface="Segoe UI"/>
                <a:cs typeface="Segoe UI"/>
              </a:rPr>
              <a:t>Капитальный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ремонт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станков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всех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типов </a:t>
            </a:r>
            <a:r>
              <a:rPr dirty="0" sz="1050">
                <a:latin typeface="Segoe UI"/>
                <a:cs typeface="Segoe UI"/>
              </a:rPr>
              <a:t>Восстановление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геометрии 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точности </a:t>
            </a:r>
            <a:r>
              <a:rPr dirty="0" sz="1050">
                <a:latin typeface="Segoe UI"/>
                <a:cs typeface="Segoe UI"/>
              </a:rPr>
              <a:t>Замена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изношенных узлов 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механизмов </a:t>
            </a:r>
            <a:r>
              <a:rPr dirty="0" sz="1050">
                <a:latin typeface="Segoe UI"/>
                <a:cs typeface="Segoe UI"/>
              </a:rPr>
              <a:t>Гарантия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на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все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виды</a:t>
            </a:r>
            <a:r>
              <a:rPr dirty="0" sz="1050" spc="-10">
                <a:latin typeface="Segoe UI"/>
                <a:cs typeface="Segoe UI"/>
              </a:rPr>
              <a:t> работ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110">
                <a:latin typeface="Segoe UI Symbol"/>
                <a:cs typeface="Segoe UI Symbol"/>
              </a:rPr>
              <a:t>⚙</a:t>
            </a:r>
            <a:r>
              <a:rPr dirty="0" sz="1200" spc="290">
                <a:latin typeface="Segoe UI Symbol"/>
                <a:cs typeface="Segoe UI Symbol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Модернизация: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"/>
                <a:cs typeface="Segoe UI"/>
              </a:rPr>
              <a:t>Установка</a:t>
            </a:r>
            <a:r>
              <a:rPr dirty="0" sz="1050" spc="-3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систем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ЧПУ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на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станки</a:t>
            </a:r>
            <a:endParaRPr sz="1050">
              <a:latin typeface="Segoe UI"/>
              <a:cs typeface="Segoe UI"/>
            </a:endParaRPr>
          </a:p>
          <a:p>
            <a:pPr marL="393065" marR="2160270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Модернизация </a:t>
            </a:r>
            <a:r>
              <a:rPr dirty="0" sz="1050" spc="-10">
                <a:latin typeface="Segoe UI"/>
                <a:cs typeface="Segoe UI"/>
              </a:rPr>
              <a:t>электрооборудования </a:t>
            </a:r>
            <a:r>
              <a:rPr dirty="0" sz="1050">
                <a:latin typeface="Segoe UI"/>
                <a:cs typeface="Segoe UI"/>
              </a:rPr>
              <a:t>Повышение</a:t>
            </a:r>
            <a:r>
              <a:rPr dirty="0" sz="1050" spc="-6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производительности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Улучшение точностных </a:t>
            </a:r>
            <a:r>
              <a:rPr dirty="0" sz="1050" spc="-10">
                <a:latin typeface="Segoe UI"/>
                <a:cs typeface="Segoe UI"/>
              </a:rPr>
              <a:t>характеристик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250">
                <a:latin typeface="Arial MT"/>
                <a:cs typeface="Arial MT"/>
              </a:rPr>
              <a:t>🏭</a:t>
            </a:r>
            <a:r>
              <a:rPr dirty="0" sz="1150" spc="380">
                <a:latin typeface="Arial MT"/>
                <a:cs typeface="Arial MT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Производство: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Segoe UI"/>
              <a:cs typeface="Segoe UI"/>
            </a:endParaRPr>
          </a:p>
          <a:p>
            <a:pPr marL="393065" marR="1687195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Изготовление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запасных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частей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по</a:t>
            </a:r>
            <a:r>
              <a:rPr dirty="0" sz="1050" spc="-10">
                <a:latin typeface="Segoe UI"/>
                <a:cs typeface="Segoe UI"/>
              </a:rPr>
              <a:t> чертежам </a:t>
            </a:r>
            <a:r>
              <a:rPr dirty="0" sz="1050">
                <a:latin typeface="Segoe UI"/>
                <a:cs typeface="Segoe UI"/>
              </a:rPr>
              <a:t>Производство нестандартного </a:t>
            </a:r>
            <a:r>
              <a:rPr dirty="0" sz="1050" spc="-10">
                <a:latin typeface="Segoe UI"/>
                <a:cs typeface="Segoe UI"/>
              </a:rPr>
              <a:t>оборудования </a:t>
            </a:r>
            <a:r>
              <a:rPr dirty="0" sz="1050">
                <a:latin typeface="Segoe UI"/>
                <a:cs typeface="Segoe UI"/>
              </a:rPr>
              <a:t>Изготовление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шестерен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зубчатых</a:t>
            </a:r>
            <a:r>
              <a:rPr dirty="0" sz="1050" spc="-10">
                <a:latin typeface="Segoe UI"/>
                <a:cs typeface="Segoe UI"/>
              </a:rPr>
              <a:t> передач </a:t>
            </a:r>
            <a:r>
              <a:rPr dirty="0" sz="1050">
                <a:latin typeface="Segoe UI"/>
                <a:cs typeface="Segoe UI"/>
              </a:rPr>
              <a:t>Производство револьверных </a:t>
            </a:r>
            <a:r>
              <a:rPr dirty="0" sz="1050" spc="-10">
                <a:latin typeface="Segoe UI"/>
                <a:cs typeface="Segoe UI"/>
              </a:rPr>
              <a:t>головок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80">
                <a:latin typeface="Arial MT"/>
                <a:cs typeface="Arial MT"/>
              </a:rPr>
              <a:t>📦</a:t>
            </a:r>
            <a:r>
              <a:rPr dirty="0" sz="1200" spc="445">
                <a:latin typeface="Arial MT"/>
                <a:cs typeface="Arial MT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Поставка: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"/>
                <a:cs typeface="Segoe UI"/>
              </a:rPr>
              <a:t>Новое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станочное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оборудование</a:t>
            </a:r>
            <a:endParaRPr sz="1050">
              <a:latin typeface="Segoe UI"/>
              <a:cs typeface="Segoe UI"/>
            </a:endParaRPr>
          </a:p>
          <a:p>
            <a:pPr marL="393065" marR="2094864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Запасные части (30+ моделей </a:t>
            </a:r>
            <a:r>
              <a:rPr dirty="0" sz="1050" spc="-10">
                <a:latin typeface="Segoe UI"/>
                <a:cs typeface="Segoe UI"/>
              </a:rPr>
              <a:t>станков) </a:t>
            </a:r>
            <a:r>
              <a:rPr dirty="0" sz="1050">
                <a:latin typeface="Segoe UI"/>
                <a:cs typeface="Segoe UI"/>
              </a:rPr>
              <a:t>Инструмент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оснастка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Комплексное оснащение </a:t>
            </a:r>
            <a:r>
              <a:rPr dirty="0" sz="1050" spc="-10">
                <a:latin typeface="Segoe UI"/>
                <a:cs typeface="Segoe UI"/>
              </a:rPr>
              <a:t>производств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10: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Портал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запасных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частей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200">
                <a:latin typeface="Segoe UI"/>
                <a:cs typeface="Segoe UI"/>
              </a:rPr>
              <a:t>Онлайн-каталог</a:t>
            </a:r>
            <a:r>
              <a:rPr dirty="0" sz="1200" spc="10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и</a:t>
            </a:r>
            <a:r>
              <a:rPr dirty="0" sz="1200" spc="1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оперативные</a:t>
            </a:r>
            <a:r>
              <a:rPr dirty="0" sz="1200" spc="10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поставки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1150" spc="770">
                <a:latin typeface="Arial MT"/>
                <a:cs typeface="Arial MT"/>
              </a:rPr>
              <a:t>🌐</a:t>
            </a:r>
            <a:r>
              <a:rPr dirty="0" sz="1150" spc="-10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Электронный </a:t>
            </a:r>
            <a:r>
              <a:rPr dirty="0" sz="1050" spc="-10" b="1">
                <a:latin typeface="Segoe UI"/>
                <a:cs typeface="Segoe UI"/>
              </a:rPr>
              <a:t>каталог: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 b="1">
                <a:latin typeface="Segoe UI"/>
                <a:cs typeface="Segoe UI"/>
              </a:rPr>
              <a:t>500+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моделей станочного </a:t>
            </a:r>
            <a:r>
              <a:rPr dirty="0" sz="1050" spc="-10">
                <a:latin typeface="Segoe UI"/>
                <a:cs typeface="Segoe UI"/>
              </a:rPr>
              <a:t>оборудования</a:t>
            </a:r>
            <a:endParaRPr sz="1050">
              <a:latin typeface="Segoe UI"/>
              <a:cs typeface="Segoe UI"/>
            </a:endParaRPr>
          </a:p>
          <a:p>
            <a:pPr marL="393065" marR="5080">
              <a:lnSpc>
                <a:spcPct val="131000"/>
              </a:lnSpc>
            </a:pPr>
            <a:r>
              <a:rPr dirty="0" sz="1050" b="1">
                <a:latin typeface="Segoe UI"/>
                <a:cs typeface="Segoe UI"/>
              </a:rPr>
              <a:t>Более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30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основных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моделей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станков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постоянным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наличием</a:t>
            </a:r>
            <a:r>
              <a:rPr dirty="0" sz="1050" spc="-10">
                <a:latin typeface="Segoe UI"/>
                <a:cs typeface="Segoe UI"/>
              </a:rPr>
              <a:t> запчастей </a:t>
            </a:r>
            <a:r>
              <a:rPr dirty="0" sz="1050">
                <a:latin typeface="Segoe UI"/>
                <a:cs typeface="Segoe UI"/>
              </a:rPr>
              <a:t>Подробные</a:t>
            </a:r>
            <a:r>
              <a:rPr dirty="0" sz="1050" spc="-3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спецификации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чертежи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Онлайн-заказ </a:t>
            </a:r>
            <a:r>
              <a:rPr dirty="0" sz="1050" spc="-20">
                <a:latin typeface="Segoe UI"/>
                <a:cs typeface="Segoe UI"/>
              </a:rPr>
              <a:t>24/7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80">
                <a:latin typeface="Arial MT"/>
                <a:cs typeface="Arial MT"/>
              </a:rPr>
              <a:t>📦</a:t>
            </a:r>
            <a:r>
              <a:rPr dirty="0" sz="1200" spc="445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Виды запасных </a:t>
            </a:r>
            <a:r>
              <a:rPr dirty="0" sz="1050" spc="-10" b="1">
                <a:latin typeface="Segoe UI"/>
                <a:cs typeface="Segoe UI"/>
              </a:rPr>
              <a:t>частей:</a:t>
            </a:r>
            <a:endParaRPr sz="1050">
              <a:latin typeface="Segoe UI"/>
              <a:cs typeface="Segoe UI"/>
            </a:endParaRPr>
          </a:p>
          <a:p>
            <a:pPr marL="393065" marR="3250565">
              <a:lnSpc>
                <a:spcPct val="131000"/>
              </a:lnSpc>
              <a:spcBef>
                <a:spcPts val="1395"/>
              </a:spcBef>
            </a:pPr>
            <a:r>
              <a:rPr dirty="0" sz="1050">
                <a:latin typeface="Segoe UI"/>
                <a:cs typeface="Segoe UI"/>
              </a:rPr>
              <a:t>Шпиндельные </a:t>
            </a:r>
            <a:r>
              <a:rPr dirty="0" sz="1050" spc="-20">
                <a:latin typeface="Segoe UI"/>
                <a:cs typeface="Segoe UI"/>
              </a:rPr>
              <a:t>узлы </a:t>
            </a:r>
            <a:r>
              <a:rPr dirty="0" sz="1050">
                <a:latin typeface="Segoe UI"/>
                <a:cs typeface="Segoe UI"/>
              </a:rPr>
              <a:t>Суппорты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каретки</a:t>
            </a:r>
            <a:endParaRPr sz="1050">
              <a:latin typeface="Segoe UI"/>
              <a:cs typeface="Segoe UI"/>
            </a:endParaRPr>
          </a:p>
          <a:p>
            <a:pPr marL="393065" marR="2677160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Коробки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подач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скоростей </a:t>
            </a:r>
            <a:r>
              <a:rPr dirty="0" sz="1050">
                <a:latin typeface="Segoe UI"/>
                <a:cs typeface="Segoe UI"/>
              </a:rPr>
              <a:t>Электродвигатели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приводы</a:t>
            </a:r>
            <a:endParaRPr sz="1050">
              <a:latin typeface="Segoe UI"/>
              <a:cs typeface="Segoe UI"/>
            </a:endParaRPr>
          </a:p>
          <a:p>
            <a:pPr marL="393065" marR="1781810">
              <a:lnSpc>
                <a:spcPct val="131000"/>
              </a:lnSpc>
            </a:pPr>
            <a:r>
              <a:rPr dirty="0" sz="1050" spc="-10">
                <a:latin typeface="Segoe UI"/>
                <a:cs typeface="Segoe UI"/>
              </a:rPr>
              <a:t>Гидравлические</a:t>
            </a:r>
            <a:r>
              <a:rPr dirty="0" sz="1050" spc="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пневматические</a:t>
            </a:r>
            <a:r>
              <a:rPr dirty="0" sz="1050" spc="2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системы </a:t>
            </a:r>
            <a:r>
              <a:rPr dirty="0" sz="1050">
                <a:latin typeface="Segoe UI"/>
                <a:cs typeface="Segoe UI"/>
              </a:rPr>
              <a:t>Направляющие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станины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Зубчатые</a:t>
            </a:r>
            <a:r>
              <a:rPr dirty="0" sz="1050" spc="-3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колеса</a:t>
            </a:r>
            <a:r>
              <a:rPr dirty="0" sz="1050" spc="-3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 spc="-20">
                <a:latin typeface="Segoe UI"/>
                <a:cs typeface="Segoe UI"/>
              </a:rPr>
              <a:t>валы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7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46099" y="1914521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46099" y="7038971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46099" y="8010521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6476999" y="9524"/>
                </a:moveTo>
                <a:lnTo>
                  <a:pt x="0" y="9524"/>
                </a:lnTo>
                <a:lnTo>
                  <a:pt x="0" y="0"/>
                </a:lnTo>
                <a:lnTo>
                  <a:pt x="6476999" y="0"/>
                </a:lnTo>
                <a:lnTo>
                  <a:pt x="64769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46099" y="8210546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546099" y="9286868"/>
            <a:ext cx="6477000" cy="1052830"/>
            <a:chOff x="546099" y="9286868"/>
            <a:chExt cx="6477000" cy="1052830"/>
          </a:xfrm>
        </p:grpSpPr>
        <p:sp>
          <p:nvSpPr>
            <p:cNvPr id="9" name="object 9" descr=""/>
            <p:cNvSpPr/>
            <p:nvPr/>
          </p:nvSpPr>
          <p:spPr>
            <a:xfrm>
              <a:off x="550862" y="9291630"/>
              <a:ext cx="6467475" cy="1043305"/>
            </a:xfrm>
            <a:custGeom>
              <a:avLst/>
              <a:gdLst/>
              <a:ahLst/>
              <a:cxnLst/>
              <a:rect l="l" t="t" r="r" b="b"/>
              <a:pathLst>
                <a:path w="6467475" h="1043304">
                  <a:moveTo>
                    <a:pt x="6467474" y="1042990"/>
                  </a:moveTo>
                  <a:lnTo>
                    <a:pt x="0" y="1042990"/>
                  </a:lnTo>
                  <a:lnTo>
                    <a:pt x="0" y="2065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4" y="104299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50862" y="9291630"/>
              <a:ext cx="6467475" cy="1043305"/>
            </a:xfrm>
            <a:custGeom>
              <a:avLst/>
              <a:gdLst/>
              <a:ahLst/>
              <a:cxnLst/>
              <a:rect l="l" t="t" r="r" b="b"/>
              <a:pathLst>
                <a:path w="6467475" h="1043304">
                  <a:moveTo>
                    <a:pt x="0" y="1042990"/>
                  </a:moveTo>
                  <a:lnTo>
                    <a:pt x="0" y="23812"/>
                  </a:lnTo>
                  <a:lnTo>
                    <a:pt x="0" y="20650"/>
                  </a:lnTo>
                  <a:lnTo>
                    <a:pt x="604" y="17607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1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67474" y="23812"/>
                  </a:lnTo>
                  <a:lnTo>
                    <a:pt x="6467474" y="1042990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765174" y="10001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65174" y="12096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65174" y="14192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65174" y="16287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65174" y="33242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65174" y="35337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65174" y="37433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65174" y="39528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765174" y="47243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765174" y="49339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765174" y="51434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765174" y="53530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765174" y="61245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765174" y="63341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765174" y="65436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765174" y="67532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533399" y="519695"/>
            <a:ext cx="5624830" cy="63493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4950" algn="l"/>
              </a:tabLst>
            </a:pPr>
            <a:r>
              <a:rPr dirty="0" sz="1200" spc="20">
                <a:latin typeface="Segoe UI Symbol"/>
                <a:cs typeface="Segoe UI Symbol"/>
              </a:rPr>
              <a:t>⚡</a:t>
            </a:r>
            <a:r>
              <a:rPr dirty="0" sz="1200">
                <a:latin typeface="Segoe UI Symbol"/>
                <a:cs typeface="Segoe UI Symbol"/>
              </a:rPr>
              <a:t>	</a:t>
            </a:r>
            <a:r>
              <a:rPr dirty="0" sz="1050" spc="-10" b="1">
                <a:latin typeface="Segoe UI"/>
                <a:cs typeface="Segoe UI"/>
              </a:rPr>
              <a:t>Преимущества: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20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Складская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программа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быстрая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отгрузка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10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Изготовление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под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заказ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любые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сроки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Прямые контракты с </a:t>
            </a:r>
            <a:r>
              <a:rPr dirty="0" sz="1050" spc="-10">
                <a:latin typeface="Segoe UI"/>
                <a:cs typeface="Segoe UI"/>
              </a:rPr>
              <a:t>производителями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 </a:t>
            </a:r>
            <a:r>
              <a:rPr dirty="0" sz="1050">
                <a:latin typeface="Segoe UI"/>
                <a:cs typeface="Segoe UI"/>
              </a:rPr>
              <a:t>Конкурентные </a:t>
            </a:r>
            <a:r>
              <a:rPr dirty="0" sz="1050" spc="-20">
                <a:latin typeface="Segoe UI"/>
                <a:cs typeface="Segoe UI"/>
              </a:rPr>
              <a:t>цены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11: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Стандарты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качества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200">
                <a:latin typeface="Segoe UI"/>
                <a:cs typeface="Segoe UI"/>
              </a:rPr>
              <a:t>Работаем</a:t>
            </a:r>
            <a:r>
              <a:rPr dirty="0" sz="1200" spc="7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по</a:t>
            </a:r>
            <a:r>
              <a:rPr dirty="0" sz="1200" spc="7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высшим</a:t>
            </a:r>
            <a:r>
              <a:rPr dirty="0" sz="1200" spc="7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стандартам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200" spc="300">
                <a:latin typeface="Arial MT"/>
                <a:cs typeface="Arial MT"/>
              </a:rPr>
              <a:t>📜</a:t>
            </a:r>
            <a:r>
              <a:rPr dirty="0" sz="1200" spc="254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Соответствие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требованиям: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15">
                <a:latin typeface="Segoe UI Emoji"/>
                <a:cs typeface="Segoe UI Emoji"/>
              </a:rPr>
              <a:t> </a:t>
            </a:r>
            <a:r>
              <a:rPr dirty="0" sz="1050" b="1">
                <a:latin typeface="Segoe UI"/>
                <a:cs typeface="Segoe UI"/>
              </a:rPr>
              <a:t>ГОСТ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все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работы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по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государственным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стандартам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20">
                <a:latin typeface="Segoe UI Emoji"/>
                <a:cs typeface="Segoe UI Emoji"/>
              </a:rPr>
              <a:t> </a:t>
            </a:r>
            <a:r>
              <a:rPr dirty="0" sz="1050" b="1">
                <a:latin typeface="Segoe UI"/>
                <a:cs typeface="Segoe UI"/>
              </a:rPr>
              <a:t>СТО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стандарты</a:t>
            </a:r>
            <a:r>
              <a:rPr dirty="0" sz="1050" spc="-10">
                <a:latin typeface="Segoe UI"/>
                <a:cs typeface="Segoe UI"/>
              </a:rPr>
              <a:t> организации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 </a:t>
            </a:r>
            <a:r>
              <a:rPr dirty="0" sz="1050" b="1">
                <a:latin typeface="Segoe UI"/>
                <a:cs typeface="Segoe UI"/>
              </a:rPr>
              <a:t>ISO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международные</a:t>
            </a:r>
            <a:r>
              <a:rPr dirty="0" sz="1050" spc="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стандарты</a:t>
            </a:r>
            <a:r>
              <a:rPr dirty="0" sz="1050" spc="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качества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5">
                <a:latin typeface="Segoe UI Emoji"/>
                <a:cs typeface="Segoe UI Emoj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Требования</a:t>
            </a:r>
            <a:r>
              <a:rPr dirty="0" sz="1050" b="1">
                <a:latin typeface="Segoe UI"/>
                <a:cs typeface="Segoe UI"/>
              </a:rPr>
              <a:t> ОПК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 соответствие нормам оборонно-промышленного </a:t>
            </a:r>
            <a:r>
              <a:rPr dirty="0" sz="1050" spc="-10">
                <a:latin typeface="Segoe UI"/>
                <a:cs typeface="Segoe UI"/>
              </a:rPr>
              <a:t>комплекса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300">
                <a:latin typeface="Arial MT"/>
                <a:cs typeface="Arial MT"/>
              </a:rPr>
              <a:t>🔬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Контроль</a:t>
            </a:r>
            <a:r>
              <a:rPr dirty="0" sz="1050" spc="-10" b="1">
                <a:latin typeface="Segoe UI"/>
                <a:cs typeface="Segoe UI"/>
              </a:rPr>
              <a:t> качества:</a:t>
            </a:r>
            <a:endParaRPr sz="1050">
              <a:latin typeface="Segoe UI"/>
              <a:cs typeface="Segoe UI"/>
            </a:endParaRPr>
          </a:p>
          <a:p>
            <a:pPr marL="393065" marR="2057400">
              <a:lnSpc>
                <a:spcPct val="131000"/>
              </a:lnSpc>
              <a:spcBef>
                <a:spcPts val="1395"/>
              </a:spcBef>
            </a:pPr>
            <a:r>
              <a:rPr dirty="0" sz="1050">
                <a:latin typeface="Segoe UI"/>
                <a:cs typeface="Segoe UI"/>
              </a:rPr>
              <a:t>Входной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контроль материалов 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комплектующих </a:t>
            </a:r>
            <a:r>
              <a:rPr dirty="0" sz="1050">
                <a:latin typeface="Segoe UI"/>
                <a:cs typeface="Segoe UI"/>
              </a:rPr>
              <a:t>Операционный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контроль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 процессе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производства </a:t>
            </a:r>
            <a:r>
              <a:rPr dirty="0" sz="1050">
                <a:latin typeface="Segoe UI"/>
                <a:cs typeface="Segoe UI"/>
              </a:rPr>
              <a:t>Финальная приемка готовой </a:t>
            </a:r>
            <a:r>
              <a:rPr dirty="0" sz="1050" spc="-10">
                <a:latin typeface="Segoe UI"/>
                <a:cs typeface="Segoe UI"/>
              </a:rPr>
              <a:t>продукции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Испытания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тестирование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📋</a:t>
            </a:r>
            <a:r>
              <a:rPr dirty="0" sz="1200" spc="85">
                <a:latin typeface="Arial MT"/>
                <a:cs typeface="Arial MT"/>
              </a:rPr>
              <a:t>  </a:t>
            </a:r>
            <a:r>
              <a:rPr dirty="0" sz="1050" spc="-10" b="1">
                <a:latin typeface="Segoe UI"/>
                <a:cs typeface="Segoe UI"/>
              </a:rPr>
              <a:t>Документация:</a:t>
            </a:r>
            <a:endParaRPr sz="1050">
              <a:latin typeface="Segoe UI"/>
              <a:cs typeface="Segoe UI"/>
            </a:endParaRPr>
          </a:p>
          <a:p>
            <a:pPr marL="393065" marR="2392045">
              <a:lnSpc>
                <a:spcPct val="131000"/>
              </a:lnSpc>
              <a:spcBef>
                <a:spcPts val="1320"/>
              </a:spcBef>
            </a:pPr>
            <a:r>
              <a:rPr dirty="0" sz="1050">
                <a:latin typeface="Segoe UI"/>
                <a:cs typeface="Segoe UI"/>
              </a:rPr>
              <a:t>Полный пакет исполнительной </a:t>
            </a:r>
            <a:r>
              <a:rPr dirty="0" sz="1050" spc="-10">
                <a:latin typeface="Segoe UI"/>
                <a:cs typeface="Segoe UI"/>
              </a:rPr>
              <a:t>документации </a:t>
            </a:r>
            <a:r>
              <a:rPr dirty="0" sz="1050">
                <a:latin typeface="Segoe UI"/>
                <a:cs typeface="Segoe UI"/>
              </a:rPr>
              <a:t>Сертификаты</a:t>
            </a:r>
            <a:r>
              <a:rPr dirty="0" sz="1050" spc="-6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соответствия</a:t>
            </a:r>
            <a:endParaRPr sz="1050">
              <a:latin typeface="Segoe UI"/>
              <a:cs typeface="Segoe UI"/>
            </a:endParaRPr>
          </a:p>
          <a:p>
            <a:pPr marL="393065" marR="3514725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Паспорта на </a:t>
            </a:r>
            <a:r>
              <a:rPr dirty="0" sz="1050" spc="-10">
                <a:latin typeface="Segoe UI"/>
                <a:cs typeface="Segoe UI"/>
              </a:rPr>
              <a:t>оборудование </a:t>
            </a:r>
            <a:r>
              <a:rPr dirty="0" sz="1050">
                <a:latin typeface="Segoe UI"/>
                <a:cs typeface="Segoe UI"/>
              </a:rPr>
              <a:t>Гарантийные </a:t>
            </a:r>
            <a:r>
              <a:rPr dirty="0" sz="1050" spc="-10">
                <a:latin typeface="Segoe UI"/>
                <a:cs typeface="Segoe UI"/>
              </a:rPr>
              <a:t>обязательства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533399" y="7094378"/>
            <a:ext cx="5302885" cy="848994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5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11А:</a:t>
            </a:r>
            <a:r>
              <a:rPr dirty="0" sz="1550" spc="5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НАШИ</a:t>
            </a:r>
            <a:r>
              <a:rPr dirty="0" sz="1550" spc="5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ПРЕИМУЩЕСТВА</a:t>
            </a:r>
            <a:r>
              <a:rPr dirty="0" sz="1550" spc="5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-</a:t>
            </a:r>
            <a:r>
              <a:rPr dirty="0" sz="1550" spc="6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КРАТКАЯ</a:t>
            </a:r>
            <a:r>
              <a:rPr dirty="0" sz="1550" spc="55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СВОДКА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2100" spc="135">
                <a:latin typeface="Segoe UI Emoji"/>
                <a:cs typeface="Segoe UI Emoji"/>
              </a:rPr>
              <a:t>🏆</a:t>
            </a:r>
            <a:r>
              <a:rPr dirty="0" sz="2100" spc="-15">
                <a:latin typeface="Segoe UI Emoji"/>
                <a:cs typeface="Segoe UI Emoji"/>
              </a:rPr>
              <a:t> </a:t>
            </a:r>
            <a:r>
              <a:rPr dirty="0" sz="2100">
                <a:latin typeface="Segoe UI"/>
                <a:cs typeface="Segoe UI"/>
              </a:rPr>
              <a:t>ЧТО</a:t>
            </a:r>
            <a:r>
              <a:rPr dirty="0" sz="2100" spc="-15">
                <a:latin typeface="Segoe UI"/>
                <a:cs typeface="Segoe UI"/>
              </a:rPr>
              <a:t> </a:t>
            </a:r>
            <a:r>
              <a:rPr dirty="0" sz="2100">
                <a:latin typeface="Segoe UI"/>
                <a:cs typeface="Segoe UI"/>
              </a:rPr>
              <a:t>НАС</a:t>
            </a:r>
            <a:r>
              <a:rPr dirty="0" sz="2100" spc="-10">
                <a:latin typeface="Segoe UI"/>
                <a:cs typeface="Segoe UI"/>
              </a:rPr>
              <a:t> </a:t>
            </a:r>
            <a:r>
              <a:rPr dirty="0" sz="2100">
                <a:latin typeface="Segoe UI"/>
                <a:cs typeface="Segoe UI"/>
              </a:rPr>
              <a:t>ОТЛИЧАЕТ</a:t>
            </a:r>
            <a:r>
              <a:rPr dirty="0" sz="2100" spc="-15">
                <a:latin typeface="Segoe UI"/>
                <a:cs typeface="Segoe UI"/>
              </a:rPr>
              <a:t> </a:t>
            </a:r>
            <a:r>
              <a:rPr dirty="0" sz="2100">
                <a:latin typeface="Segoe UI"/>
                <a:cs typeface="Segoe UI"/>
              </a:rPr>
              <a:t>ОТ</a:t>
            </a:r>
            <a:r>
              <a:rPr dirty="0" sz="2100" spc="-15">
                <a:latin typeface="Segoe UI"/>
                <a:cs typeface="Segoe UI"/>
              </a:rPr>
              <a:t> </a:t>
            </a:r>
            <a:r>
              <a:rPr dirty="0" sz="2100" spc="-10">
                <a:latin typeface="Segoe UI"/>
                <a:cs typeface="Segoe UI"/>
              </a:rPr>
              <a:t>КОНКУРЕНТОВ</a:t>
            </a:r>
            <a:endParaRPr sz="2100">
              <a:latin typeface="Segoe UI"/>
              <a:cs typeface="Segoe U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33399" y="8556275"/>
            <a:ext cx="1427480" cy="1132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50">
                <a:latin typeface="Segoe UI Emoji"/>
                <a:cs typeface="Segoe UI Emoji"/>
              </a:rPr>
              <a:t>🎯</a:t>
            </a:r>
            <a:endParaRPr sz="12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spc="-20" b="1">
                <a:latin typeface="Segoe UI"/>
                <a:cs typeface="Segoe UI"/>
              </a:rPr>
              <a:t>ОПЫТ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2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┌──────────────┐</a:t>
            </a:r>
            <a:endParaRPr sz="1050">
              <a:latin typeface="Consolas"/>
              <a:cs typeface="Consolas"/>
            </a:endParaRPr>
          </a:p>
        </p:txBody>
      </p:sp>
      <p:graphicFrame>
        <p:nvGraphicFramePr>
          <p:cNvPr id="30" name="object 30" descr=""/>
          <p:cNvGraphicFramePr>
            <a:graphicFrameLocks noGrp="1"/>
          </p:cNvGraphicFramePr>
          <p:nvPr/>
        </p:nvGraphicFramePr>
        <p:xfrm>
          <a:off x="742949" y="9730764"/>
          <a:ext cx="1313180" cy="53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435"/>
                <a:gridCol w="806450"/>
                <a:gridCol w="251459"/>
              </a:tblGrid>
              <a:tr h="156845">
                <a:tc>
                  <a:txBody>
                    <a:bodyPr/>
                    <a:lstStyle/>
                    <a:p>
                      <a:pPr algn="ctr" marR="33655">
                        <a:lnSpc>
                          <a:spcPts val="990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990"/>
                        </a:lnSpc>
                      </a:pPr>
                      <a:r>
                        <a:rPr dirty="0" sz="10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12 </a:t>
                      </a:r>
                      <a:r>
                        <a:rPr dirty="0" sz="1050" spc="-25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ЛЕТ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90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180340">
                <a:tc>
                  <a:txBody>
                    <a:bodyPr/>
                    <a:lstStyle/>
                    <a:p>
                      <a:pPr algn="ctr" marR="33655">
                        <a:lnSpc>
                          <a:spcPts val="1175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5405">
                        <a:lnSpc>
                          <a:spcPts val="1175"/>
                        </a:lnSpc>
                      </a:pPr>
                      <a:r>
                        <a:rPr dirty="0" sz="10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НА </a:t>
                      </a:r>
                      <a:r>
                        <a:rPr dirty="0" sz="1050" spc="-1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РЫНКЕ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01930">
                <a:tc>
                  <a:txBody>
                    <a:bodyPr/>
                    <a:lstStyle/>
                    <a:p>
                      <a:pPr algn="ctr" marR="33655">
                        <a:lnSpc>
                          <a:spcPts val="1175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46099" y="528635"/>
            <a:ext cx="6477000" cy="595630"/>
            <a:chOff x="546099" y="528635"/>
            <a:chExt cx="6477000" cy="595630"/>
          </a:xfrm>
        </p:grpSpPr>
        <p:sp>
          <p:nvSpPr>
            <p:cNvPr id="4" name="object 4" descr=""/>
            <p:cNvSpPr/>
            <p:nvPr/>
          </p:nvSpPr>
          <p:spPr>
            <a:xfrm>
              <a:off x="550862" y="533397"/>
              <a:ext cx="6467475" cy="586105"/>
            </a:xfrm>
            <a:custGeom>
              <a:avLst/>
              <a:gdLst/>
              <a:ahLst/>
              <a:cxnLst/>
              <a:rect l="l" t="t" r="r" b="b"/>
              <a:pathLst>
                <a:path w="6467475" h="586105">
                  <a:moveTo>
                    <a:pt x="6446819" y="585774"/>
                  </a:moveTo>
                  <a:lnTo>
                    <a:pt x="20654" y="585774"/>
                  </a:lnTo>
                  <a:lnTo>
                    <a:pt x="17617" y="585169"/>
                  </a:lnTo>
                  <a:lnTo>
                    <a:pt x="0" y="565125"/>
                  </a:lnTo>
                  <a:lnTo>
                    <a:pt x="0" y="0"/>
                  </a:lnTo>
                  <a:lnTo>
                    <a:pt x="6467474" y="0"/>
                  </a:lnTo>
                  <a:lnTo>
                    <a:pt x="6467473" y="565125"/>
                  </a:lnTo>
                  <a:lnTo>
                    <a:pt x="6446819" y="585774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50862" y="533397"/>
              <a:ext cx="6467475" cy="586105"/>
            </a:xfrm>
            <a:custGeom>
              <a:avLst/>
              <a:gdLst/>
              <a:ahLst/>
              <a:cxnLst/>
              <a:rect l="l" t="t" r="r" b="b"/>
              <a:pathLst>
                <a:path w="6467475" h="586105">
                  <a:moveTo>
                    <a:pt x="6467474" y="0"/>
                  </a:moveTo>
                  <a:lnTo>
                    <a:pt x="6467474" y="561971"/>
                  </a:lnTo>
                  <a:lnTo>
                    <a:pt x="6467473" y="565125"/>
                  </a:lnTo>
                  <a:lnTo>
                    <a:pt x="6443661" y="585784"/>
                  </a:lnTo>
                  <a:lnTo>
                    <a:pt x="23812" y="585784"/>
                  </a:lnTo>
                  <a:lnTo>
                    <a:pt x="0" y="565125"/>
                  </a:lnTo>
                  <a:lnTo>
                    <a:pt x="0" y="561971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67121" y="165100"/>
            <a:ext cx="1525270" cy="721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900">
              <a:latin typeface="Arial MT"/>
              <a:cs typeface="Arial MT"/>
            </a:endParaRPr>
          </a:p>
          <a:p>
            <a:pPr marL="307340">
              <a:lnSpc>
                <a:spcPct val="100000"/>
              </a:lnSpc>
              <a:tabLst>
                <a:tab pos="527050" algn="l"/>
                <a:tab pos="1407160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С 2014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г.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307340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└──────────────┘</a:t>
            </a:r>
            <a:endParaRPr sz="1050">
              <a:latin typeface="Consolas"/>
              <a:cs typeface="Consola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46099" y="2562221"/>
            <a:ext cx="6477000" cy="1543050"/>
            <a:chOff x="546099" y="2562221"/>
            <a:chExt cx="6477000" cy="1543050"/>
          </a:xfrm>
        </p:grpSpPr>
        <p:sp>
          <p:nvSpPr>
            <p:cNvPr id="8" name="object 8" descr=""/>
            <p:cNvSpPr/>
            <p:nvPr/>
          </p:nvSpPr>
          <p:spPr>
            <a:xfrm>
              <a:off x="550862" y="2566984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6446819" y="1533524"/>
                  </a:moveTo>
                  <a:lnTo>
                    <a:pt x="20654" y="1533524"/>
                  </a:lnTo>
                  <a:lnTo>
                    <a:pt x="17617" y="1532920"/>
                  </a:lnTo>
                  <a:lnTo>
                    <a:pt x="0" y="1512866"/>
                  </a:lnTo>
                  <a:lnTo>
                    <a:pt x="0" y="1509712"/>
                  </a:lnTo>
                  <a:lnTo>
                    <a:pt x="0" y="2064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40"/>
                  </a:lnTo>
                  <a:lnTo>
                    <a:pt x="6467473" y="1512866"/>
                  </a:lnTo>
                  <a:lnTo>
                    <a:pt x="6449856" y="1532920"/>
                  </a:lnTo>
                  <a:lnTo>
                    <a:pt x="6446819" y="1533524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50862" y="2566984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0" y="1509712"/>
                  </a:moveTo>
                  <a:lnTo>
                    <a:pt x="0" y="23812"/>
                  </a:lnTo>
                  <a:lnTo>
                    <a:pt x="0" y="20640"/>
                  </a:lnTo>
                  <a:lnTo>
                    <a:pt x="604" y="17599"/>
                  </a:lnTo>
                  <a:lnTo>
                    <a:pt x="1812" y="14687"/>
                  </a:lnTo>
                  <a:lnTo>
                    <a:pt x="3021" y="11775"/>
                  </a:lnTo>
                  <a:lnTo>
                    <a:pt x="4741" y="9199"/>
                  </a:lnTo>
                  <a:lnTo>
                    <a:pt x="6974" y="6966"/>
                  </a:lnTo>
                  <a:lnTo>
                    <a:pt x="9207" y="4725"/>
                  </a:lnTo>
                  <a:lnTo>
                    <a:pt x="11782" y="3004"/>
                  </a:lnTo>
                  <a:lnTo>
                    <a:pt x="14699" y="1804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04"/>
                  </a:lnTo>
                  <a:lnTo>
                    <a:pt x="6455691" y="3004"/>
                  </a:lnTo>
                  <a:lnTo>
                    <a:pt x="6458266" y="4725"/>
                  </a:lnTo>
                  <a:lnTo>
                    <a:pt x="6460499" y="6966"/>
                  </a:lnTo>
                  <a:lnTo>
                    <a:pt x="6462732" y="9199"/>
                  </a:lnTo>
                  <a:lnTo>
                    <a:pt x="6467474" y="23812"/>
                  </a:lnTo>
                  <a:lnTo>
                    <a:pt x="6467474" y="1509712"/>
                  </a:lnTo>
                  <a:lnTo>
                    <a:pt x="6446819" y="1533524"/>
                  </a:lnTo>
                  <a:lnTo>
                    <a:pt x="6443662" y="1533524"/>
                  </a:lnTo>
                  <a:lnTo>
                    <a:pt x="23812" y="1533524"/>
                  </a:lnTo>
                  <a:lnTo>
                    <a:pt x="20654" y="1533524"/>
                  </a:lnTo>
                  <a:lnTo>
                    <a:pt x="17617" y="1532920"/>
                  </a:lnTo>
                  <a:lnTo>
                    <a:pt x="0" y="1512866"/>
                  </a:lnTo>
                  <a:lnTo>
                    <a:pt x="0" y="150971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546099" y="5543546"/>
            <a:ext cx="6477000" cy="1543050"/>
            <a:chOff x="546099" y="5543546"/>
            <a:chExt cx="6477000" cy="1543050"/>
          </a:xfrm>
        </p:grpSpPr>
        <p:sp>
          <p:nvSpPr>
            <p:cNvPr id="11" name="object 11" descr=""/>
            <p:cNvSpPr/>
            <p:nvPr/>
          </p:nvSpPr>
          <p:spPr>
            <a:xfrm>
              <a:off x="550862" y="5548308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6446819" y="1533515"/>
                  </a:moveTo>
                  <a:lnTo>
                    <a:pt x="20654" y="1533515"/>
                  </a:lnTo>
                  <a:lnTo>
                    <a:pt x="17617" y="1532910"/>
                  </a:lnTo>
                  <a:lnTo>
                    <a:pt x="0" y="1512866"/>
                  </a:lnTo>
                  <a:lnTo>
                    <a:pt x="0" y="1509712"/>
                  </a:lnTo>
                  <a:lnTo>
                    <a:pt x="0" y="2065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0"/>
                  </a:lnTo>
                  <a:lnTo>
                    <a:pt x="6467473" y="1512866"/>
                  </a:lnTo>
                  <a:lnTo>
                    <a:pt x="6449856" y="1532910"/>
                  </a:lnTo>
                  <a:lnTo>
                    <a:pt x="6446819" y="1533515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50862" y="5548308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0" y="1509712"/>
                  </a:moveTo>
                  <a:lnTo>
                    <a:pt x="0" y="23812"/>
                  </a:lnTo>
                  <a:lnTo>
                    <a:pt x="0" y="20650"/>
                  </a:lnTo>
                  <a:lnTo>
                    <a:pt x="604" y="17607"/>
                  </a:lnTo>
                  <a:lnTo>
                    <a:pt x="1812" y="14697"/>
                  </a:lnTo>
                  <a:lnTo>
                    <a:pt x="3021" y="11775"/>
                  </a:lnTo>
                  <a:lnTo>
                    <a:pt x="4741" y="9199"/>
                  </a:lnTo>
                  <a:lnTo>
                    <a:pt x="6974" y="6976"/>
                  </a:lnTo>
                  <a:lnTo>
                    <a:pt x="9207" y="4734"/>
                  </a:lnTo>
                  <a:lnTo>
                    <a:pt x="11782" y="3013"/>
                  </a:lnTo>
                  <a:lnTo>
                    <a:pt x="14699" y="1804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04"/>
                  </a:lnTo>
                  <a:lnTo>
                    <a:pt x="6455691" y="3013"/>
                  </a:lnTo>
                  <a:lnTo>
                    <a:pt x="6458266" y="4734"/>
                  </a:lnTo>
                  <a:lnTo>
                    <a:pt x="6460499" y="6976"/>
                  </a:lnTo>
                  <a:lnTo>
                    <a:pt x="6462732" y="9199"/>
                  </a:lnTo>
                  <a:lnTo>
                    <a:pt x="6464453" y="11775"/>
                  </a:lnTo>
                  <a:lnTo>
                    <a:pt x="6465661" y="14697"/>
                  </a:lnTo>
                  <a:lnTo>
                    <a:pt x="6466869" y="17607"/>
                  </a:lnTo>
                  <a:lnTo>
                    <a:pt x="6467473" y="20650"/>
                  </a:lnTo>
                  <a:lnTo>
                    <a:pt x="6467474" y="23812"/>
                  </a:lnTo>
                  <a:lnTo>
                    <a:pt x="6467474" y="1509712"/>
                  </a:lnTo>
                  <a:lnTo>
                    <a:pt x="6452774" y="1531701"/>
                  </a:lnTo>
                  <a:lnTo>
                    <a:pt x="6449856" y="1532910"/>
                  </a:lnTo>
                  <a:lnTo>
                    <a:pt x="6446819" y="1533515"/>
                  </a:lnTo>
                  <a:lnTo>
                    <a:pt x="6443662" y="1533524"/>
                  </a:lnTo>
                  <a:lnTo>
                    <a:pt x="23812" y="1533524"/>
                  </a:lnTo>
                  <a:lnTo>
                    <a:pt x="20654" y="1533515"/>
                  </a:lnTo>
                  <a:lnTo>
                    <a:pt x="17617" y="1532910"/>
                  </a:lnTo>
                  <a:lnTo>
                    <a:pt x="14699" y="1531701"/>
                  </a:lnTo>
                  <a:lnTo>
                    <a:pt x="11782" y="1530501"/>
                  </a:lnTo>
                  <a:lnTo>
                    <a:pt x="0" y="1512866"/>
                  </a:lnTo>
                  <a:lnTo>
                    <a:pt x="0" y="150971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546099" y="8524871"/>
            <a:ext cx="6477000" cy="1543050"/>
            <a:chOff x="546099" y="8524871"/>
            <a:chExt cx="6477000" cy="1543050"/>
          </a:xfrm>
        </p:grpSpPr>
        <p:sp>
          <p:nvSpPr>
            <p:cNvPr id="14" name="object 14" descr=""/>
            <p:cNvSpPr/>
            <p:nvPr/>
          </p:nvSpPr>
          <p:spPr>
            <a:xfrm>
              <a:off x="550862" y="8529633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6446819" y="1533524"/>
                  </a:moveTo>
                  <a:lnTo>
                    <a:pt x="20654" y="1533524"/>
                  </a:lnTo>
                  <a:lnTo>
                    <a:pt x="17617" y="1532920"/>
                  </a:lnTo>
                  <a:lnTo>
                    <a:pt x="0" y="1512866"/>
                  </a:lnTo>
                  <a:lnTo>
                    <a:pt x="0" y="1509712"/>
                  </a:lnTo>
                  <a:lnTo>
                    <a:pt x="0" y="2065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0"/>
                  </a:lnTo>
                  <a:lnTo>
                    <a:pt x="6467473" y="1512866"/>
                  </a:lnTo>
                  <a:lnTo>
                    <a:pt x="6449856" y="1532920"/>
                  </a:lnTo>
                  <a:lnTo>
                    <a:pt x="6446819" y="1533524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50862" y="8529633"/>
              <a:ext cx="6467475" cy="1533525"/>
            </a:xfrm>
            <a:custGeom>
              <a:avLst/>
              <a:gdLst/>
              <a:ahLst/>
              <a:cxnLst/>
              <a:rect l="l" t="t" r="r" b="b"/>
              <a:pathLst>
                <a:path w="6467475" h="1533525">
                  <a:moveTo>
                    <a:pt x="0" y="1509712"/>
                  </a:moveTo>
                  <a:lnTo>
                    <a:pt x="0" y="23812"/>
                  </a:lnTo>
                  <a:lnTo>
                    <a:pt x="0" y="20650"/>
                  </a:lnTo>
                  <a:lnTo>
                    <a:pt x="604" y="17607"/>
                  </a:lnTo>
                  <a:lnTo>
                    <a:pt x="1812" y="14687"/>
                  </a:lnTo>
                  <a:lnTo>
                    <a:pt x="3021" y="11775"/>
                  </a:lnTo>
                  <a:lnTo>
                    <a:pt x="4741" y="9199"/>
                  </a:lnTo>
                  <a:lnTo>
                    <a:pt x="6974" y="6976"/>
                  </a:lnTo>
                  <a:lnTo>
                    <a:pt x="9207" y="4743"/>
                  </a:lnTo>
                  <a:lnTo>
                    <a:pt x="11782" y="3023"/>
                  </a:lnTo>
                  <a:lnTo>
                    <a:pt x="14699" y="1804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04"/>
                  </a:lnTo>
                  <a:lnTo>
                    <a:pt x="6455691" y="3023"/>
                  </a:lnTo>
                  <a:lnTo>
                    <a:pt x="6458266" y="4743"/>
                  </a:lnTo>
                  <a:lnTo>
                    <a:pt x="6460499" y="6976"/>
                  </a:lnTo>
                  <a:lnTo>
                    <a:pt x="6462732" y="9199"/>
                  </a:lnTo>
                  <a:lnTo>
                    <a:pt x="6467474" y="23812"/>
                  </a:lnTo>
                  <a:lnTo>
                    <a:pt x="6467474" y="1509712"/>
                  </a:lnTo>
                  <a:lnTo>
                    <a:pt x="6452774" y="1531701"/>
                  </a:lnTo>
                  <a:lnTo>
                    <a:pt x="6449856" y="1532920"/>
                  </a:lnTo>
                  <a:lnTo>
                    <a:pt x="6446819" y="1533524"/>
                  </a:lnTo>
                  <a:lnTo>
                    <a:pt x="6443662" y="1533524"/>
                  </a:lnTo>
                  <a:lnTo>
                    <a:pt x="23812" y="1533524"/>
                  </a:lnTo>
                  <a:lnTo>
                    <a:pt x="20654" y="1533524"/>
                  </a:lnTo>
                  <a:lnTo>
                    <a:pt x="17617" y="1532920"/>
                  </a:lnTo>
                  <a:lnTo>
                    <a:pt x="14699" y="1531701"/>
                  </a:lnTo>
                  <a:lnTo>
                    <a:pt x="11782" y="1530501"/>
                  </a:lnTo>
                  <a:lnTo>
                    <a:pt x="0" y="1512866"/>
                  </a:lnTo>
                  <a:lnTo>
                    <a:pt x="0" y="150971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33399" y="1214119"/>
            <a:ext cx="1427480" cy="473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77215">
              <a:lnSpc>
                <a:spcPct val="131000"/>
              </a:lnSpc>
              <a:spcBef>
                <a:spcPts val="100"/>
              </a:spcBef>
            </a:pPr>
            <a:r>
              <a:rPr dirty="0" sz="1050" spc="-10">
                <a:latin typeface="Segoe UI"/>
                <a:cs typeface="Segoe UI"/>
              </a:rPr>
              <a:t>Проверенная репутация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Segoe UI Emoji"/>
                <a:cs typeface="Segoe UI Emoji"/>
              </a:rPr>
              <a:t>🏭</a:t>
            </a:r>
            <a:endParaRPr sz="12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200" spc="-10" b="1">
                <a:latin typeface="Segoe UI"/>
                <a:cs typeface="Segoe UI"/>
              </a:rPr>
              <a:t>МАСШТАБ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2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┌──────────────┐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  <a:tabLst>
                <a:tab pos="1340485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4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ПЛОЩАДКИ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  <a:tabLst>
                <a:tab pos="134048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  <a:tabLst>
                <a:tab pos="1340485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15 000+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м²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  <a:tabLst>
                <a:tab pos="134048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└──────────────┘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050">
              <a:latin typeface="Consolas"/>
              <a:cs typeface="Consolas"/>
            </a:endParaRPr>
          </a:p>
          <a:p>
            <a:pPr marL="12700" marR="421640">
              <a:lnSpc>
                <a:spcPct val="131000"/>
              </a:lnSpc>
            </a:pPr>
            <a:r>
              <a:rPr dirty="0" sz="1050" spc="-10">
                <a:latin typeface="Segoe UI"/>
                <a:cs typeface="Segoe UI"/>
              </a:rPr>
              <a:t>Географическая доступность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Segoe UI Emoji"/>
                <a:cs typeface="Segoe UI Emoji"/>
              </a:rPr>
              <a:t>⚙</a:t>
            </a:r>
            <a:endParaRPr sz="12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spc="-10" b="1">
                <a:latin typeface="Segoe UI"/>
                <a:cs typeface="Segoe UI"/>
              </a:rPr>
              <a:t>МОЩНОСТЬ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2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  <a:spcBef>
                <a:spcPts val="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┌──────────────┐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742949" y="5987438"/>
          <a:ext cx="1313180" cy="674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605"/>
                <a:gridCol w="916305"/>
                <a:gridCol w="178434"/>
              </a:tblGrid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990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990"/>
                        </a:lnSpc>
                      </a:pPr>
                      <a:r>
                        <a:rPr dirty="0" sz="1050" spc="-2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КРАН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ts val="990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18034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1175"/>
                        </a:lnSpc>
                      </a:pPr>
                      <a:r>
                        <a:rPr dirty="0" sz="10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160 </a:t>
                      </a:r>
                      <a:r>
                        <a:rPr dirty="0" sz="1050" spc="-1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ТОНН!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ts val="1175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18034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ts val="1175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135"/>
                        </a:lnSpc>
                      </a:pPr>
                      <a:r>
                        <a:rPr dirty="0" sz="10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до 150 </a:t>
                      </a:r>
                      <a:r>
                        <a:rPr dirty="0" sz="1050" spc="-2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тонн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ts val="1135"/>
                        </a:lnSpc>
                      </a:pPr>
                      <a:r>
                        <a:rPr dirty="0" sz="1050" spc="-50">
                          <a:solidFill>
                            <a:srgbClr val="4D4D4B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8" name="object 18" descr=""/>
          <p:cNvSpPr txBox="1"/>
          <p:nvPr/>
        </p:nvSpPr>
        <p:spPr>
          <a:xfrm>
            <a:off x="533399" y="6664325"/>
            <a:ext cx="1427480" cy="3166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└──────────────┘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050">
              <a:latin typeface="Consolas"/>
              <a:cs typeface="Consolas"/>
            </a:endParaRPr>
          </a:p>
          <a:p>
            <a:pPr marL="12700" marR="577850">
              <a:lnSpc>
                <a:spcPct val="131000"/>
              </a:lnSpc>
            </a:pPr>
            <a:r>
              <a:rPr dirty="0" sz="1050" spc="-10">
                <a:latin typeface="Segoe UI"/>
                <a:cs typeface="Segoe UI"/>
              </a:rPr>
              <a:t>Уникальные возможности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Segoe UI Emoji"/>
                <a:cs typeface="Segoe UI Emoji"/>
              </a:rPr>
              <a:t>👥</a:t>
            </a:r>
            <a:endParaRPr sz="12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spc="-10" b="1">
                <a:latin typeface="Segoe UI"/>
                <a:cs typeface="Segoe UI"/>
              </a:rPr>
              <a:t>КОМАНДА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2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┌──────────────┐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  <a:tabLst>
                <a:tab pos="680720" algn="l"/>
                <a:tab pos="134048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60+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СПЕЦИАЛИСТОВ 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  <a:tabLst>
                <a:tab pos="134048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  <a:tabLst>
                <a:tab pos="461009" algn="l"/>
                <a:tab pos="134048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Профи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ОПК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└──────────────┘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46099" y="1104896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546099" y="1666871"/>
            <a:ext cx="6477000" cy="2085975"/>
            <a:chOff x="546099" y="1666871"/>
            <a:chExt cx="6477000" cy="2085975"/>
          </a:xfrm>
        </p:grpSpPr>
        <p:sp>
          <p:nvSpPr>
            <p:cNvPr id="6" name="object 6" descr=""/>
            <p:cNvSpPr/>
            <p:nvPr/>
          </p:nvSpPr>
          <p:spPr>
            <a:xfrm>
              <a:off x="550862" y="1671633"/>
              <a:ext cx="6467475" cy="2076450"/>
            </a:xfrm>
            <a:custGeom>
              <a:avLst/>
              <a:gdLst/>
              <a:ahLst/>
              <a:cxnLst/>
              <a:rect l="l" t="t" r="r" b="b"/>
              <a:pathLst>
                <a:path w="6467475" h="2076450">
                  <a:moveTo>
                    <a:pt x="6446819" y="2076440"/>
                  </a:moveTo>
                  <a:lnTo>
                    <a:pt x="20654" y="2076440"/>
                  </a:lnTo>
                  <a:lnTo>
                    <a:pt x="17617" y="2075835"/>
                  </a:lnTo>
                  <a:lnTo>
                    <a:pt x="0" y="2055791"/>
                  </a:lnTo>
                  <a:lnTo>
                    <a:pt x="0" y="2052637"/>
                  </a:lnTo>
                  <a:lnTo>
                    <a:pt x="0" y="2065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0"/>
                  </a:lnTo>
                  <a:lnTo>
                    <a:pt x="6467473" y="2055791"/>
                  </a:lnTo>
                  <a:lnTo>
                    <a:pt x="6449856" y="2075835"/>
                  </a:lnTo>
                  <a:lnTo>
                    <a:pt x="6446819" y="207644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50862" y="1671633"/>
              <a:ext cx="6467475" cy="2076450"/>
            </a:xfrm>
            <a:custGeom>
              <a:avLst/>
              <a:gdLst/>
              <a:ahLst/>
              <a:cxnLst/>
              <a:rect l="l" t="t" r="r" b="b"/>
              <a:pathLst>
                <a:path w="6467475" h="2076450">
                  <a:moveTo>
                    <a:pt x="0" y="2052637"/>
                  </a:moveTo>
                  <a:lnTo>
                    <a:pt x="0" y="23812"/>
                  </a:lnTo>
                  <a:lnTo>
                    <a:pt x="0" y="20650"/>
                  </a:lnTo>
                  <a:lnTo>
                    <a:pt x="604" y="17607"/>
                  </a:lnTo>
                  <a:lnTo>
                    <a:pt x="1812" y="14697"/>
                  </a:lnTo>
                  <a:lnTo>
                    <a:pt x="3021" y="11775"/>
                  </a:lnTo>
                  <a:lnTo>
                    <a:pt x="4741" y="9199"/>
                  </a:lnTo>
                  <a:lnTo>
                    <a:pt x="6974" y="6976"/>
                  </a:lnTo>
                  <a:lnTo>
                    <a:pt x="9207" y="4734"/>
                  </a:lnTo>
                  <a:lnTo>
                    <a:pt x="11782" y="3004"/>
                  </a:lnTo>
                  <a:lnTo>
                    <a:pt x="14699" y="1804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04"/>
                  </a:lnTo>
                  <a:lnTo>
                    <a:pt x="6455691" y="3004"/>
                  </a:lnTo>
                  <a:lnTo>
                    <a:pt x="6458266" y="4734"/>
                  </a:lnTo>
                  <a:lnTo>
                    <a:pt x="6460499" y="6976"/>
                  </a:lnTo>
                  <a:lnTo>
                    <a:pt x="6462732" y="9199"/>
                  </a:lnTo>
                  <a:lnTo>
                    <a:pt x="6464453" y="11775"/>
                  </a:lnTo>
                  <a:lnTo>
                    <a:pt x="6465661" y="14697"/>
                  </a:lnTo>
                  <a:lnTo>
                    <a:pt x="6466869" y="17607"/>
                  </a:lnTo>
                  <a:lnTo>
                    <a:pt x="6467473" y="20650"/>
                  </a:lnTo>
                  <a:lnTo>
                    <a:pt x="6467474" y="23812"/>
                  </a:lnTo>
                  <a:lnTo>
                    <a:pt x="6467474" y="2052637"/>
                  </a:lnTo>
                  <a:lnTo>
                    <a:pt x="6443662" y="2076449"/>
                  </a:lnTo>
                  <a:lnTo>
                    <a:pt x="23812" y="2076449"/>
                  </a:lnTo>
                  <a:lnTo>
                    <a:pt x="0" y="2055791"/>
                  </a:lnTo>
                  <a:lnTo>
                    <a:pt x="0" y="2052637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085974"/>
              <a:ext cx="34925" cy="1587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5851" y="2085974"/>
              <a:ext cx="34925" cy="15875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266949"/>
              <a:ext cx="34925" cy="158750"/>
            </a:xfrm>
            <a:prstGeom prst="rect">
              <a:avLst/>
            </a:prstGeom>
          </p:spPr>
        </p:pic>
      </p:grpSp>
      <p:sp>
        <p:nvSpPr>
          <p:cNvPr id="11" name="object 11" descr=""/>
          <p:cNvSpPr/>
          <p:nvPr/>
        </p:nvSpPr>
        <p:spPr>
          <a:xfrm>
            <a:off x="546099" y="3905246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46099" y="3990971"/>
            <a:ext cx="571500" cy="95250"/>
          </a:xfrm>
          <a:custGeom>
            <a:avLst/>
            <a:gdLst/>
            <a:ahLst/>
            <a:cxnLst/>
            <a:rect l="l" t="t" r="r" b="b"/>
            <a:pathLst>
              <a:path w="571500" h="95250">
                <a:moveTo>
                  <a:pt x="571499" y="95249"/>
                </a:moveTo>
                <a:lnTo>
                  <a:pt x="0" y="95249"/>
                </a:lnTo>
                <a:lnTo>
                  <a:pt x="0" y="0"/>
                </a:lnTo>
                <a:lnTo>
                  <a:pt x="571499" y="0"/>
                </a:lnTo>
                <a:lnTo>
                  <a:pt x="571499" y="95249"/>
                </a:lnTo>
                <a:close/>
              </a:path>
            </a:pathLst>
          </a:custGeom>
          <a:solidFill>
            <a:srgbClr val="E7F5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46099" y="8315320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546099" y="8858243"/>
            <a:ext cx="6477000" cy="1481455"/>
            <a:chOff x="546099" y="8858243"/>
            <a:chExt cx="6477000" cy="1481455"/>
          </a:xfrm>
        </p:grpSpPr>
        <p:sp>
          <p:nvSpPr>
            <p:cNvPr id="15" name="object 15" descr=""/>
            <p:cNvSpPr/>
            <p:nvPr/>
          </p:nvSpPr>
          <p:spPr>
            <a:xfrm>
              <a:off x="550862" y="8863006"/>
              <a:ext cx="6467475" cy="1471930"/>
            </a:xfrm>
            <a:custGeom>
              <a:avLst/>
              <a:gdLst/>
              <a:ahLst/>
              <a:cxnLst/>
              <a:rect l="l" t="t" r="r" b="b"/>
              <a:pathLst>
                <a:path w="6467475" h="1471929">
                  <a:moveTo>
                    <a:pt x="6467474" y="1471616"/>
                  </a:moveTo>
                  <a:lnTo>
                    <a:pt x="0" y="1471616"/>
                  </a:lnTo>
                  <a:lnTo>
                    <a:pt x="0" y="2065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4" y="1471616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50862" y="8863006"/>
              <a:ext cx="6467475" cy="1471930"/>
            </a:xfrm>
            <a:custGeom>
              <a:avLst/>
              <a:gdLst/>
              <a:ahLst/>
              <a:cxnLst/>
              <a:rect l="l" t="t" r="r" b="b"/>
              <a:pathLst>
                <a:path w="6467475" h="1471929">
                  <a:moveTo>
                    <a:pt x="0" y="1471616"/>
                  </a:moveTo>
                  <a:lnTo>
                    <a:pt x="0" y="23812"/>
                  </a:lnTo>
                  <a:lnTo>
                    <a:pt x="0" y="20650"/>
                  </a:lnTo>
                  <a:lnTo>
                    <a:pt x="604" y="17607"/>
                  </a:lnTo>
                  <a:lnTo>
                    <a:pt x="1812" y="14687"/>
                  </a:lnTo>
                  <a:lnTo>
                    <a:pt x="3021" y="11775"/>
                  </a:lnTo>
                  <a:lnTo>
                    <a:pt x="4741" y="9199"/>
                  </a:lnTo>
                  <a:lnTo>
                    <a:pt x="6974" y="6966"/>
                  </a:lnTo>
                  <a:lnTo>
                    <a:pt x="9207" y="4725"/>
                  </a:lnTo>
                  <a:lnTo>
                    <a:pt x="11782" y="3004"/>
                  </a:lnTo>
                  <a:lnTo>
                    <a:pt x="14699" y="1804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1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3" y="1804"/>
                  </a:lnTo>
                  <a:lnTo>
                    <a:pt x="6455691" y="3004"/>
                  </a:lnTo>
                  <a:lnTo>
                    <a:pt x="6458266" y="4725"/>
                  </a:lnTo>
                  <a:lnTo>
                    <a:pt x="6460499" y="6966"/>
                  </a:lnTo>
                  <a:lnTo>
                    <a:pt x="6462732" y="9199"/>
                  </a:lnTo>
                  <a:lnTo>
                    <a:pt x="6467474" y="23812"/>
                  </a:lnTo>
                  <a:lnTo>
                    <a:pt x="6467474" y="1471616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277349"/>
              <a:ext cx="34925" cy="15875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2534" y="9277349"/>
              <a:ext cx="34925" cy="1587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458324"/>
              <a:ext cx="34925" cy="15875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5901" y="9458324"/>
              <a:ext cx="34925" cy="15875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639299"/>
              <a:ext cx="34925" cy="15875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2585" y="9639299"/>
              <a:ext cx="34925" cy="15875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820274"/>
              <a:ext cx="34925" cy="15875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2534" y="9820274"/>
              <a:ext cx="34925" cy="15875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10001249"/>
              <a:ext cx="34925" cy="158750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533399" y="490219"/>
            <a:ext cx="906144" cy="44450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050" spc="-10">
                <a:latin typeface="Segoe UI"/>
                <a:cs typeface="Segoe UI"/>
              </a:rPr>
              <a:t>Высокая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 spc="-10">
                <a:latin typeface="Segoe UI"/>
                <a:cs typeface="Segoe UI"/>
              </a:rPr>
              <a:t>квалификация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33399" y="1263650"/>
            <a:ext cx="3751579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Segoe UI Emoji"/>
                <a:cs typeface="Segoe UI Emoji"/>
              </a:rPr>
              <a:t>💼</a:t>
            </a:r>
            <a:r>
              <a:rPr dirty="0" sz="1550" spc="65">
                <a:latin typeface="Segoe UI Emoji"/>
                <a:cs typeface="Segoe UI Emoji"/>
              </a:rPr>
              <a:t> </a:t>
            </a:r>
            <a:r>
              <a:rPr dirty="0" sz="1550" b="1">
                <a:latin typeface="Segoe UI"/>
                <a:cs typeface="Segoe UI"/>
              </a:rPr>
              <a:t>ПОЛНЫЙ</a:t>
            </a:r>
            <a:r>
              <a:rPr dirty="0" sz="1550" spc="65" b="1">
                <a:latin typeface="Segoe UI"/>
                <a:cs typeface="Segoe UI"/>
              </a:rPr>
              <a:t> </a:t>
            </a:r>
            <a:r>
              <a:rPr dirty="0" sz="1550" b="1">
                <a:latin typeface="Segoe UI"/>
                <a:cs typeface="Segoe UI"/>
              </a:rPr>
              <a:t>ЦИКЛ</a:t>
            </a:r>
            <a:r>
              <a:rPr dirty="0" sz="1550" spc="70" b="1">
                <a:latin typeface="Segoe UI"/>
                <a:cs typeface="Segoe UI"/>
              </a:rPr>
              <a:t> </a:t>
            </a:r>
            <a:r>
              <a:rPr dirty="0" sz="1550" spc="-10" b="1">
                <a:latin typeface="Segoe UI"/>
                <a:cs typeface="Segoe UI"/>
              </a:rPr>
              <a:t>ОБСЛУЖИВАНИЯ</a:t>
            </a:r>
            <a:endParaRPr sz="1550">
              <a:latin typeface="Segoe UI"/>
              <a:cs typeface="Segoe U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61999" y="1882775"/>
            <a:ext cx="5450840" cy="547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╔════════════════════════════════════════════════════════════════════════╗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232410">
              <a:lnSpc>
                <a:spcPct val="100000"/>
              </a:lnSpc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РЕМОНТ ═══► МОДЕРНИЗАЦИЯ ═══► ПРОИЗВОДСТВО ═══►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ПОСТГАРАНТИЯ</a:t>
            </a:r>
            <a:endParaRPr sz="1050">
              <a:latin typeface="Consolas"/>
              <a:cs typeface="Consolas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93749" y="2266950"/>
            <a:ext cx="5387340" cy="882650"/>
            <a:chOff x="793749" y="2266950"/>
            <a:chExt cx="5387340" cy="882650"/>
          </a:xfrm>
        </p:grpSpPr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9218" y="2266950"/>
              <a:ext cx="34925" cy="15875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447924"/>
              <a:ext cx="34925" cy="15875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5851" y="2447924"/>
              <a:ext cx="34925" cy="15875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628899"/>
              <a:ext cx="34925" cy="15875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5599" y="2628899"/>
              <a:ext cx="34925" cy="15875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809875"/>
              <a:ext cx="34925" cy="15875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8915" y="2809875"/>
              <a:ext cx="34925" cy="15875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990849"/>
              <a:ext cx="34925" cy="158750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981949" y="2585720"/>
            <a:ext cx="1225550" cy="5683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265"/>
              </a:spcBef>
              <a:buFont typeface="Segoe UI Symbol"/>
              <a:buChar char="✓"/>
              <a:tabLst>
                <a:tab pos="185420" algn="l"/>
              </a:tabLst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Восстановление</a:t>
            </a:r>
            <a:endParaRPr sz="1050">
              <a:latin typeface="Consolas"/>
              <a:cs typeface="Consolas"/>
            </a:endParaRPr>
          </a:p>
          <a:p>
            <a:pPr marL="185420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185420" algn="l"/>
              </a:tabLst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Капремонт</a:t>
            </a:r>
            <a:endParaRPr sz="1050">
              <a:latin typeface="Consolas"/>
              <a:cs typeface="Consolas"/>
            </a:endParaRPr>
          </a:p>
          <a:p>
            <a:pPr marL="185420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185420" algn="l"/>
              </a:tabLst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Диагностика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621477" y="2585720"/>
            <a:ext cx="3378200" cy="5683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265"/>
              </a:spcBef>
              <a:buFont typeface="Segoe UI Symbol"/>
              <a:buChar char="✓"/>
              <a:tabLst>
                <a:tab pos="185420" algn="l"/>
                <a:tab pos="157861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Установка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ЧПУ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>
                <a:solidFill>
                  <a:srgbClr val="4D4D4B"/>
                </a:solidFill>
                <a:latin typeface="Segoe UI Symbol"/>
                <a:cs typeface="Segoe UI Symbol"/>
              </a:rPr>
              <a:t>✓</a:t>
            </a:r>
            <a:r>
              <a:rPr dirty="0" sz="1050" spc="275">
                <a:solidFill>
                  <a:srgbClr val="4D4D4B"/>
                </a:solidFill>
                <a:latin typeface="Segoe UI Symbol"/>
                <a:cs typeface="Segoe UI Symbol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Собственное</a:t>
            </a:r>
            <a:endParaRPr sz="1050">
              <a:latin typeface="Consolas"/>
              <a:cs typeface="Consolas"/>
            </a:endParaRPr>
          </a:p>
          <a:p>
            <a:pPr marL="185420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185420" algn="l"/>
                <a:tab pos="1651635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Повышение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точности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>
                <a:solidFill>
                  <a:srgbClr val="4D4D4B"/>
                </a:solidFill>
                <a:latin typeface="Segoe UI Symbol"/>
                <a:cs typeface="Segoe UI Symbol"/>
              </a:rPr>
              <a:t>✓</a:t>
            </a:r>
            <a:r>
              <a:rPr dirty="0" sz="1050" spc="275">
                <a:solidFill>
                  <a:srgbClr val="4D4D4B"/>
                </a:solidFill>
                <a:latin typeface="Segoe UI Symbol"/>
                <a:cs typeface="Segoe UI Symbol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Изготовление</a:t>
            </a:r>
            <a:endParaRPr sz="1050">
              <a:latin typeface="Consolas"/>
              <a:cs typeface="Consolas"/>
            </a:endParaRPr>
          </a:p>
          <a:p>
            <a:pPr marL="185420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185420" algn="l"/>
                <a:tab pos="1651635" algn="l"/>
              </a:tabLst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Автоматизация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>
                <a:solidFill>
                  <a:srgbClr val="4D4D4B"/>
                </a:solidFill>
                <a:latin typeface="Segoe UI Symbol"/>
                <a:cs typeface="Segoe UI Symbol"/>
              </a:rPr>
              <a:t>✓</a:t>
            </a:r>
            <a:r>
              <a:rPr dirty="0" sz="1050" spc="280">
                <a:solidFill>
                  <a:srgbClr val="4D4D4B"/>
                </a:solidFill>
                <a:latin typeface="Segoe UI Symbol"/>
                <a:cs typeface="Segoe UI Symbol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Запчасти 500+</a:t>
            </a:r>
            <a:r>
              <a:rPr dirty="0" sz="1050" spc="-5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моделей</a:t>
            </a:r>
            <a:endParaRPr sz="1050">
              <a:latin typeface="Consolas"/>
              <a:cs typeface="Consolas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793749" y="2990849"/>
            <a:ext cx="5387340" cy="339725"/>
            <a:chOff x="793749" y="2990849"/>
            <a:chExt cx="5387340" cy="339725"/>
          </a:xfrm>
        </p:grpSpPr>
        <p:pic>
          <p:nvPicPr>
            <p:cNvPr id="41" name="object 4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8915" y="2990849"/>
              <a:ext cx="34925" cy="158750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3171824"/>
              <a:ext cx="34925" cy="158750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5851" y="3171824"/>
              <a:ext cx="34925" cy="158750"/>
            </a:xfrm>
            <a:prstGeom prst="rect">
              <a:avLst/>
            </a:prstGeom>
          </p:spPr>
        </p:pic>
      </p:grpSp>
      <p:sp>
        <p:nvSpPr>
          <p:cNvPr id="44" name="object 44" descr=""/>
          <p:cNvSpPr txBox="1"/>
          <p:nvPr/>
        </p:nvSpPr>
        <p:spPr>
          <a:xfrm>
            <a:off x="761999" y="3330575"/>
            <a:ext cx="54508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╚════════════════════════════════════════════════════════════════════════╝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765174" y="46862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765174" y="48958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765174" y="51053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765174" y="531494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765174" y="603884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765174" y="624839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765174" y="645794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765174" y="66674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765174" y="74009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765174" y="76104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765174" y="782002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765174" y="802957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533399" y="4241450"/>
            <a:ext cx="5606415" cy="59232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>
                <a:latin typeface="Segoe UI Emoji"/>
                <a:cs typeface="Segoe UI Emoji"/>
              </a:rPr>
              <a:t>✅</a:t>
            </a:r>
            <a:r>
              <a:rPr dirty="0" sz="1200" spc="35">
                <a:latin typeface="Segoe UI Emoji"/>
                <a:cs typeface="Segoe UI Emoj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КАЧЕСТВО</a:t>
            </a:r>
            <a:endParaRPr sz="120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1485"/>
              </a:spcBef>
            </a:pPr>
            <a:r>
              <a:rPr dirty="0" sz="1050">
                <a:latin typeface="Segoe UI"/>
                <a:cs typeface="Segoe UI"/>
              </a:rPr>
              <a:t>ГОСТ, ISO, </a:t>
            </a:r>
            <a:r>
              <a:rPr dirty="0" sz="1050" spc="-25">
                <a:latin typeface="Segoe UI"/>
                <a:cs typeface="Segoe UI"/>
              </a:rPr>
              <a:t>ОПК</a:t>
            </a:r>
            <a:endParaRPr sz="1050">
              <a:latin typeface="Segoe UI"/>
              <a:cs typeface="Segoe UI"/>
            </a:endParaRPr>
          </a:p>
          <a:p>
            <a:pPr marL="393065" marR="3264535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Сертифицированные </a:t>
            </a:r>
            <a:r>
              <a:rPr dirty="0" sz="1050" spc="-10">
                <a:latin typeface="Segoe UI"/>
                <a:cs typeface="Segoe UI"/>
              </a:rPr>
              <a:t>процессы </a:t>
            </a:r>
            <a:r>
              <a:rPr dirty="0" sz="1050">
                <a:latin typeface="Segoe UI"/>
                <a:cs typeface="Segoe UI"/>
              </a:rPr>
              <a:t>Многоступенчатый </a:t>
            </a:r>
            <a:r>
              <a:rPr dirty="0" sz="1050" spc="-10">
                <a:latin typeface="Segoe UI"/>
                <a:cs typeface="Segoe UI"/>
              </a:rPr>
              <a:t>контроль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Гарантийные </a:t>
            </a:r>
            <a:r>
              <a:rPr dirty="0" sz="1050" spc="-10">
                <a:latin typeface="Segoe UI"/>
                <a:cs typeface="Segoe UI"/>
              </a:rPr>
              <a:t>обязательства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105">
                <a:latin typeface="Segoe UI Emoji"/>
                <a:cs typeface="Segoe UI Emoji"/>
              </a:rPr>
              <a:t>⚡</a:t>
            </a:r>
            <a:r>
              <a:rPr dirty="0" sz="1200" spc="5">
                <a:latin typeface="Segoe UI Emoji"/>
                <a:cs typeface="Segoe UI Emoj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ОПЕРАТИВНОСТЬ</a:t>
            </a:r>
            <a:endParaRPr sz="120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050">
                <a:latin typeface="Segoe UI"/>
                <a:cs typeface="Segoe UI"/>
              </a:rPr>
              <a:t>Быстрые</a:t>
            </a:r>
            <a:r>
              <a:rPr dirty="0" sz="1050" spc="-4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сроки</a:t>
            </a:r>
            <a:endParaRPr sz="1050">
              <a:latin typeface="Segoe UI"/>
              <a:cs typeface="Segoe UI"/>
            </a:endParaRPr>
          </a:p>
          <a:p>
            <a:pPr marL="393065" marR="3859529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Складская</a:t>
            </a:r>
            <a:r>
              <a:rPr dirty="0" sz="1050" spc="-5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программа </a:t>
            </a:r>
            <a:r>
              <a:rPr dirty="0" sz="1050">
                <a:latin typeface="Segoe UI"/>
                <a:cs typeface="Segoe UI"/>
              </a:rPr>
              <a:t>24/7 </a:t>
            </a:r>
            <a:r>
              <a:rPr dirty="0" sz="1050" spc="-10">
                <a:latin typeface="Segoe UI"/>
                <a:cs typeface="Segoe UI"/>
              </a:rPr>
              <a:t>техподдержка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Экстренные </a:t>
            </a:r>
            <a:r>
              <a:rPr dirty="0" sz="1050" spc="-10">
                <a:latin typeface="Segoe UI"/>
                <a:cs typeface="Segoe UI"/>
              </a:rPr>
              <a:t>работы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Segoe UI Emoji"/>
                <a:cs typeface="Segoe UI Emoji"/>
              </a:rPr>
              <a:t>🤝</a:t>
            </a:r>
            <a:r>
              <a:rPr dirty="0" sz="1200" spc="35">
                <a:latin typeface="Segoe UI Emoji"/>
                <a:cs typeface="Segoe UI Emoj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НАДЕЖНОСТЬ</a:t>
            </a:r>
            <a:endParaRPr sz="1200">
              <a:latin typeface="Segoe UI"/>
              <a:cs typeface="Segoe UI"/>
            </a:endParaRPr>
          </a:p>
          <a:p>
            <a:pPr marL="393065" marR="4225925">
              <a:lnSpc>
                <a:spcPct val="131000"/>
              </a:lnSpc>
              <a:spcBef>
                <a:spcPts val="1019"/>
              </a:spcBef>
            </a:pPr>
            <a:r>
              <a:rPr dirty="0" sz="1050">
                <a:latin typeface="Segoe UI"/>
                <a:cs typeface="Segoe UI"/>
              </a:rPr>
              <a:t>12 лет на </a:t>
            </a:r>
            <a:r>
              <a:rPr dirty="0" sz="1050" spc="-10">
                <a:latin typeface="Segoe UI"/>
                <a:cs typeface="Segoe UI"/>
              </a:rPr>
              <a:t>рынке </a:t>
            </a:r>
            <a:r>
              <a:rPr dirty="0" sz="1050">
                <a:latin typeface="Segoe UI"/>
                <a:cs typeface="Segoe UI"/>
              </a:rPr>
              <a:t>Работа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 spc="-25">
                <a:latin typeface="Segoe UI"/>
                <a:cs typeface="Segoe UI"/>
              </a:rPr>
              <a:t>ОПК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Крупные </a:t>
            </a:r>
            <a:r>
              <a:rPr dirty="0" sz="1050" spc="-10">
                <a:latin typeface="Segoe UI"/>
                <a:cs typeface="Segoe UI"/>
              </a:rPr>
              <a:t>клиенты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Долгосрочные </a:t>
            </a:r>
            <a:r>
              <a:rPr dirty="0" sz="1050" spc="-10">
                <a:latin typeface="Segoe UI"/>
                <a:cs typeface="Segoe UI"/>
              </a:rPr>
              <a:t>отношения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80">
                <a:latin typeface="Segoe UI Emoji"/>
                <a:cs typeface="Segoe UI Emoji"/>
              </a:rPr>
              <a:t>🌟</a:t>
            </a:r>
            <a:r>
              <a:rPr dirty="0" sz="1200" spc="95">
                <a:latin typeface="Segoe UI Emoji"/>
                <a:cs typeface="Segoe UI Emoji"/>
              </a:rPr>
              <a:t> </a:t>
            </a:r>
            <a:r>
              <a:rPr dirty="0" sz="1200" b="1">
                <a:latin typeface="Segoe UI"/>
                <a:cs typeface="Segoe UI"/>
              </a:rPr>
              <a:t>КЛЮЧЕВОЕ</a:t>
            </a:r>
            <a:r>
              <a:rPr dirty="0" sz="1200" spc="9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КОНКУРЕНТНОЕ</a:t>
            </a:r>
            <a:r>
              <a:rPr dirty="0" sz="1200" spc="95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ПРЕИМУЩЕСТВО:</a:t>
            </a:r>
            <a:endParaRPr sz="1200">
              <a:latin typeface="Segoe UI"/>
              <a:cs typeface="Segoe UI"/>
            </a:endParaRPr>
          </a:p>
          <a:p>
            <a:pPr marL="680720" marR="5080" indent="-440055">
              <a:lnSpc>
                <a:spcPct val="226200"/>
              </a:lnSpc>
              <a:spcBef>
                <a:spcPts val="154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╔═══════════════════════════════════════════════════════════════════════╗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МЫ ЕДИНСТВЕННЫЕ В РЕГИОНЕ, КТО МОЖЕТ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ОБРАБОТАТЬ</a:t>
            </a:r>
            <a:endParaRPr sz="1050">
              <a:latin typeface="Consolas"/>
              <a:cs typeface="Consolas"/>
            </a:endParaRPr>
          </a:p>
          <a:p>
            <a:pPr marL="68072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ДЕТАЛИ ВЕСОМ ДО 150 ТОНН НА МОСТОВОМ КРАНЕ 160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ТОНН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1120775">
              <a:lnSpc>
                <a:spcPct val="100000"/>
              </a:lnSpc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+ ПОЛНЫЙ ЦИКЛ ПРОИЗВОДСТВА И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МОДЕРНИЗАЦИИ</a:t>
            </a:r>
            <a:endParaRPr sz="1050">
              <a:latin typeface="Consolas"/>
              <a:cs typeface="Consolas"/>
            </a:endParaRPr>
          </a:p>
        </p:txBody>
      </p:sp>
      <p:pic>
        <p:nvPicPr>
          <p:cNvPr id="58" name="object 5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9218" y="10001249"/>
            <a:ext cx="34925" cy="158750"/>
          </a:xfrm>
          <a:prstGeom prst="rect">
            <a:avLst/>
          </a:prstGeom>
        </p:spPr>
      </p:pic>
      <p:sp>
        <p:nvSpPr>
          <p:cNvPr id="59" name="object 5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46099" y="528636"/>
            <a:ext cx="6477000" cy="595630"/>
            <a:chOff x="546099" y="528636"/>
            <a:chExt cx="6477000" cy="595630"/>
          </a:xfrm>
        </p:grpSpPr>
        <p:sp>
          <p:nvSpPr>
            <p:cNvPr id="5" name="object 5" descr=""/>
            <p:cNvSpPr/>
            <p:nvPr/>
          </p:nvSpPr>
          <p:spPr>
            <a:xfrm>
              <a:off x="550862" y="533399"/>
              <a:ext cx="6467475" cy="586105"/>
            </a:xfrm>
            <a:custGeom>
              <a:avLst/>
              <a:gdLst/>
              <a:ahLst/>
              <a:cxnLst/>
              <a:rect l="l" t="t" r="r" b="b"/>
              <a:pathLst>
                <a:path w="6467475" h="586105">
                  <a:moveTo>
                    <a:pt x="6446819" y="585773"/>
                  </a:moveTo>
                  <a:lnTo>
                    <a:pt x="20654" y="585773"/>
                  </a:lnTo>
                  <a:lnTo>
                    <a:pt x="17617" y="585168"/>
                  </a:lnTo>
                  <a:lnTo>
                    <a:pt x="0" y="565124"/>
                  </a:lnTo>
                  <a:lnTo>
                    <a:pt x="0" y="0"/>
                  </a:lnTo>
                  <a:lnTo>
                    <a:pt x="6467474" y="0"/>
                  </a:lnTo>
                  <a:lnTo>
                    <a:pt x="6467473" y="565124"/>
                  </a:lnTo>
                  <a:lnTo>
                    <a:pt x="6446819" y="585773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0862" y="533399"/>
              <a:ext cx="6467475" cy="586105"/>
            </a:xfrm>
            <a:custGeom>
              <a:avLst/>
              <a:gdLst/>
              <a:ahLst/>
              <a:cxnLst/>
              <a:rect l="l" t="t" r="r" b="b"/>
              <a:pathLst>
                <a:path w="6467475" h="586105">
                  <a:moveTo>
                    <a:pt x="6467474" y="0"/>
                  </a:moveTo>
                  <a:lnTo>
                    <a:pt x="6467474" y="561970"/>
                  </a:lnTo>
                  <a:lnTo>
                    <a:pt x="6467473" y="565124"/>
                  </a:lnTo>
                  <a:lnTo>
                    <a:pt x="6443661" y="585783"/>
                  </a:lnTo>
                  <a:lnTo>
                    <a:pt x="23812" y="585783"/>
                  </a:lnTo>
                  <a:lnTo>
                    <a:pt x="0" y="565124"/>
                  </a:lnTo>
                  <a:lnTo>
                    <a:pt x="0" y="561970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542925"/>
              <a:ext cx="34925" cy="15875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2534" y="542925"/>
              <a:ext cx="34925" cy="158750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546099" y="1276345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46099" y="2219320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46099" y="2305045"/>
            <a:ext cx="381000" cy="95250"/>
          </a:xfrm>
          <a:custGeom>
            <a:avLst/>
            <a:gdLst/>
            <a:ahLst/>
            <a:cxnLst/>
            <a:rect l="l" t="t" r="r" b="b"/>
            <a:pathLst>
              <a:path w="381000" h="95250">
                <a:moveTo>
                  <a:pt x="380999" y="95249"/>
                </a:moveTo>
                <a:lnTo>
                  <a:pt x="0" y="95249"/>
                </a:lnTo>
                <a:lnTo>
                  <a:pt x="0" y="0"/>
                </a:lnTo>
                <a:lnTo>
                  <a:pt x="380999" y="0"/>
                </a:lnTo>
                <a:lnTo>
                  <a:pt x="380999" y="95249"/>
                </a:lnTo>
                <a:close/>
              </a:path>
            </a:pathLst>
          </a:custGeom>
          <a:solidFill>
            <a:srgbClr val="F0F7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546099" y="2924170"/>
            <a:ext cx="6477000" cy="1181100"/>
            <a:chOff x="546099" y="2924170"/>
            <a:chExt cx="6477000" cy="1181100"/>
          </a:xfrm>
        </p:grpSpPr>
        <p:sp>
          <p:nvSpPr>
            <p:cNvPr id="13" name="object 13" descr=""/>
            <p:cNvSpPr/>
            <p:nvPr/>
          </p:nvSpPr>
          <p:spPr>
            <a:xfrm>
              <a:off x="550862" y="2928933"/>
              <a:ext cx="6467475" cy="1171575"/>
            </a:xfrm>
            <a:custGeom>
              <a:avLst/>
              <a:gdLst/>
              <a:ahLst/>
              <a:cxnLst/>
              <a:rect l="l" t="t" r="r" b="b"/>
              <a:pathLst>
                <a:path w="6467475" h="1171575">
                  <a:moveTo>
                    <a:pt x="6446819" y="1171565"/>
                  </a:moveTo>
                  <a:lnTo>
                    <a:pt x="20654" y="1171565"/>
                  </a:lnTo>
                  <a:lnTo>
                    <a:pt x="17617" y="1170960"/>
                  </a:lnTo>
                  <a:lnTo>
                    <a:pt x="0" y="1150916"/>
                  </a:lnTo>
                  <a:lnTo>
                    <a:pt x="0" y="1147762"/>
                  </a:lnTo>
                  <a:lnTo>
                    <a:pt x="0" y="2064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40"/>
                  </a:lnTo>
                  <a:lnTo>
                    <a:pt x="6467473" y="1150916"/>
                  </a:lnTo>
                  <a:lnTo>
                    <a:pt x="6449856" y="1170960"/>
                  </a:lnTo>
                  <a:lnTo>
                    <a:pt x="6446819" y="1171565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50862" y="2928933"/>
              <a:ext cx="6467475" cy="1171575"/>
            </a:xfrm>
            <a:custGeom>
              <a:avLst/>
              <a:gdLst/>
              <a:ahLst/>
              <a:cxnLst/>
              <a:rect l="l" t="t" r="r" b="b"/>
              <a:pathLst>
                <a:path w="6467475" h="1171575">
                  <a:moveTo>
                    <a:pt x="0" y="1147762"/>
                  </a:moveTo>
                  <a:lnTo>
                    <a:pt x="0" y="23812"/>
                  </a:lnTo>
                  <a:lnTo>
                    <a:pt x="0" y="20640"/>
                  </a:lnTo>
                  <a:lnTo>
                    <a:pt x="604" y="17599"/>
                  </a:lnTo>
                  <a:lnTo>
                    <a:pt x="1812" y="14678"/>
                  </a:lnTo>
                  <a:lnTo>
                    <a:pt x="3021" y="11767"/>
                  </a:lnTo>
                  <a:lnTo>
                    <a:pt x="4741" y="9189"/>
                  </a:lnTo>
                  <a:lnTo>
                    <a:pt x="6974" y="6966"/>
                  </a:lnTo>
                  <a:lnTo>
                    <a:pt x="9207" y="4734"/>
                  </a:lnTo>
                  <a:lnTo>
                    <a:pt x="11782" y="3013"/>
                  </a:lnTo>
                  <a:lnTo>
                    <a:pt x="14699" y="1795"/>
                  </a:lnTo>
                  <a:lnTo>
                    <a:pt x="17617" y="595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595"/>
                  </a:lnTo>
                  <a:lnTo>
                    <a:pt x="6452774" y="1795"/>
                  </a:lnTo>
                  <a:lnTo>
                    <a:pt x="6455691" y="3013"/>
                  </a:lnTo>
                  <a:lnTo>
                    <a:pt x="6458266" y="4734"/>
                  </a:lnTo>
                  <a:lnTo>
                    <a:pt x="6460499" y="6966"/>
                  </a:lnTo>
                  <a:lnTo>
                    <a:pt x="6462732" y="9189"/>
                  </a:lnTo>
                  <a:lnTo>
                    <a:pt x="6467474" y="23812"/>
                  </a:lnTo>
                  <a:lnTo>
                    <a:pt x="6467474" y="1147762"/>
                  </a:lnTo>
                  <a:lnTo>
                    <a:pt x="6452774" y="1169742"/>
                  </a:lnTo>
                  <a:lnTo>
                    <a:pt x="6449856" y="1170960"/>
                  </a:lnTo>
                  <a:lnTo>
                    <a:pt x="6446819" y="1171565"/>
                  </a:lnTo>
                  <a:lnTo>
                    <a:pt x="6443662" y="1171574"/>
                  </a:lnTo>
                  <a:lnTo>
                    <a:pt x="23812" y="1171574"/>
                  </a:lnTo>
                  <a:lnTo>
                    <a:pt x="20654" y="1171565"/>
                  </a:lnTo>
                  <a:lnTo>
                    <a:pt x="17617" y="1170960"/>
                  </a:lnTo>
                  <a:lnTo>
                    <a:pt x="14699" y="1169742"/>
                  </a:lnTo>
                  <a:lnTo>
                    <a:pt x="11782" y="1168542"/>
                  </a:lnTo>
                  <a:lnTo>
                    <a:pt x="0" y="1150916"/>
                  </a:lnTo>
                  <a:lnTo>
                    <a:pt x="0" y="114776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546099" y="4600570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546099" y="5143495"/>
            <a:ext cx="6477000" cy="1181100"/>
            <a:chOff x="546099" y="5143495"/>
            <a:chExt cx="6477000" cy="1181100"/>
          </a:xfrm>
        </p:grpSpPr>
        <p:sp>
          <p:nvSpPr>
            <p:cNvPr id="17" name="object 17" descr=""/>
            <p:cNvSpPr/>
            <p:nvPr/>
          </p:nvSpPr>
          <p:spPr>
            <a:xfrm>
              <a:off x="550862" y="5148258"/>
              <a:ext cx="6467475" cy="1171575"/>
            </a:xfrm>
            <a:custGeom>
              <a:avLst/>
              <a:gdLst/>
              <a:ahLst/>
              <a:cxnLst/>
              <a:rect l="l" t="t" r="r" b="b"/>
              <a:pathLst>
                <a:path w="6467475" h="1171575">
                  <a:moveTo>
                    <a:pt x="6446819" y="1171565"/>
                  </a:moveTo>
                  <a:lnTo>
                    <a:pt x="20654" y="1171565"/>
                  </a:lnTo>
                  <a:lnTo>
                    <a:pt x="17617" y="1170960"/>
                  </a:lnTo>
                  <a:lnTo>
                    <a:pt x="0" y="1150906"/>
                  </a:lnTo>
                  <a:lnTo>
                    <a:pt x="0" y="1147762"/>
                  </a:lnTo>
                  <a:lnTo>
                    <a:pt x="0" y="20658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8"/>
                  </a:lnTo>
                  <a:lnTo>
                    <a:pt x="6467473" y="1150906"/>
                  </a:lnTo>
                  <a:lnTo>
                    <a:pt x="6449856" y="1170960"/>
                  </a:lnTo>
                  <a:lnTo>
                    <a:pt x="6446819" y="1171565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50862" y="5148258"/>
              <a:ext cx="6467475" cy="1171575"/>
            </a:xfrm>
            <a:custGeom>
              <a:avLst/>
              <a:gdLst/>
              <a:ahLst/>
              <a:cxnLst/>
              <a:rect l="l" t="t" r="r" b="b"/>
              <a:pathLst>
                <a:path w="6467475" h="1171575">
                  <a:moveTo>
                    <a:pt x="0" y="1147762"/>
                  </a:moveTo>
                  <a:lnTo>
                    <a:pt x="0" y="23812"/>
                  </a:lnTo>
                  <a:lnTo>
                    <a:pt x="0" y="20658"/>
                  </a:lnTo>
                  <a:lnTo>
                    <a:pt x="604" y="17617"/>
                  </a:lnTo>
                  <a:lnTo>
                    <a:pt x="1812" y="14705"/>
                  </a:lnTo>
                  <a:lnTo>
                    <a:pt x="3021" y="11775"/>
                  </a:lnTo>
                  <a:lnTo>
                    <a:pt x="4741" y="9199"/>
                  </a:lnTo>
                  <a:lnTo>
                    <a:pt x="6974" y="6976"/>
                  </a:lnTo>
                  <a:lnTo>
                    <a:pt x="9207" y="4743"/>
                  </a:lnTo>
                  <a:lnTo>
                    <a:pt x="11782" y="3023"/>
                  </a:lnTo>
                  <a:lnTo>
                    <a:pt x="14699" y="1804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04"/>
                  </a:lnTo>
                  <a:lnTo>
                    <a:pt x="6455691" y="3023"/>
                  </a:lnTo>
                  <a:lnTo>
                    <a:pt x="6458266" y="4743"/>
                  </a:lnTo>
                  <a:lnTo>
                    <a:pt x="6460499" y="6976"/>
                  </a:lnTo>
                  <a:lnTo>
                    <a:pt x="6462732" y="9199"/>
                  </a:lnTo>
                  <a:lnTo>
                    <a:pt x="6467474" y="23812"/>
                  </a:lnTo>
                  <a:lnTo>
                    <a:pt x="6467474" y="1147762"/>
                  </a:lnTo>
                  <a:lnTo>
                    <a:pt x="6467473" y="1150906"/>
                  </a:lnTo>
                  <a:lnTo>
                    <a:pt x="6466869" y="1153938"/>
                  </a:lnTo>
                  <a:lnTo>
                    <a:pt x="6465661" y="1156850"/>
                  </a:lnTo>
                  <a:lnTo>
                    <a:pt x="6464453" y="1159770"/>
                  </a:lnTo>
                  <a:lnTo>
                    <a:pt x="6452774" y="1169742"/>
                  </a:lnTo>
                  <a:lnTo>
                    <a:pt x="6449856" y="1170960"/>
                  </a:lnTo>
                  <a:lnTo>
                    <a:pt x="6446819" y="1171565"/>
                  </a:lnTo>
                  <a:lnTo>
                    <a:pt x="6443662" y="1171574"/>
                  </a:lnTo>
                  <a:lnTo>
                    <a:pt x="23812" y="1171574"/>
                  </a:lnTo>
                  <a:lnTo>
                    <a:pt x="20654" y="1171565"/>
                  </a:lnTo>
                  <a:lnTo>
                    <a:pt x="17617" y="1170960"/>
                  </a:lnTo>
                  <a:lnTo>
                    <a:pt x="14699" y="1169742"/>
                  </a:lnTo>
                  <a:lnTo>
                    <a:pt x="11782" y="1168533"/>
                  </a:lnTo>
                  <a:lnTo>
                    <a:pt x="1812" y="1156850"/>
                  </a:lnTo>
                  <a:lnTo>
                    <a:pt x="604" y="1153938"/>
                  </a:lnTo>
                  <a:lnTo>
                    <a:pt x="0" y="1150906"/>
                  </a:lnTo>
                  <a:lnTo>
                    <a:pt x="0" y="114776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546099" y="7181845"/>
            <a:ext cx="6477000" cy="1181100"/>
            <a:chOff x="546099" y="7181845"/>
            <a:chExt cx="6477000" cy="1181100"/>
          </a:xfrm>
        </p:grpSpPr>
        <p:sp>
          <p:nvSpPr>
            <p:cNvPr id="20" name="object 20" descr=""/>
            <p:cNvSpPr/>
            <p:nvPr/>
          </p:nvSpPr>
          <p:spPr>
            <a:xfrm>
              <a:off x="550862" y="7186607"/>
              <a:ext cx="6467475" cy="1171575"/>
            </a:xfrm>
            <a:custGeom>
              <a:avLst/>
              <a:gdLst/>
              <a:ahLst/>
              <a:cxnLst/>
              <a:rect l="l" t="t" r="r" b="b"/>
              <a:pathLst>
                <a:path w="6467475" h="1171575">
                  <a:moveTo>
                    <a:pt x="6446819" y="1171565"/>
                  </a:moveTo>
                  <a:lnTo>
                    <a:pt x="20654" y="1171565"/>
                  </a:lnTo>
                  <a:lnTo>
                    <a:pt x="17617" y="1170960"/>
                  </a:lnTo>
                  <a:lnTo>
                    <a:pt x="0" y="1150916"/>
                  </a:lnTo>
                  <a:lnTo>
                    <a:pt x="0" y="1147762"/>
                  </a:lnTo>
                  <a:lnTo>
                    <a:pt x="0" y="2064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40"/>
                  </a:lnTo>
                  <a:lnTo>
                    <a:pt x="6467473" y="1150916"/>
                  </a:lnTo>
                  <a:lnTo>
                    <a:pt x="6449856" y="1170960"/>
                  </a:lnTo>
                  <a:lnTo>
                    <a:pt x="6446819" y="1171565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50862" y="7186607"/>
              <a:ext cx="6467475" cy="1171575"/>
            </a:xfrm>
            <a:custGeom>
              <a:avLst/>
              <a:gdLst/>
              <a:ahLst/>
              <a:cxnLst/>
              <a:rect l="l" t="t" r="r" b="b"/>
              <a:pathLst>
                <a:path w="6467475" h="1171575">
                  <a:moveTo>
                    <a:pt x="0" y="1147762"/>
                  </a:moveTo>
                  <a:lnTo>
                    <a:pt x="0" y="23812"/>
                  </a:lnTo>
                  <a:lnTo>
                    <a:pt x="0" y="20640"/>
                  </a:lnTo>
                  <a:lnTo>
                    <a:pt x="604" y="17599"/>
                  </a:lnTo>
                  <a:lnTo>
                    <a:pt x="1812" y="14678"/>
                  </a:lnTo>
                  <a:lnTo>
                    <a:pt x="3021" y="11767"/>
                  </a:lnTo>
                  <a:lnTo>
                    <a:pt x="4741" y="9189"/>
                  </a:lnTo>
                  <a:lnTo>
                    <a:pt x="6974" y="6966"/>
                  </a:lnTo>
                  <a:lnTo>
                    <a:pt x="9207" y="4725"/>
                  </a:lnTo>
                  <a:lnTo>
                    <a:pt x="11782" y="3004"/>
                  </a:lnTo>
                  <a:lnTo>
                    <a:pt x="14699" y="1804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04"/>
                  </a:lnTo>
                  <a:lnTo>
                    <a:pt x="6455691" y="3004"/>
                  </a:lnTo>
                  <a:lnTo>
                    <a:pt x="6458266" y="4725"/>
                  </a:lnTo>
                  <a:lnTo>
                    <a:pt x="6460499" y="6966"/>
                  </a:lnTo>
                  <a:lnTo>
                    <a:pt x="6462732" y="9189"/>
                  </a:lnTo>
                  <a:lnTo>
                    <a:pt x="6464453" y="11767"/>
                  </a:lnTo>
                  <a:lnTo>
                    <a:pt x="6465661" y="14687"/>
                  </a:lnTo>
                  <a:lnTo>
                    <a:pt x="6466869" y="17599"/>
                  </a:lnTo>
                  <a:lnTo>
                    <a:pt x="6467473" y="20640"/>
                  </a:lnTo>
                  <a:lnTo>
                    <a:pt x="6467474" y="23812"/>
                  </a:lnTo>
                  <a:lnTo>
                    <a:pt x="6467474" y="1147762"/>
                  </a:lnTo>
                  <a:lnTo>
                    <a:pt x="6467473" y="1150916"/>
                  </a:lnTo>
                  <a:lnTo>
                    <a:pt x="6466869" y="1153947"/>
                  </a:lnTo>
                  <a:lnTo>
                    <a:pt x="6465661" y="1156859"/>
                  </a:lnTo>
                  <a:lnTo>
                    <a:pt x="6464453" y="1159780"/>
                  </a:lnTo>
                  <a:lnTo>
                    <a:pt x="6452774" y="1169742"/>
                  </a:lnTo>
                  <a:lnTo>
                    <a:pt x="6449856" y="1170960"/>
                  </a:lnTo>
                  <a:lnTo>
                    <a:pt x="6446819" y="1171565"/>
                  </a:lnTo>
                  <a:lnTo>
                    <a:pt x="6443662" y="1171574"/>
                  </a:lnTo>
                  <a:lnTo>
                    <a:pt x="23812" y="1171574"/>
                  </a:lnTo>
                  <a:lnTo>
                    <a:pt x="20654" y="1171565"/>
                  </a:lnTo>
                  <a:lnTo>
                    <a:pt x="17617" y="1170960"/>
                  </a:lnTo>
                  <a:lnTo>
                    <a:pt x="14699" y="1169742"/>
                  </a:lnTo>
                  <a:lnTo>
                    <a:pt x="11782" y="1168533"/>
                  </a:lnTo>
                  <a:lnTo>
                    <a:pt x="1812" y="1156859"/>
                  </a:lnTo>
                  <a:lnTo>
                    <a:pt x="604" y="1153947"/>
                  </a:lnTo>
                  <a:lnTo>
                    <a:pt x="0" y="1150916"/>
                  </a:lnTo>
                  <a:lnTo>
                    <a:pt x="0" y="114776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546099" y="8858245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546099" y="9401168"/>
            <a:ext cx="6477000" cy="938530"/>
            <a:chOff x="546099" y="9401168"/>
            <a:chExt cx="6477000" cy="938530"/>
          </a:xfrm>
        </p:grpSpPr>
        <p:sp>
          <p:nvSpPr>
            <p:cNvPr id="24" name="object 24" descr=""/>
            <p:cNvSpPr/>
            <p:nvPr/>
          </p:nvSpPr>
          <p:spPr>
            <a:xfrm>
              <a:off x="550862" y="9405931"/>
              <a:ext cx="6467475" cy="929005"/>
            </a:xfrm>
            <a:custGeom>
              <a:avLst/>
              <a:gdLst/>
              <a:ahLst/>
              <a:cxnLst/>
              <a:rect l="l" t="t" r="r" b="b"/>
              <a:pathLst>
                <a:path w="6467475" h="929004">
                  <a:moveTo>
                    <a:pt x="6467474" y="928692"/>
                  </a:moveTo>
                  <a:lnTo>
                    <a:pt x="0" y="928692"/>
                  </a:lnTo>
                  <a:lnTo>
                    <a:pt x="0" y="2064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4" y="928692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50862" y="9405931"/>
              <a:ext cx="6467475" cy="929005"/>
            </a:xfrm>
            <a:custGeom>
              <a:avLst/>
              <a:gdLst/>
              <a:ahLst/>
              <a:cxnLst/>
              <a:rect l="l" t="t" r="r" b="b"/>
              <a:pathLst>
                <a:path w="6467475" h="929004">
                  <a:moveTo>
                    <a:pt x="0" y="928692"/>
                  </a:moveTo>
                  <a:lnTo>
                    <a:pt x="0" y="23812"/>
                  </a:lnTo>
                  <a:lnTo>
                    <a:pt x="0" y="20640"/>
                  </a:lnTo>
                  <a:lnTo>
                    <a:pt x="604" y="17599"/>
                  </a:lnTo>
                  <a:lnTo>
                    <a:pt x="1812" y="14678"/>
                  </a:lnTo>
                  <a:lnTo>
                    <a:pt x="3021" y="11757"/>
                  </a:lnTo>
                  <a:lnTo>
                    <a:pt x="4741" y="9181"/>
                  </a:lnTo>
                  <a:lnTo>
                    <a:pt x="6974" y="6958"/>
                  </a:lnTo>
                  <a:lnTo>
                    <a:pt x="9207" y="4725"/>
                  </a:lnTo>
                  <a:lnTo>
                    <a:pt x="11782" y="3004"/>
                  </a:lnTo>
                  <a:lnTo>
                    <a:pt x="14699" y="1795"/>
                  </a:lnTo>
                  <a:lnTo>
                    <a:pt x="17617" y="595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1" y="0"/>
                  </a:lnTo>
                  <a:lnTo>
                    <a:pt x="6446819" y="0"/>
                  </a:lnTo>
                  <a:lnTo>
                    <a:pt x="6449856" y="595"/>
                  </a:lnTo>
                  <a:lnTo>
                    <a:pt x="6452773" y="1795"/>
                  </a:lnTo>
                  <a:lnTo>
                    <a:pt x="6455691" y="3004"/>
                  </a:lnTo>
                  <a:lnTo>
                    <a:pt x="6458266" y="4725"/>
                  </a:lnTo>
                  <a:lnTo>
                    <a:pt x="6460499" y="6958"/>
                  </a:lnTo>
                  <a:lnTo>
                    <a:pt x="6462732" y="9181"/>
                  </a:lnTo>
                  <a:lnTo>
                    <a:pt x="6467474" y="23812"/>
                  </a:lnTo>
                  <a:lnTo>
                    <a:pt x="6467474" y="928692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61999" y="701675"/>
            <a:ext cx="537781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╚═══════════════════════════════════════════════════════════════════════╝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533399" y="1435100"/>
            <a:ext cx="3674745" cy="619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6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12:</a:t>
            </a:r>
            <a:r>
              <a:rPr dirty="0" sz="1550" spc="6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Конкурентные</a:t>
            </a:r>
            <a:r>
              <a:rPr dirty="0" sz="1550" spc="60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преимущества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200" spc="80">
                <a:latin typeface="Segoe UI Emoji"/>
                <a:cs typeface="Segoe UI Emoji"/>
              </a:rPr>
              <a:t>🌟</a:t>
            </a:r>
            <a:r>
              <a:rPr dirty="0" sz="1200" spc="55">
                <a:latin typeface="Segoe UI Emoji"/>
                <a:cs typeface="Segoe UI Emoji"/>
              </a:rPr>
              <a:t> </a:t>
            </a:r>
            <a:r>
              <a:rPr dirty="0" sz="1200">
                <a:latin typeface="Segoe UI"/>
                <a:cs typeface="Segoe UI"/>
              </a:rPr>
              <a:t>Почему</a:t>
            </a:r>
            <a:r>
              <a:rPr dirty="0" sz="1200" spc="6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выбирают</a:t>
            </a:r>
            <a:r>
              <a:rPr dirty="0" sz="1200" spc="6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ТД</a:t>
            </a:r>
            <a:r>
              <a:rPr dirty="0" sz="1200" spc="6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РУССтанкоСбыт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33399" y="2565050"/>
            <a:ext cx="2407285" cy="1303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5">
                <a:latin typeface="Segoe UI Emoji"/>
                <a:cs typeface="Segoe UI Emoji"/>
              </a:rPr>
              <a:t>⚡</a:t>
            </a:r>
            <a:r>
              <a:rPr dirty="0" sz="1200" spc="5">
                <a:latin typeface="Segoe UI Emoji"/>
                <a:cs typeface="Segoe UI Emoj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ОПЕРАТИВНОСТЬ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200">
              <a:latin typeface="Segoe UI"/>
              <a:cs typeface="Segoe UI"/>
            </a:endParaRPr>
          </a:p>
          <a:p>
            <a:pPr marL="413384" indent="-172720">
              <a:lnSpc>
                <a:spcPct val="100000"/>
              </a:lnSpc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Быстрая реакция на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запросы</a:t>
            </a:r>
            <a:endParaRPr sz="1050">
              <a:latin typeface="Consolas"/>
              <a:cs typeface="Consolas"/>
            </a:endParaRPr>
          </a:p>
          <a:p>
            <a:pPr marL="413384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Короткие сроки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изготовления</a:t>
            </a:r>
            <a:endParaRPr sz="1050">
              <a:latin typeface="Consolas"/>
              <a:cs typeface="Consolas"/>
            </a:endParaRPr>
          </a:p>
          <a:p>
            <a:pPr marL="413384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Наличие складской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программы</a:t>
            </a:r>
            <a:endParaRPr sz="1050">
              <a:latin typeface="Consolas"/>
              <a:cs typeface="Consolas"/>
            </a:endParaRPr>
          </a:p>
          <a:p>
            <a:pPr marL="413384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Круглосуточная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техподдержка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33399" y="4244975"/>
            <a:ext cx="3949700" cy="1842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Segoe UI"/>
                <a:cs typeface="Segoe UI"/>
              </a:rPr>
              <a:t>Результат:</a:t>
            </a:r>
            <a:r>
              <a:rPr dirty="0" sz="1050" spc="-20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Минимальное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время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простоя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вашего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оборудования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280">
                <a:latin typeface="Segoe UI Emoji"/>
                <a:cs typeface="Segoe UI Emoji"/>
              </a:rPr>
              <a:t>💰</a:t>
            </a:r>
            <a:r>
              <a:rPr dirty="0" sz="1200" spc="5">
                <a:latin typeface="Segoe UI Emoji"/>
                <a:cs typeface="Segoe UI Emoj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ПРОЗРАЧНОСТЬ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200">
              <a:latin typeface="Segoe UI"/>
              <a:cs typeface="Segoe UI"/>
            </a:endParaRPr>
          </a:p>
          <a:p>
            <a:pPr marL="413384" indent="-172720">
              <a:lnSpc>
                <a:spcPct val="100000"/>
              </a:lnSpc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Честное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ценообразование</a:t>
            </a:r>
            <a:endParaRPr sz="1050">
              <a:latin typeface="Consolas"/>
              <a:cs typeface="Consolas"/>
            </a:endParaRPr>
          </a:p>
          <a:p>
            <a:pPr marL="413384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Детальные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сметы</a:t>
            </a:r>
            <a:endParaRPr sz="1050">
              <a:latin typeface="Consolas"/>
              <a:cs typeface="Consolas"/>
            </a:endParaRPr>
          </a:p>
          <a:p>
            <a:pPr marL="413384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Отчетность на всех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этапах</a:t>
            </a:r>
            <a:endParaRPr sz="1050">
              <a:latin typeface="Consolas"/>
              <a:cs typeface="Consolas"/>
            </a:endParaRPr>
          </a:p>
          <a:p>
            <a:pPr marL="413384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Фиксированные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сроки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33399" y="6464299"/>
            <a:ext cx="3439795" cy="166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Segoe UI"/>
                <a:cs typeface="Segoe UI"/>
              </a:rPr>
              <a:t>Результат:</a:t>
            </a:r>
            <a:r>
              <a:rPr dirty="0" sz="1050" spc="-1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Полный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контроль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над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бюджетом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сроками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Segoe UI Emoji"/>
                <a:cs typeface="Segoe UI Emoji"/>
              </a:rPr>
              <a:t>💎</a:t>
            </a:r>
            <a:r>
              <a:rPr dirty="0" sz="1200" spc="35">
                <a:latin typeface="Segoe UI Emoji"/>
                <a:cs typeface="Segoe UI Emoj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КАЧЕСТВО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200">
              <a:latin typeface="Segoe UI"/>
              <a:cs typeface="Segoe UI"/>
            </a:endParaRPr>
          </a:p>
          <a:p>
            <a:pPr marL="413384" indent="-172720">
              <a:lnSpc>
                <a:spcPct val="100000"/>
              </a:lnSpc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Оригинальные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комплектующие</a:t>
            </a:r>
            <a:endParaRPr sz="1050">
              <a:latin typeface="Consolas"/>
              <a:cs typeface="Consolas"/>
            </a:endParaRPr>
          </a:p>
          <a:p>
            <a:pPr marL="413384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Современное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оборудование</a:t>
            </a:r>
            <a:endParaRPr sz="1050">
              <a:latin typeface="Consolas"/>
              <a:cs typeface="Consolas"/>
            </a:endParaRPr>
          </a:p>
          <a:p>
            <a:pPr marL="413384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Квалифицированный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персонал</a:t>
            </a:r>
            <a:endParaRPr sz="1050">
              <a:latin typeface="Consolas"/>
              <a:cs typeface="Consolas"/>
            </a:endParaRPr>
          </a:p>
          <a:p>
            <a:pPr marL="413384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Многоступенчатый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контроль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33399" y="8502650"/>
            <a:ext cx="3113405" cy="1480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Segoe UI"/>
                <a:cs typeface="Segoe UI"/>
              </a:rPr>
              <a:t>Результат:</a:t>
            </a:r>
            <a:r>
              <a:rPr dirty="0" sz="1050" spc="-20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Гарантия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надежности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10">
                <a:latin typeface="Segoe UI"/>
                <a:cs typeface="Segoe UI"/>
              </a:rPr>
              <a:t> долговечности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Segoe UI Emoji"/>
                <a:cs typeface="Segoe UI Emoji"/>
              </a:rPr>
              <a:t>🤝</a:t>
            </a:r>
            <a:r>
              <a:rPr dirty="0" sz="1200" spc="90">
                <a:latin typeface="Segoe UI Emoji"/>
                <a:cs typeface="Segoe UI Emoji"/>
              </a:rPr>
              <a:t> </a:t>
            </a:r>
            <a:r>
              <a:rPr dirty="0" sz="1200" b="1">
                <a:latin typeface="Segoe UI"/>
                <a:cs typeface="Segoe UI"/>
              </a:rPr>
              <a:t>ДОЛГОСРОЧНОЕ</a:t>
            </a:r>
            <a:r>
              <a:rPr dirty="0" sz="1200" spc="90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ПАРТНЕРСТВО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200">
              <a:latin typeface="Segoe UI"/>
              <a:cs typeface="Segoe UI"/>
            </a:endParaRPr>
          </a:p>
          <a:p>
            <a:pPr marL="413384" indent="-172720">
              <a:lnSpc>
                <a:spcPct val="100000"/>
              </a:lnSpc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Индивидуальный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подход</a:t>
            </a:r>
            <a:endParaRPr sz="1050">
              <a:latin typeface="Consolas"/>
              <a:cs typeface="Consolas"/>
            </a:endParaRPr>
          </a:p>
          <a:p>
            <a:pPr marL="413384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413384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Гибкие условия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сотрудничества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46099" y="528637"/>
            <a:ext cx="6477000" cy="595630"/>
            <a:chOff x="546099" y="528637"/>
            <a:chExt cx="6477000" cy="595630"/>
          </a:xfrm>
        </p:grpSpPr>
        <p:sp>
          <p:nvSpPr>
            <p:cNvPr id="5" name="object 5" descr=""/>
            <p:cNvSpPr/>
            <p:nvPr/>
          </p:nvSpPr>
          <p:spPr>
            <a:xfrm>
              <a:off x="550862" y="533399"/>
              <a:ext cx="6467475" cy="586105"/>
            </a:xfrm>
            <a:custGeom>
              <a:avLst/>
              <a:gdLst/>
              <a:ahLst/>
              <a:cxnLst/>
              <a:rect l="l" t="t" r="r" b="b"/>
              <a:pathLst>
                <a:path w="6467475" h="586105">
                  <a:moveTo>
                    <a:pt x="6446819" y="585773"/>
                  </a:moveTo>
                  <a:lnTo>
                    <a:pt x="20654" y="585773"/>
                  </a:lnTo>
                  <a:lnTo>
                    <a:pt x="17617" y="585168"/>
                  </a:lnTo>
                  <a:lnTo>
                    <a:pt x="0" y="565124"/>
                  </a:lnTo>
                  <a:lnTo>
                    <a:pt x="0" y="0"/>
                  </a:lnTo>
                  <a:lnTo>
                    <a:pt x="6467474" y="0"/>
                  </a:lnTo>
                  <a:lnTo>
                    <a:pt x="6467473" y="565124"/>
                  </a:lnTo>
                  <a:lnTo>
                    <a:pt x="6446819" y="585773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0862" y="533399"/>
              <a:ext cx="6467475" cy="586105"/>
            </a:xfrm>
            <a:custGeom>
              <a:avLst/>
              <a:gdLst/>
              <a:ahLst/>
              <a:cxnLst/>
              <a:rect l="l" t="t" r="r" b="b"/>
              <a:pathLst>
                <a:path w="6467475" h="586105">
                  <a:moveTo>
                    <a:pt x="6467474" y="0"/>
                  </a:moveTo>
                  <a:lnTo>
                    <a:pt x="6467474" y="561970"/>
                  </a:lnTo>
                  <a:lnTo>
                    <a:pt x="6467473" y="565124"/>
                  </a:lnTo>
                  <a:lnTo>
                    <a:pt x="6452773" y="583950"/>
                  </a:lnTo>
                  <a:lnTo>
                    <a:pt x="6449856" y="585168"/>
                  </a:lnTo>
                  <a:lnTo>
                    <a:pt x="6446819" y="585773"/>
                  </a:lnTo>
                  <a:lnTo>
                    <a:pt x="6443661" y="585782"/>
                  </a:lnTo>
                  <a:lnTo>
                    <a:pt x="23812" y="585782"/>
                  </a:lnTo>
                  <a:lnTo>
                    <a:pt x="20654" y="585773"/>
                  </a:lnTo>
                  <a:lnTo>
                    <a:pt x="17617" y="585168"/>
                  </a:lnTo>
                  <a:lnTo>
                    <a:pt x="14699" y="583950"/>
                  </a:lnTo>
                  <a:lnTo>
                    <a:pt x="11782" y="582750"/>
                  </a:lnTo>
                  <a:lnTo>
                    <a:pt x="0" y="565124"/>
                  </a:lnTo>
                  <a:lnTo>
                    <a:pt x="0" y="561970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546099" y="1619245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546099" y="2162170"/>
            <a:ext cx="6477000" cy="2085975"/>
            <a:chOff x="546099" y="2162170"/>
            <a:chExt cx="6477000" cy="2085975"/>
          </a:xfrm>
        </p:grpSpPr>
        <p:sp>
          <p:nvSpPr>
            <p:cNvPr id="9" name="object 9" descr=""/>
            <p:cNvSpPr/>
            <p:nvPr/>
          </p:nvSpPr>
          <p:spPr>
            <a:xfrm>
              <a:off x="550862" y="2166932"/>
              <a:ext cx="6467475" cy="2076450"/>
            </a:xfrm>
            <a:custGeom>
              <a:avLst/>
              <a:gdLst/>
              <a:ahLst/>
              <a:cxnLst/>
              <a:rect l="l" t="t" r="r" b="b"/>
              <a:pathLst>
                <a:path w="6467475" h="2076450">
                  <a:moveTo>
                    <a:pt x="6446819" y="2076440"/>
                  </a:moveTo>
                  <a:lnTo>
                    <a:pt x="20654" y="2076440"/>
                  </a:lnTo>
                  <a:lnTo>
                    <a:pt x="17617" y="2075835"/>
                  </a:lnTo>
                  <a:lnTo>
                    <a:pt x="0" y="2055791"/>
                  </a:lnTo>
                  <a:lnTo>
                    <a:pt x="0" y="2052637"/>
                  </a:lnTo>
                  <a:lnTo>
                    <a:pt x="0" y="2065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0"/>
                  </a:lnTo>
                  <a:lnTo>
                    <a:pt x="6467473" y="2055791"/>
                  </a:lnTo>
                  <a:lnTo>
                    <a:pt x="6449856" y="2075835"/>
                  </a:lnTo>
                  <a:lnTo>
                    <a:pt x="6446819" y="207644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50862" y="2166932"/>
              <a:ext cx="6467475" cy="2076450"/>
            </a:xfrm>
            <a:custGeom>
              <a:avLst/>
              <a:gdLst/>
              <a:ahLst/>
              <a:cxnLst/>
              <a:rect l="l" t="t" r="r" b="b"/>
              <a:pathLst>
                <a:path w="6467475" h="2076450">
                  <a:moveTo>
                    <a:pt x="0" y="2052637"/>
                  </a:moveTo>
                  <a:lnTo>
                    <a:pt x="0" y="23812"/>
                  </a:lnTo>
                  <a:lnTo>
                    <a:pt x="0" y="20650"/>
                  </a:lnTo>
                  <a:lnTo>
                    <a:pt x="604" y="17607"/>
                  </a:lnTo>
                  <a:lnTo>
                    <a:pt x="1812" y="14687"/>
                  </a:lnTo>
                  <a:lnTo>
                    <a:pt x="3021" y="11767"/>
                  </a:lnTo>
                  <a:lnTo>
                    <a:pt x="4741" y="9189"/>
                  </a:lnTo>
                  <a:lnTo>
                    <a:pt x="6974" y="6966"/>
                  </a:lnTo>
                  <a:lnTo>
                    <a:pt x="9207" y="4734"/>
                  </a:lnTo>
                  <a:lnTo>
                    <a:pt x="11782" y="3013"/>
                  </a:lnTo>
                  <a:lnTo>
                    <a:pt x="14699" y="1795"/>
                  </a:lnTo>
                  <a:lnTo>
                    <a:pt x="17617" y="595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595"/>
                  </a:lnTo>
                  <a:lnTo>
                    <a:pt x="6452774" y="1795"/>
                  </a:lnTo>
                  <a:lnTo>
                    <a:pt x="6455691" y="3013"/>
                  </a:lnTo>
                  <a:lnTo>
                    <a:pt x="6458266" y="4734"/>
                  </a:lnTo>
                  <a:lnTo>
                    <a:pt x="6460499" y="6966"/>
                  </a:lnTo>
                  <a:lnTo>
                    <a:pt x="6462732" y="9189"/>
                  </a:lnTo>
                  <a:lnTo>
                    <a:pt x="6467474" y="23812"/>
                  </a:lnTo>
                  <a:lnTo>
                    <a:pt x="6467474" y="2052637"/>
                  </a:lnTo>
                  <a:lnTo>
                    <a:pt x="6467473" y="2055791"/>
                  </a:lnTo>
                  <a:lnTo>
                    <a:pt x="6466869" y="2058822"/>
                  </a:lnTo>
                  <a:lnTo>
                    <a:pt x="6465661" y="2061734"/>
                  </a:lnTo>
                  <a:lnTo>
                    <a:pt x="6464453" y="2064655"/>
                  </a:lnTo>
                  <a:lnTo>
                    <a:pt x="6443662" y="2076449"/>
                  </a:lnTo>
                  <a:lnTo>
                    <a:pt x="23812" y="2076449"/>
                  </a:lnTo>
                  <a:lnTo>
                    <a:pt x="1812" y="2061734"/>
                  </a:lnTo>
                  <a:lnTo>
                    <a:pt x="604" y="2058822"/>
                  </a:lnTo>
                  <a:lnTo>
                    <a:pt x="0" y="2055791"/>
                  </a:lnTo>
                  <a:lnTo>
                    <a:pt x="0" y="2052637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581274"/>
              <a:ext cx="34925" cy="1587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5952" y="2581274"/>
              <a:ext cx="34925" cy="15875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762249"/>
              <a:ext cx="34925" cy="1587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9098" y="2762249"/>
              <a:ext cx="34925" cy="1587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2943224"/>
              <a:ext cx="34925" cy="1587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9098" y="2943224"/>
              <a:ext cx="34925" cy="1587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3124199"/>
              <a:ext cx="34925" cy="15875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2465" y="3124199"/>
              <a:ext cx="34925" cy="1587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3305174"/>
              <a:ext cx="34925" cy="15875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5782" y="3305174"/>
              <a:ext cx="34925" cy="15875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3486149"/>
              <a:ext cx="34925" cy="15875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9098" y="3486149"/>
              <a:ext cx="34925" cy="15875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3667124"/>
              <a:ext cx="34925" cy="15875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5952" y="3667124"/>
              <a:ext cx="34925" cy="158750"/>
            </a:xfrm>
            <a:prstGeom prst="rect">
              <a:avLst/>
            </a:prstGeom>
          </p:spPr>
        </p:pic>
      </p:grpSp>
      <p:sp>
        <p:nvSpPr>
          <p:cNvPr id="25" name="object 25" descr=""/>
          <p:cNvSpPr/>
          <p:nvPr/>
        </p:nvSpPr>
        <p:spPr>
          <a:xfrm>
            <a:off x="546099" y="4791070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761999" y="499744"/>
            <a:ext cx="2251710" cy="3873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265"/>
              </a:spcBef>
              <a:buFont typeface="Segoe UI Symbol"/>
              <a:buChar char="✓"/>
              <a:tabLst>
                <a:tab pos="18542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Постгарантийное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обслуживание</a:t>
            </a:r>
            <a:endParaRPr sz="1050">
              <a:latin typeface="Consolas"/>
              <a:cs typeface="Consolas"/>
            </a:endParaRPr>
          </a:p>
          <a:p>
            <a:pPr marL="185420" indent="-172720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185420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Накопительные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скидки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765174" y="620076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65174" y="64103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8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765174" y="661987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765174" y="682942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765174" y="760094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765174" y="781049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765174" y="802004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765174" y="822959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765174" y="90011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765174" y="921066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765174" y="94202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765174" y="962976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533399" y="1263650"/>
            <a:ext cx="5240020" cy="8867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latin typeface="Segoe UI"/>
                <a:cs typeface="Segoe UI"/>
              </a:rPr>
              <a:t>Результат:</a:t>
            </a:r>
            <a:r>
              <a:rPr dirty="0" sz="1050" spc="-20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Выгодное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долгосрочное</a:t>
            </a:r>
            <a:r>
              <a:rPr dirty="0" sz="1050" spc="-10">
                <a:latin typeface="Segoe UI"/>
                <a:cs typeface="Segoe UI"/>
              </a:rPr>
              <a:t> сотрудничество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105">
                <a:latin typeface="Segoe UI Emoji"/>
                <a:cs typeface="Segoe UI Emoji"/>
              </a:rPr>
              <a:t>🏆</a:t>
            </a:r>
            <a:r>
              <a:rPr dirty="0" sz="1200" spc="35">
                <a:latin typeface="Segoe UI Emoji"/>
                <a:cs typeface="Segoe UI Emoji"/>
              </a:rPr>
              <a:t> </a:t>
            </a:r>
            <a:r>
              <a:rPr dirty="0" sz="1200" b="1">
                <a:latin typeface="Segoe UI"/>
                <a:cs typeface="Segoe UI"/>
              </a:rPr>
              <a:t>НАШЕ</a:t>
            </a:r>
            <a:r>
              <a:rPr dirty="0" sz="1200" spc="3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ГЛАВНОЕ</a:t>
            </a:r>
            <a:r>
              <a:rPr dirty="0" sz="1200" spc="35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ПРЕИМУЩЕСТВО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2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╔══════════════════════════════════════════════════════════════════╗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534035">
              <a:lnSpc>
                <a:spcPct val="100000"/>
              </a:lnSpc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🏭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4 ПРОИЗВОДСТВЕННЫЕ ПЛОЩАДКИ В РАЗНЫХ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РЕГИОНАХ</a:t>
            </a:r>
            <a:endParaRPr sz="1050">
              <a:latin typeface="Consolas"/>
              <a:cs typeface="Consolas"/>
            </a:endParaRPr>
          </a:p>
          <a:p>
            <a:pPr marL="534035">
              <a:lnSpc>
                <a:spcPct val="100000"/>
              </a:lnSpc>
              <a:spcBef>
                <a:spcPts val="165"/>
              </a:spcBef>
            </a:pPr>
            <a:r>
              <a:rPr dirty="0" sz="1050" spc="65">
                <a:solidFill>
                  <a:srgbClr val="4D4D4B"/>
                </a:solidFill>
                <a:latin typeface="Segoe UI Emoji"/>
                <a:cs typeface="Segoe UI Emoji"/>
              </a:rPr>
              <a:t>📐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15 000+ М²</a:t>
            </a:r>
            <a:r>
              <a:rPr dirty="0" sz="1050" spc="5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ПРОИЗВОДСТВЕННЫХ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ПЛОЩАДЕЙ</a:t>
            </a:r>
            <a:endParaRPr sz="1050">
              <a:latin typeface="Consolas"/>
              <a:cs typeface="Consolas"/>
            </a:endParaRPr>
          </a:p>
          <a:p>
            <a:pPr marL="534035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🏗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МОСТОВОЙ КРАН 160 ТОНН - ОБРАБОТКА ДЕТАЛЕЙ ДО 150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ТОНН</a:t>
            </a:r>
            <a:endParaRPr sz="1050">
              <a:latin typeface="Consolas"/>
              <a:cs typeface="Consolas"/>
            </a:endParaRPr>
          </a:p>
          <a:p>
            <a:pPr marL="534035">
              <a:lnSpc>
                <a:spcPct val="100000"/>
              </a:lnSpc>
              <a:spcBef>
                <a:spcPts val="165"/>
              </a:spcBef>
            </a:pPr>
            <a:r>
              <a:rPr dirty="0" sz="1050" spc="380">
                <a:solidFill>
                  <a:srgbClr val="4D4D4B"/>
                </a:solidFill>
                <a:latin typeface="Segoe UI Emoji"/>
                <a:cs typeface="Segoe UI Emoji"/>
              </a:rPr>
              <a:t>  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60+</a:t>
            </a:r>
            <a:r>
              <a:rPr dirty="0" sz="1050" spc="10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КВАЛИФИЦИРОВАННЫХ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СПЕЦИАЛИСТОВ</a:t>
            </a:r>
            <a:endParaRPr sz="1050">
              <a:latin typeface="Consolas"/>
              <a:cs typeface="Consolas"/>
            </a:endParaRPr>
          </a:p>
          <a:p>
            <a:pPr marL="534035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⚙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СОБСТВЕННЫЙ ПАРК СОВРЕМЕННОГО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ОБОРУДОВАНИЯ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╚══════════════════════════════════════════════════════════════════╝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Segoe UI"/>
                <a:cs typeface="Segoe UI"/>
              </a:rPr>
              <a:t>МЫ</a:t>
            </a:r>
            <a:r>
              <a:rPr dirty="0" sz="1200" spc="3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МОЖЕМ</a:t>
            </a:r>
            <a:r>
              <a:rPr dirty="0" sz="1200" spc="4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ТО,</a:t>
            </a:r>
            <a:r>
              <a:rPr dirty="0" sz="1200" spc="4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ЧТО</a:t>
            </a:r>
            <a:r>
              <a:rPr dirty="0" sz="1200" spc="4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НЕ</a:t>
            </a:r>
            <a:r>
              <a:rPr dirty="0" sz="1200" spc="3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МОГУТ</a:t>
            </a:r>
            <a:r>
              <a:rPr dirty="0" sz="1200" spc="40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ДРУГИЕ!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13:</a:t>
            </a:r>
            <a:r>
              <a:rPr dirty="0" sz="1550" spc="5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Портфолио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работ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200">
                <a:latin typeface="Segoe UI"/>
                <a:cs typeface="Segoe UI"/>
              </a:rPr>
              <a:t>Примеры</a:t>
            </a:r>
            <a:r>
              <a:rPr dirty="0" sz="1200" spc="14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реализованных</a:t>
            </a:r>
            <a:r>
              <a:rPr dirty="0" sz="1200" spc="14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проектов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1150" spc="770">
                <a:latin typeface="Arial MT"/>
                <a:cs typeface="Arial MT"/>
              </a:rPr>
              <a:t>🏗</a:t>
            </a:r>
            <a:r>
              <a:rPr dirty="0" sz="1150" spc="-45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Судостроительная</a:t>
            </a:r>
            <a:r>
              <a:rPr dirty="0" sz="1050" spc="-30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промышленность: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Segoe UI"/>
              <a:cs typeface="Segoe UI"/>
            </a:endParaRPr>
          </a:p>
          <a:p>
            <a:pPr marL="393065" marR="938530">
              <a:lnSpc>
                <a:spcPct val="131000"/>
              </a:lnSpc>
              <a:spcBef>
                <a:spcPts val="5"/>
              </a:spcBef>
            </a:pPr>
            <a:r>
              <a:rPr dirty="0" sz="1050">
                <a:latin typeface="Segoe UI"/>
                <a:cs typeface="Segoe UI"/>
              </a:rPr>
              <a:t>Ремонт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модернизация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токарных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станков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больших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диаметров </a:t>
            </a:r>
            <a:r>
              <a:rPr dirty="0" sz="1050">
                <a:latin typeface="Segoe UI"/>
                <a:cs typeface="Segoe UI"/>
              </a:rPr>
              <a:t>Изготовление крупногабаритных </a:t>
            </a:r>
            <a:r>
              <a:rPr dirty="0" sz="1050" spc="-10">
                <a:latin typeface="Segoe UI"/>
                <a:cs typeface="Segoe UI"/>
              </a:rPr>
              <a:t>валов</a:t>
            </a:r>
            <a:endParaRPr sz="1050">
              <a:latin typeface="Segoe UI"/>
              <a:cs typeface="Segoe UI"/>
            </a:endParaRPr>
          </a:p>
          <a:p>
            <a:pPr marL="393065" marR="1978660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Производство специализированных </a:t>
            </a:r>
            <a:r>
              <a:rPr dirty="0" sz="1050" spc="-10">
                <a:latin typeface="Segoe UI"/>
                <a:cs typeface="Segoe UI"/>
              </a:rPr>
              <a:t>шестерен </a:t>
            </a:r>
            <a:r>
              <a:rPr dirty="0" sz="1050">
                <a:latin typeface="Segoe UI"/>
                <a:cs typeface="Segoe UI"/>
              </a:rPr>
              <a:t>Восстановление уникального </a:t>
            </a:r>
            <a:r>
              <a:rPr dirty="0" sz="1050" spc="-10">
                <a:latin typeface="Segoe UI"/>
                <a:cs typeface="Segoe UI"/>
              </a:rPr>
              <a:t>оборудования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150" spc="250">
                <a:latin typeface="Arial MT"/>
                <a:cs typeface="Arial MT"/>
              </a:rPr>
              <a:t>🏭</a:t>
            </a:r>
            <a:r>
              <a:rPr dirty="0" sz="1150" spc="375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Металлургия и </a:t>
            </a:r>
            <a:r>
              <a:rPr dirty="0" sz="1050" spc="-10" b="1">
                <a:latin typeface="Segoe UI"/>
                <a:cs typeface="Segoe UI"/>
              </a:rPr>
              <a:t>машиностроение: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Segoe UI"/>
              <a:cs typeface="Segoe UI"/>
            </a:endParaRPr>
          </a:p>
          <a:p>
            <a:pPr marL="393065" marR="1876425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Капитальный ремонт прессового </a:t>
            </a:r>
            <a:r>
              <a:rPr dirty="0" sz="1050" spc="-10">
                <a:latin typeface="Segoe UI"/>
                <a:cs typeface="Segoe UI"/>
              </a:rPr>
              <a:t>оборудования </a:t>
            </a:r>
            <a:r>
              <a:rPr dirty="0" sz="1050">
                <a:latin typeface="Segoe UI"/>
                <a:cs typeface="Segoe UI"/>
              </a:rPr>
              <a:t>Модернизация фрезерных </a:t>
            </a:r>
            <a:r>
              <a:rPr dirty="0" sz="1050" spc="-10">
                <a:latin typeface="Segoe UI"/>
                <a:cs typeface="Segoe UI"/>
              </a:rPr>
              <a:t>станков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Изготовление нестандартных деталей по </a:t>
            </a:r>
            <a:r>
              <a:rPr dirty="0" sz="1050" spc="-10">
                <a:latin typeface="Segoe UI"/>
                <a:cs typeface="Segoe UI"/>
              </a:rPr>
              <a:t>чертежам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Комплексное оснащение производственных </a:t>
            </a:r>
            <a:r>
              <a:rPr dirty="0" sz="1050" spc="-10">
                <a:latin typeface="Segoe UI"/>
                <a:cs typeface="Segoe UI"/>
              </a:rPr>
              <a:t>участков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110">
                <a:latin typeface="Segoe UI Symbol"/>
                <a:cs typeface="Segoe UI Symbol"/>
              </a:rPr>
              <a:t>⚙</a:t>
            </a:r>
            <a:r>
              <a:rPr dirty="0" sz="1200" spc="290">
                <a:latin typeface="Segoe UI Symbol"/>
                <a:cs typeface="Segoe UI Symbol"/>
              </a:rPr>
              <a:t> </a:t>
            </a:r>
            <a:r>
              <a:rPr dirty="0" sz="1050" b="1">
                <a:latin typeface="Segoe UI"/>
                <a:cs typeface="Segoe UI"/>
              </a:rPr>
              <a:t>Специальные </a:t>
            </a:r>
            <a:r>
              <a:rPr dirty="0" sz="1050" spc="-10" b="1">
                <a:latin typeface="Segoe UI"/>
                <a:cs typeface="Segoe UI"/>
              </a:rPr>
              <a:t>проекты: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 marL="393065" marR="437515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Изготовление</a:t>
            </a:r>
            <a:r>
              <a:rPr dirty="0" sz="1050" spc="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револьверных</a:t>
            </a:r>
            <a:r>
              <a:rPr dirty="0" sz="1050" spc="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головок</a:t>
            </a:r>
            <a:r>
              <a:rPr dirty="0" sz="1050" spc="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под</a:t>
            </a:r>
            <a:r>
              <a:rPr dirty="0" sz="1050" spc="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индивидуальные</a:t>
            </a:r>
            <a:r>
              <a:rPr dirty="0" sz="1050" spc="1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требования </a:t>
            </a:r>
            <a:r>
              <a:rPr dirty="0" sz="1050">
                <a:latin typeface="Segoe UI"/>
                <a:cs typeface="Segoe UI"/>
              </a:rPr>
              <a:t>Производство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зубчатых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передач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повышенной</a:t>
            </a:r>
            <a:r>
              <a:rPr dirty="0" sz="1050" spc="-10">
                <a:latin typeface="Segoe UI"/>
                <a:cs typeface="Segoe UI"/>
              </a:rPr>
              <a:t> точности</a:t>
            </a:r>
            <a:endParaRPr sz="1050">
              <a:latin typeface="Segoe UI"/>
              <a:cs typeface="Segoe UI"/>
            </a:endParaRPr>
          </a:p>
          <a:p>
            <a:pPr marL="393065" marR="1969770">
              <a:lnSpc>
                <a:spcPct val="131000"/>
              </a:lnSpc>
            </a:pPr>
            <a:r>
              <a:rPr dirty="0" sz="1050">
                <a:latin typeface="Segoe UI"/>
                <a:cs typeface="Segoe UI"/>
              </a:rPr>
              <a:t>Восстановление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станков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50-70х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годов</a:t>
            </a:r>
            <a:r>
              <a:rPr dirty="0" sz="1050" spc="-10">
                <a:latin typeface="Segoe UI"/>
                <a:cs typeface="Segoe UI"/>
              </a:rPr>
              <a:t> выпуска </a:t>
            </a:r>
            <a:r>
              <a:rPr dirty="0" sz="1050">
                <a:latin typeface="Segoe UI"/>
                <a:cs typeface="Segoe UI"/>
              </a:rPr>
              <a:t>Модернизация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станков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установкой</a:t>
            </a:r>
            <a:r>
              <a:rPr dirty="0" sz="1050" spc="-25">
                <a:latin typeface="Segoe UI"/>
                <a:cs typeface="Segoe UI"/>
              </a:rPr>
              <a:t> ЧПУ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Segoe UI Emoji"/>
                <a:cs typeface="Segoe UI Emoji"/>
              </a:rPr>
              <a:t>📸</a:t>
            </a:r>
            <a:r>
              <a:rPr dirty="0" sz="1200" spc="100">
                <a:latin typeface="Segoe UI Emoji"/>
                <a:cs typeface="Segoe UI Emoji"/>
              </a:rPr>
              <a:t> </a:t>
            </a:r>
            <a:r>
              <a:rPr dirty="0" sz="1200">
                <a:latin typeface="Segoe UI"/>
                <a:cs typeface="Segoe UI"/>
              </a:rPr>
              <a:t>Фотогалерея</a:t>
            </a:r>
            <a:r>
              <a:rPr dirty="0" sz="1200" spc="10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оборудования</a:t>
            </a:r>
            <a:r>
              <a:rPr dirty="0" sz="1200" spc="10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и</a:t>
            </a:r>
            <a:r>
              <a:rPr dirty="0" sz="1200" spc="1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выполненных</a:t>
            </a:r>
            <a:r>
              <a:rPr dirty="0" sz="1200" spc="10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работ: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0" name="object 4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46099" y="895345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46099" y="6238869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46099" y="7200894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6476999" y="9524"/>
                </a:moveTo>
                <a:lnTo>
                  <a:pt x="0" y="9524"/>
                </a:lnTo>
                <a:lnTo>
                  <a:pt x="0" y="0"/>
                </a:lnTo>
                <a:lnTo>
                  <a:pt x="6476999" y="0"/>
                </a:lnTo>
                <a:lnTo>
                  <a:pt x="64769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46099" y="7410444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546099" y="8115294"/>
            <a:ext cx="6477000" cy="1905000"/>
            <a:chOff x="546099" y="8115294"/>
            <a:chExt cx="6477000" cy="1905000"/>
          </a:xfrm>
        </p:grpSpPr>
        <p:sp>
          <p:nvSpPr>
            <p:cNvPr id="9" name="object 9" descr=""/>
            <p:cNvSpPr/>
            <p:nvPr/>
          </p:nvSpPr>
          <p:spPr>
            <a:xfrm>
              <a:off x="550862" y="8120057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6446819" y="1895465"/>
                  </a:moveTo>
                  <a:lnTo>
                    <a:pt x="20654" y="1895465"/>
                  </a:lnTo>
                  <a:lnTo>
                    <a:pt x="17617" y="1894851"/>
                  </a:lnTo>
                  <a:lnTo>
                    <a:pt x="0" y="1874816"/>
                  </a:lnTo>
                  <a:lnTo>
                    <a:pt x="0" y="1871662"/>
                  </a:lnTo>
                  <a:lnTo>
                    <a:pt x="0" y="2064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40"/>
                  </a:lnTo>
                  <a:lnTo>
                    <a:pt x="6467473" y="1874816"/>
                  </a:lnTo>
                  <a:lnTo>
                    <a:pt x="6449856" y="1894851"/>
                  </a:lnTo>
                  <a:lnTo>
                    <a:pt x="6446819" y="1895465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50862" y="8120057"/>
              <a:ext cx="6467475" cy="1895475"/>
            </a:xfrm>
            <a:custGeom>
              <a:avLst/>
              <a:gdLst/>
              <a:ahLst/>
              <a:cxnLst/>
              <a:rect l="l" t="t" r="r" b="b"/>
              <a:pathLst>
                <a:path w="6467475" h="1895475">
                  <a:moveTo>
                    <a:pt x="0" y="1871662"/>
                  </a:moveTo>
                  <a:lnTo>
                    <a:pt x="0" y="23812"/>
                  </a:lnTo>
                  <a:lnTo>
                    <a:pt x="0" y="20640"/>
                  </a:lnTo>
                  <a:lnTo>
                    <a:pt x="604" y="17599"/>
                  </a:lnTo>
                  <a:lnTo>
                    <a:pt x="1812" y="14678"/>
                  </a:lnTo>
                  <a:lnTo>
                    <a:pt x="3021" y="11767"/>
                  </a:lnTo>
                  <a:lnTo>
                    <a:pt x="4741" y="9189"/>
                  </a:lnTo>
                  <a:lnTo>
                    <a:pt x="6974" y="6966"/>
                  </a:lnTo>
                  <a:lnTo>
                    <a:pt x="9207" y="4734"/>
                  </a:lnTo>
                  <a:lnTo>
                    <a:pt x="11782" y="3013"/>
                  </a:lnTo>
                  <a:lnTo>
                    <a:pt x="14699" y="1804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04"/>
                  </a:lnTo>
                  <a:lnTo>
                    <a:pt x="6455691" y="3013"/>
                  </a:lnTo>
                  <a:lnTo>
                    <a:pt x="6458266" y="4734"/>
                  </a:lnTo>
                  <a:lnTo>
                    <a:pt x="6460499" y="6966"/>
                  </a:lnTo>
                  <a:lnTo>
                    <a:pt x="6462732" y="9189"/>
                  </a:lnTo>
                  <a:lnTo>
                    <a:pt x="6467474" y="23812"/>
                  </a:lnTo>
                  <a:lnTo>
                    <a:pt x="6467474" y="1871662"/>
                  </a:lnTo>
                  <a:lnTo>
                    <a:pt x="6452774" y="1893632"/>
                  </a:lnTo>
                  <a:lnTo>
                    <a:pt x="6449856" y="1894851"/>
                  </a:lnTo>
                  <a:lnTo>
                    <a:pt x="6446819" y="1895465"/>
                  </a:lnTo>
                  <a:lnTo>
                    <a:pt x="6443662" y="1895474"/>
                  </a:lnTo>
                  <a:lnTo>
                    <a:pt x="23812" y="1895474"/>
                  </a:lnTo>
                  <a:lnTo>
                    <a:pt x="20654" y="1895465"/>
                  </a:lnTo>
                  <a:lnTo>
                    <a:pt x="17617" y="1894851"/>
                  </a:lnTo>
                  <a:lnTo>
                    <a:pt x="14699" y="1893632"/>
                  </a:lnTo>
                  <a:lnTo>
                    <a:pt x="11782" y="1892423"/>
                  </a:lnTo>
                  <a:lnTo>
                    <a:pt x="0" y="1874816"/>
                  </a:lnTo>
                  <a:lnTo>
                    <a:pt x="0" y="187166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8534399"/>
              <a:ext cx="34925" cy="1587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6458" y="8534399"/>
              <a:ext cx="34925" cy="15875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8715374"/>
              <a:ext cx="34925" cy="1587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9605" y="8715374"/>
              <a:ext cx="34925" cy="1587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8896349"/>
              <a:ext cx="34925" cy="1587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9605" y="8896349"/>
              <a:ext cx="34925" cy="1587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077324"/>
              <a:ext cx="34925" cy="15875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9605" y="9077324"/>
              <a:ext cx="34925" cy="1587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258299"/>
              <a:ext cx="34925" cy="15875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9605" y="9258299"/>
              <a:ext cx="34925" cy="15875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9439274"/>
              <a:ext cx="34925" cy="15875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6458" y="9439274"/>
              <a:ext cx="34925" cy="158750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765174" y="230504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765174" y="251459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765174" y="272414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765174" y="293369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765174" y="314324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65174" y="391476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765174" y="41243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765174" y="433386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765174" y="45434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765174" y="532446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765174" y="55340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765174" y="574356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765174" y="595311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533399" y="539750"/>
            <a:ext cx="6189980" cy="552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latin typeface="Segoe UI"/>
                <a:cs typeface="Segoe UI"/>
              </a:rPr>
              <a:t>[Место</a:t>
            </a:r>
            <a:r>
              <a:rPr dirty="0" sz="1050" spc="-25" i="1">
                <a:latin typeface="Segoe UI"/>
                <a:cs typeface="Segoe UI"/>
              </a:rPr>
              <a:t> </a:t>
            </a:r>
            <a:r>
              <a:rPr dirty="0" sz="1050" i="1">
                <a:latin typeface="Segoe UI"/>
                <a:cs typeface="Segoe UI"/>
              </a:rPr>
              <a:t>для</a:t>
            </a:r>
            <a:r>
              <a:rPr dirty="0" sz="1050" spc="-25" i="1">
                <a:latin typeface="Segoe UI"/>
                <a:cs typeface="Segoe UI"/>
              </a:rPr>
              <a:t> </a:t>
            </a:r>
            <a:r>
              <a:rPr dirty="0" sz="1050" i="1">
                <a:latin typeface="Segoe UI"/>
                <a:cs typeface="Segoe UI"/>
              </a:rPr>
              <a:t>вставки</a:t>
            </a:r>
            <a:r>
              <a:rPr dirty="0" sz="1050" spc="-25" i="1">
                <a:latin typeface="Segoe UI"/>
                <a:cs typeface="Segoe UI"/>
              </a:rPr>
              <a:t> </a:t>
            </a:r>
            <a:r>
              <a:rPr dirty="0" sz="1050" i="1">
                <a:latin typeface="Segoe UI"/>
                <a:cs typeface="Segoe UI"/>
              </a:rPr>
              <a:t>фотографий</a:t>
            </a:r>
            <a:r>
              <a:rPr dirty="0" sz="1050" spc="-25" i="1">
                <a:latin typeface="Segoe UI"/>
                <a:cs typeface="Segoe UI"/>
              </a:rPr>
              <a:t> </a:t>
            </a:r>
            <a:r>
              <a:rPr dirty="0" sz="1050" i="1">
                <a:latin typeface="Segoe UI"/>
                <a:cs typeface="Segoe UI"/>
              </a:rPr>
              <a:t>производственных</a:t>
            </a:r>
            <a:r>
              <a:rPr dirty="0" sz="1050" spc="-20" i="1">
                <a:latin typeface="Segoe UI"/>
                <a:cs typeface="Segoe UI"/>
              </a:rPr>
              <a:t> </a:t>
            </a:r>
            <a:r>
              <a:rPr dirty="0" sz="1050" i="1">
                <a:latin typeface="Segoe UI"/>
                <a:cs typeface="Segoe UI"/>
              </a:rPr>
              <a:t>площадок,</a:t>
            </a:r>
            <a:r>
              <a:rPr dirty="0" sz="1050" spc="-25" i="1">
                <a:latin typeface="Segoe UI"/>
                <a:cs typeface="Segoe UI"/>
              </a:rPr>
              <a:t> </a:t>
            </a:r>
            <a:r>
              <a:rPr dirty="0" sz="1050" i="1">
                <a:latin typeface="Segoe UI"/>
                <a:cs typeface="Segoe UI"/>
              </a:rPr>
              <a:t>оборудования</a:t>
            </a:r>
            <a:r>
              <a:rPr dirty="0" sz="1050" spc="-25" i="1">
                <a:latin typeface="Segoe UI"/>
                <a:cs typeface="Segoe UI"/>
              </a:rPr>
              <a:t> </a:t>
            </a:r>
            <a:r>
              <a:rPr dirty="0" sz="1050" i="1">
                <a:latin typeface="Segoe UI"/>
                <a:cs typeface="Segoe UI"/>
              </a:rPr>
              <a:t>и</a:t>
            </a:r>
            <a:r>
              <a:rPr dirty="0" sz="1050" spc="-25" i="1">
                <a:latin typeface="Segoe UI"/>
                <a:cs typeface="Segoe UI"/>
              </a:rPr>
              <a:t> </a:t>
            </a:r>
            <a:r>
              <a:rPr dirty="0" sz="1050" i="1">
                <a:latin typeface="Segoe UI"/>
                <a:cs typeface="Segoe UI"/>
              </a:rPr>
              <a:t>готовых</a:t>
            </a:r>
            <a:r>
              <a:rPr dirty="0" sz="1050" spc="-20" i="1">
                <a:latin typeface="Segoe UI"/>
                <a:cs typeface="Segoe UI"/>
              </a:rPr>
              <a:t> </a:t>
            </a:r>
            <a:r>
              <a:rPr dirty="0" sz="1050" spc="-10" i="1">
                <a:latin typeface="Segoe UI"/>
                <a:cs typeface="Segoe UI"/>
              </a:rPr>
              <a:t>изделий]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14: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Сертификация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и</a:t>
            </a:r>
            <a:r>
              <a:rPr dirty="0" sz="1550" spc="50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партнеры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200">
                <a:latin typeface="Segoe UI"/>
                <a:cs typeface="Segoe UI"/>
              </a:rPr>
              <a:t>Официальные</a:t>
            </a:r>
            <a:r>
              <a:rPr dirty="0" sz="1200" spc="8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допуски</a:t>
            </a:r>
            <a:r>
              <a:rPr dirty="0" sz="1200" spc="8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и</a:t>
            </a:r>
            <a:r>
              <a:rPr dirty="0" sz="1200" spc="8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партнерства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spc="300">
                <a:latin typeface="Arial MT"/>
                <a:cs typeface="Arial MT"/>
              </a:rPr>
              <a:t>📜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050" b="1">
                <a:latin typeface="Segoe UI"/>
                <a:cs typeface="Segoe UI"/>
              </a:rPr>
              <a:t>Наши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сертификаты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и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допуски: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2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Сертификаты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соответствия</a:t>
            </a:r>
            <a:r>
              <a:rPr dirty="0" sz="1050" spc="-20">
                <a:latin typeface="Segoe UI"/>
                <a:cs typeface="Segoe UI"/>
              </a:rPr>
              <a:t> ГОСТ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2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Сертификаты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ISO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(система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менеджмента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качества)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10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Допуск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к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работам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на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режимных</a:t>
            </a:r>
            <a:r>
              <a:rPr dirty="0" sz="1050" spc="-10">
                <a:latin typeface="Segoe UI"/>
                <a:cs typeface="Segoe UI"/>
              </a:rPr>
              <a:t> объектах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</a:t>
            </a:r>
            <a:r>
              <a:rPr dirty="0" sz="1050" spc="-10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Допуск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к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работе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объектами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гособоронзаказа</a:t>
            </a:r>
            <a:r>
              <a:rPr dirty="0" sz="1050" spc="-10">
                <a:latin typeface="Segoe UI"/>
                <a:cs typeface="Segoe UI"/>
              </a:rPr>
              <a:t> (ГПЗ)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✅ </a:t>
            </a:r>
            <a:r>
              <a:rPr dirty="0" sz="1050">
                <a:latin typeface="Segoe UI"/>
                <a:cs typeface="Segoe UI"/>
              </a:rPr>
              <a:t>Лицензии на производство специализированной </a:t>
            </a:r>
            <a:r>
              <a:rPr dirty="0" sz="1050" spc="-10">
                <a:latin typeface="Segoe UI"/>
                <a:cs typeface="Segoe UI"/>
              </a:rPr>
              <a:t>продукции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spc="2590">
                <a:latin typeface="Microsoft Sans Serif"/>
                <a:cs typeface="Microsoft Sans Serif"/>
              </a:rPr>
              <a:t>🤝</a:t>
            </a:r>
            <a:r>
              <a:rPr dirty="0" sz="1200" spc="295">
                <a:latin typeface="Microsoft Sans Serif"/>
                <a:cs typeface="Microsoft Sans Serif"/>
              </a:rPr>
              <a:t> </a:t>
            </a:r>
            <a:r>
              <a:rPr dirty="0" sz="1050" b="1">
                <a:latin typeface="Segoe UI"/>
                <a:cs typeface="Segoe UI"/>
              </a:rPr>
              <a:t>Партнерские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отношения: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 b="1">
                <a:latin typeface="Segoe UI"/>
                <a:cs typeface="Segoe UI"/>
              </a:rPr>
              <a:t>ОАО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«Тяжмехпресс»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(Воронеж)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 совместное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использование производственных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мощностей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spc="-10" b="1">
                <a:latin typeface="Segoe UI"/>
                <a:cs typeface="Segoe UI"/>
              </a:rPr>
              <a:t>Заводы-</a:t>
            </a:r>
            <a:r>
              <a:rPr dirty="0" sz="1050" b="1">
                <a:latin typeface="Segoe UI"/>
                <a:cs typeface="Segoe UI"/>
              </a:rPr>
              <a:t>производители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станочного </a:t>
            </a:r>
            <a:r>
              <a:rPr dirty="0" sz="1050" spc="-10">
                <a:latin typeface="Segoe UI"/>
                <a:cs typeface="Segoe UI"/>
              </a:rPr>
              <a:t>оборудования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b="1">
                <a:latin typeface="Segoe UI"/>
                <a:cs typeface="Segoe UI"/>
              </a:rPr>
              <a:t>Поставщики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материалов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прямые </a:t>
            </a:r>
            <a:r>
              <a:rPr dirty="0" sz="1050" spc="-10">
                <a:latin typeface="Segoe UI"/>
                <a:cs typeface="Segoe UI"/>
              </a:rPr>
              <a:t>контракты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 b="1">
                <a:latin typeface="Segoe UI"/>
                <a:cs typeface="Segoe UI"/>
              </a:rPr>
              <a:t>Конструкторские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бюро</a:t>
            </a:r>
            <a:r>
              <a:rPr dirty="0" sz="1050" spc="-10" b="1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–</a:t>
            </a:r>
            <a:r>
              <a:rPr dirty="0" sz="1050" spc="-1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совместная</a:t>
            </a:r>
            <a:r>
              <a:rPr dirty="0" sz="1050" spc="-5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разработка</a:t>
            </a:r>
            <a:r>
              <a:rPr dirty="0" sz="1050" spc="-10">
                <a:latin typeface="Segoe UI"/>
                <a:cs typeface="Segoe UI"/>
              </a:rPr>
              <a:t> решений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Arial MT"/>
                <a:cs typeface="Arial MT"/>
              </a:rPr>
              <a:t>🏆</a:t>
            </a:r>
            <a:r>
              <a:rPr dirty="0" sz="1150" spc="85">
                <a:latin typeface="Arial MT"/>
                <a:cs typeface="Arial MT"/>
              </a:rPr>
              <a:t>  </a:t>
            </a:r>
            <a:r>
              <a:rPr dirty="0" sz="1050" b="1">
                <a:latin typeface="Segoe UI"/>
                <a:cs typeface="Segoe UI"/>
              </a:rPr>
              <a:t>Рекомендации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spc="-25" b="1">
                <a:latin typeface="Segoe UI"/>
                <a:cs typeface="Segoe UI"/>
              </a:rPr>
              <a:t>от: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</a:pPr>
            <a:r>
              <a:rPr dirty="0" sz="1050">
                <a:latin typeface="Segoe UI Emoji"/>
                <a:cs typeface="Segoe UI Emoji"/>
              </a:rPr>
              <a:t>🏢 </a:t>
            </a:r>
            <a:r>
              <a:rPr dirty="0" sz="1050">
                <a:latin typeface="Segoe UI"/>
                <a:cs typeface="Segoe UI"/>
              </a:rPr>
              <a:t>Корпорация </a:t>
            </a:r>
            <a:r>
              <a:rPr dirty="0" sz="1050" spc="-10">
                <a:latin typeface="Segoe UI"/>
                <a:cs typeface="Segoe UI"/>
              </a:rPr>
              <a:t>"Звездочка"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🏢 </a:t>
            </a:r>
            <a:r>
              <a:rPr dirty="0" sz="1050">
                <a:latin typeface="Segoe UI"/>
                <a:cs typeface="Segoe UI"/>
              </a:rPr>
              <a:t>ПАО </a:t>
            </a:r>
            <a:r>
              <a:rPr dirty="0" sz="1050" spc="-10">
                <a:latin typeface="Segoe UI"/>
                <a:cs typeface="Segoe UI"/>
              </a:rPr>
              <a:t>"Севмаш"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🏢</a:t>
            </a:r>
            <a:r>
              <a:rPr dirty="0" sz="1050" spc="-20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АО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"Уральская</a:t>
            </a:r>
            <a:r>
              <a:rPr dirty="0" sz="1050" spc="-1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Сталь"</a:t>
            </a:r>
            <a:endParaRPr sz="1050">
              <a:latin typeface="Segoe UI"/>
              <a:cs typeface="Segoe UI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 Emoji"/>
                <a:cs typeface="Segoe UI Emoji"/>
              </a:rPr>
              <a:t>🏢</a:t>
            </a:r>
            <a:r>
              <a:rPr dirty="0" sz="1050" spc="-25">
                <a:latin typeface="Segoe UI Emoji"/>
                <a:cs typeface="Segoe UI Emoji"/>
              </a:rPr>
              <a:t> </a:t>
            </a:r>
            <a:r>
              <a:rPr dirty="0" sz="1050">
                <a:latin typeface="Segoe UI"/>
                <a:cs typeface="Segoe UI"/>
              </a:rPr>
              <a:t>И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других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крупных</a:t>
            </a:r>
            <a:r>
              <a:rPr dirty="0" sz="1050" spc="-20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предприятий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9" name="object 3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  <p:sp>
        <p:nvSpPr>
          <p:cNvPr id="37" name="object 37" descr=""/>
          <p:cNvSpPr txBox="1"/>
          <p:nvPr/>
        </p:nvSpPr>
        <p:spPr>
          <a:xfrm>
            <a:off x="533399" y="6277609"/>
            <a:ext cx="4690110" cy="865505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550">
                <a:latin typeface="Segoe UI"/>
                <a:cs typeface="Segoe UI"/>
              </a:rPr>
              <a:t>Слайд</a:t>
            </a:r>
            <a:r>
              <a:rPr dirty="0" sz="1550" spc="4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15:</a:t>
            </a:r>
            <a:r>
              <a:rPr dirty="0" sz="1550" spc="4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Контакты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и</a:t>
            </a:r>
            <a:r>
              <a:rPr dirty="0" sz="1550" spc="40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готовность</a:t>
            </a:r>
            <a:r>
              <a:rPr dirty="0" sz="1550" spc="45">
                <a:latin typeface="Segoe UI"/>
                <a:cs typeface="Segoe UI"/>
              </a:rPr>
              <a:t> </a:t>
            </a:r>
            <a:r>
              <a:rPr dirty="0" sz="1550">
                <a:latin typeface="Segoe UI"/>
                <a:cs typeface="Segoe UI"/>
              </a:rPr>
              <a:t>к</a:t>
            </a:r>
            <a:r>
              <a:rPr dirty="0" sz="1550" spc="40">
                <a:latin typeface="Segoe UI"/>
                <a:cs typeface="Segoe UI"/>
              </a:rPr>
              <a:t> </a:t>
            </a:r>
            <a:r>
              <a:rPr dirty="0" sz="1550" spc="-10">
                <a:latin typeface="Segoe UI"/>
                <a:cs typeface="Segoe UI"/>
              </a:rPr>
              <a:t>сотрудничеству</a:t>
            </a:r>
            <a:endParaRPr sz="15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2100" spc="135">
                <a:latin typeface="Segoe UI Emoji"/>
                <a:cs typeface="Segoe UI Emoji"/>
              </a:rPr>
              <a:t>📞</a:t>
            </a:r>
            <a:r>
              <a:rPr dirty="0" sz="2100" spc="-25">
                <a:latin typeface="Segoe UI Emoji"/>
                <a:cs typeface="Segoe UI Emoji"/>
              </a:rPr>
              <a:t> </a:t>
            </a:r>
            <a:r>
              <a:rPr dirty="0" sz="2100">
                <a:latin typeface="Segoe UI"/>
                <a:cs typeface="Segoe UI"/>
              </a:rPr>
              <a:t>Свяжитесь</a:t>
            </a:r>
            <a:r>
              <a:rPr dirty="0" sz="2100" spc="-20">
                <a:latin typeface="Segoe UI"/>
                <a:cs typeface="Segoe UI"/>
              </a:rPr>
              <a:t> </a:t>
            </a:r>
            <a:r>
              <a:rPr dirty="0" sz="2100">
                <a:latin typeface="Segoe UI"/>
                <a:cs typeface="Segoe UI"/>
              </a:rPr>
              <a:t>с</a:t>
            </a:r>
            <a:r>
              <a:rPr dirty="0" sz="2100" spc="-25">
                <a:latin typeface="Segoe UI"/>
                <a:cs typeface="Segoe UI"/>
              </a:rPr>
              <a:t> </a:t>
            </a:r>
            <a:r>
              <a:rPr dirty="0" sz="2100">
                <a:latin typeface="Segoe UI"/>
                <a:cs typeface="Segoe UI"/>
              </a:rPr>
              <a:t>нами</a:t>
            </a:r>
            <a:r>
              <a:rPr dirty="0" sz="2100" spc="-20">
                <a:latin typeface="Segoe UI"/>
                <a:cs typeface="Segoe UI"/>
              </a:rPr>
              <a:t> </a:t>
            </a:r>
            <a:r>
              <a:rPr dirty="0" sz="2100">
                <a:latin typeface="Segoe UI"/>
                <a:cs typeface="Segoe UI"/>
              </a:rPr>
              <a:t>прямо</a:t>
            </a:r>
            <a:r>
              <a:rPr dirty="0" sz="2100" spc="-25">
                <a:latin typeface="Segoe UI"/>
                <a:cs typeface="Segoe UI"/>
              </a:rPr>
              <a:t> </a:t>
            </a:r>
            <a:r>
              <a:rPr dirty="0" sz="2100" spc="-10">
                <a:latin typeface="Segoe UI"/>
                <a:cs typeface="Segoe UI"/>
              </a:rPr>
              <a:t>сейчас!</a:t>
            </a:r>
            <a:endParaRPr sz="2100">
              <a:latin typeface="Segoe UI"/>
              <a:cs typeface="Segoe U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33399" y="7722895"/>
            <a:ext cx="3040380" cy="206057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00" spc="840">
                <a:latin typeface="Arial MT"/>
                <a:cs typeface="Arial MT"/>
              </a:rPr>
              <a:t>📧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КОНТАКТЫ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2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╔════════════════════════════════════╗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461009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📧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  <a:hlinkClick r:id="rId3"/>
              </a:rPr>
              <a:t>zakaz@tdrusstankosbyt.ru</a:t>
            </a:r>
            <a:endParaRPr sz="1050">
              <a:latin typeface="Consolas"/>
              <a:cs typeface="Consolas"/>
            </a:endParaRPr>
          </a:p>
          <a:p>
            <a:pPr marL="461009">
              <a:lnSpc>
                <a:spcPct val="100000"/>
              </a:lnSpc>
              <a:spcBef>
                <a:spcPts val="165"/>
              </a:spcBef>
            </a:pPr>
            <a:r>
              <a:rPr dirty="0" sz="1050" spc="470">
                <a:solidFill>
                  <a:srgbClr val="4D4D4B"/>
                </a:solidFill>
                <a:latin typeface="Segoe UI Emoji"/>
                <a:cs typeface="Segoe UI Emoji"/>
              </a:rPr>
              <a:t>📱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+7 (499) 390-85-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04</a:t>
            </a:r>
            <a:endParaRPr sz="1050">
              <a:latin typeface="Consolas"/>
              <a:cs typeface="Consolas"/>
            </a:endParaRPr>
          </a:p>
          <a:p>
            <a:pPr marL="461009">
              <a:lnSpc>
                <a:spcPct val="100000"/>
              </a:lnSpc>
              <a:spcBef>
                <a:spcPts val="165"/>
              </a:spcBef>
            </a:pPr>
            <a:r>
              <a:rPr dirty="0" sz="1050" spc="65">
                <a:solidFill>
                  <a:srgbClr val="4D4D4B"/>
                </a:solidFill>
                <a:latin typeface="Segoe UI Emoji"/>
                <a:cs typeface="Segoe UI Emoji"/>
              </a:rPr>
              <a:t>🌐</a:t>
            </a:r>
            <a:r>
              <a:rPr dirty="0" sz="1050" spc="290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tdrusstankosbyt.ru</a:t>
            </a:r>
            <a:endParaRPr sz="1050">
              <a:latin typeface="Consolas"/>
              <a:cs typeface="Consolas"/>
            </a:endParaRPr>
          </a:p>
          <a:p>
            <a:pPr marL="461009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💬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t.me/tdrusstankosbyt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5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7121" y="165100"/>
            <a:ext cx="15252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 MT"/>
                <a:cs typeface="Arial MT"/>
              </a:rPr>
              <a:t>Prezentacija_Zvezdochka.md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479183" y="165100"/>
            <a:ext cx="610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 MT"/>
                <a:cs typeface="Arial MT"/>
              </a:rPr>
              <a:t>2026-01-</a:t>
            </a:r>
            <a:r>
              <a:rPr dirty="0" sz="900" spc="-25">
                <a:latin typeface="Arial MT"/>
                <a:cs typeface="Arial MT"/>
              </a:rPr>
              <a:t>16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46099" y="2390769"/>
            <a:ext cx="6477000" cy="2628900"/>
            <a:chOff x="546099" y="2390769"/>
            <a:chExt cx="6477000" cy="2628900"/>
          </a:xfrm>
        </p:grpSpPr>
        <p:sp>
          <p:nvSpPr>
            <p:cNvPr id="5" name="object 5" descr=""/>
            <p:cNvSpPr/>
            <p:nvPr/>
          </p:nvSpPr>
          <p:spPr>
            <a:xfrm>
              <a:off x="550862" y="2395532"/>
              <a:ext cx="6467475" cy="2619375"/>
            </a:xfrm>
            <a:custGeom>
              <a:avLst/>
              <a:gdLst/>
              <a:ahLst/>
              <a:cxnLst/>
              <a:rect l="l" t="t" r="r" b="b"/>
              <a:pathLst>
                <a:path w="6467475" h="2619375">
                  <a:moveTo>
                    <a:pt x="6446819" y="2619365"/>
                  </a:moveTo>
                  <a:lnTo>
                    <a:pt x="20654" y="2619365"/>
                  </a:lnTo>
                  <a:lnTo>
                    <a:pt x="17617" y="2618760"/>
                  </a:lnTo>
                  <a:lnTo>
                    <a:pt x="0" y="2598716"/>
                  </a:lnTo>
                  <a:lnTo>
                    <a:pt x="0" y="2595562"/>
                  </a:lnTo>
                  <a:lnTo>
                    <a:pt x="0" y="2064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40"/>
                  </a:lnTo>
                  <a:lnTo>
                    <a:pt x="6467473" y="2598716"/>
                  </a:lnTo>
                  <a:lnTo>
                    <a:pt x="6449856" y="2618760"/>
                  </a:lnTo>
                  <a:lnTo>
                    <a:pt x="6446819" y="2619365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0862" y="2395532"/>
              <a:ext cx="6467475" cy="2619375"/>
            </a:xfrm>
            <a:custGeom>
              <a:avLst/>
              <a:gdLst/>
              <a:ahLst/>
              <a:cxnLst/>
              <a:rect l="l" t="t" r="r" b="b"/>
              <a:pathLst>
                <a:path w="6467475" h="2619375">
                  <a:moveTo>
                    <a:pt x="0" y="2595562"/>
                  </a:moveTo>
                  <a:lnTo>
                    <a:pt x="0" y="23812"/>
                  </a:lnTo>
                  <a:lnTo>
                    <a:pt x="0" y="20640"/>
                  </a:lnTo>
                  <a:lnTo>
                    <a:pt x="604" y="17599"/>
                  </a:lnTo>
                  <a:lnTo>
                    <a:pt x="1812" y="14678"/>
                  </a:lnTo>
                  <a:lnTo>
                    <a:pt x="3021" y="11767"/>
                  </a:lnTo>
                  <a:lnTo>
                    <a:pt x="4741" y="9189"/>
                  </a:lnTo>
                  <a:lnTo>
                    <a:pt x="6974" y="6966"/>
                  </a:lnTo>
                  <a:lnTo>
                    <a:pt x="9207" y="4725"/>
                  </a:lnTo>
                  <a:lnTo>
                    <a:pt x="11782" y="3004"/>
                  </a:lnTo>
                  <a:lnTo>
                    <a:pt x="14699" y="1795"/>
                  </a:lnTo>
                  <a:lnTo>
                    <a:pt x="17617" y="595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595"/>
                  </a:lnTo>
                  <a:lnTo>
                    <a:pt x="6452774" y="1795"/>
                  </a:lnTo>
                  <a:lnTo>
                    <a:pt x="6455691" y="3004"/>
                  </a:lnTo>
                  <a:lnTo>
                    <a:pt x="6458266" y="4725"/>
                  </a:lnTo>
                  <a:lnTo>
                    <a:pt x="6460499" y="6966"/>
                  </a:lnTo>
                  <a:lnTo>
                    <a:pt x="6462732" y="9189"/>
                  </a:lnTo>
                  <a:lnTo>
                    <a:pt x="6464453" y="11767"/>
                  </a:lnTo>
                  <a:lnTo>
                    <a:pt x="6465661" y="14687"/>
                  </a:lnTo>
                  <a:lnTo>
                    <a:pt x="6466869" y="17599"/>
                  </a:lnTo>
                  <a:lnTo>
                    <a:pt x="6467473" y="20640"/>
                  </a:lnTo>
                  <a:lnTo>
                    <a:pt x="6467474" y="23812"/>
                  </a:lnTo>
                  <a:lnTo>
                    <a:pt x="6467474" y="2595562"/>
                  </a:lnTo>
                  <a:lnTo>
                    <a:pt x="6467473" y="2598716"/>
                  </a:lnTo>
                  <a:lnTo>
                    <a:pt x="6466869" y="2601738"/>
                  </a:lnTo>
                  <a:lnTo>
                    <a:pt x="6465661" y="2604650"/>
                  </a:lnTo>
                  <a:lnTo>
                    <a:pt x="6464453" y="2607570"/>
                  </a:lnTo>
                  <a:lnTo>
                    <a:pt x="6452774" y="2617542"/>
                  </a:lnTo>
                  <a:lnTo>
                    <a:pt x="6449856" y="2618760"/>
                  </a:lnTo>
                  <a:lnTo>
                    <a:pt x="6446819" y="2619365"/>
                  </a:lnTo>
                  <a:lnTo>
                    <a:pt x="6443662" y="2619374"/>
                  </a:lnTo>
                  <a:lnTo>
                    <a:pt x="23812" y="2619374"/>
                  </a:lnTo>
                  <a:lnTo>
                    <a:pt x="20654" y="2619365"/>
                  </a:lnTo>
                  <a:lnTo>
                    <a:pt x="17617" y="2618760"/>
                  </a:lnTo>
                  <a:lnTo>
                    <a:pt x="14699" y="2617542"/>
                  </a:lnTo>
                  <a:lnTo>
                    <a:pt x="11782" y="2616333"/>
                  </a:lnTo>
                  <a:lnTo>
                    <a:pt x="1812" y="2604650"/>
                  </a:lnTo>
                  <a:lnTo>
                    <a:pt x="604" y="2601738"/>
                  </a:lnTo>
                  <a:lnTo>
                    <a:pt x="0" y="2598716"/>
                  </a:lnTo>
                  <a:lnTo>
                    <a:pt x="0" y="2595562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546099" y="5172069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46099" y="5762619"/>
            <a:ext cx="6477000" cy="9525"/>
          </a:xfrm>
          <a:custGeom>
            <a:avLst/>
            <a:gdLst/>
            <a:ahLst/>
            <a:cxnLst/>
            <a:rect l="l" t="t" r="r" b="b"/>
            <a:pathLst>
              <a:path w="6477000" h="9525">
                <a:moveTo>
                  <a:pt x="6476999" y="9524"/>
                </a:moveTo>
                <a:lnTo>
                  <a:pt x="0" y="9524"/>
                </a:lnTo>
                <a:lnTo>
                  <a:pt x="0" y="0"/>
                </a:lnTo>
                <a:lnTo>
                  <a:pt x="6476999" y="0"/>
                </a:lnTo>
                <a:lnTo>
                  <a:pt x="64769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46099" y="6334119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546099" y="6486519"/>
            <a:ext cx="6477000" cy="1724025"/>
            <a:chOff x="546099" y="6486519"/>
            <a:chExt cx="6477000" cy="1724025"/>
          </a:xfrm>
        </p:grpSpPr>
        <p:sp>
          <p:nvSpPr>
            <p:cNvPr id="11" name="object 11" descr=""/>
            <p:cNvSpPr/>
            <p:nvPr/>
          </p:nvSpPr>
          <p:spPr>
            <a:xfrm>
              <a:off x="550862" y="6491281"/>
              <a:ext cx="6467475" cy="1714500"/>
            </a:xfrm>
            <a:custGeom>
              <a:avLst/>
              <a:gdLst/>
              <a:ahLst/>
              <a:cxnLst/>
              <a:rect l="l" t="t" r="r" b="b"/>
              <a:pathLst>
                <a:path w="6467475" h="1714500">
                  <a:moveTo>
                    <a:pt x="6446819" y="1714490"/>
                  </a:moveTo>
                  <a:lnTo>
                    <a:pt x="20654" y="1714490"/>
                  </a:lnTo>
                  <a:lnTo>
                    <a:pt x="17617" y="1713885"/>
                  </a:lnTo>
                  <a:lnTo>
                    <a:pt x="0" y="1693831"/>
                  </a:lnTo>
                  <a:lnTo>
                    <a:pt x="0" y="1690687"/>
                  </a:lnTo>
                  <a:lnTo>
                    <a:pt x="0" y="20650"/>
                  </a:lnTo>
                  <a:lnTo>
                    <a:pt x="20654" y="0"/>
                  </a:lnTo>
                  <a:lnTo>
                    <a:pt x="6446819" y="0"/>
                  </a:lnTo>
                  <a:lnTo>
                    <a:pt x="6467473" y="20650"/>
                  </a:lnTo>
                  <a:lnTo>
                    <a:pt x="6467473" y="1693831"/>
                  </a:lnTo>
                  <a:lnTo>
                    <a:pt x="6449856" y="1713885"/>
                  </a:lnTo>
                  <a:lnTo>
                    <a:pt x="6446819" y="171449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50862" y="6491281"/>
              <a:ext cx="6467475" cy="1714500"/>
            </a:xfrm>
            <a:custGeom>
              <a:avLst/>
              <a:gdLst/>
              <a:ahLst/>
              <a:cxnLst/>
              <a:rect l="l" t="t" r="r" b="b"/>
              <a:pathLst>
                <a:path w="6467475" h="1714500">
                  <a:moveTo>
                    <a:pt x="0" y="1690687"/>
                  </a:moveTo>
                  <a:lnTo>
                    <a:pt x="0" y="23812"/>
                  </a:lnTo>
                  <a:lnTo>
                    <a:pt x="0" y="20650"/>
                  </a:lnTo>
                  <a:lnTo>
                    <a:pt x="604" y="17607"/>
                  </a:lnTo>
                  <a:lnTo>
                    <a:pt x="1812" y="14687"/>
                  </a:lnTo>
                  <a:lnTo>
                    <a:pt x="3021" y="11767"/>
                  </a:lnTo>
                  <a:lnTo>
                    <a:pt x="4741" y="9189"/>
                  </a:lnTo>
                  <a:lnTo>
                    <a:pt x="6974" y="6966"/>
                  </a:lnTo>
                  <a:lnTo>
                    <a:pt x="9207" y="4725"/>
                  </a:lnTo>
                  <a:lnTo>
                    <a:pt x="11782" y="3004"/>
                  </a:lnTo>
                  <a:lnTo>
                    <a:pt x="14699" y="1804"/>
                  </a:lnTo>
                  <a:lnTo>
                    <a:pt x="17617" y="604"/>
                  </a:lnTo>
                  <a:lnTo>
                    <a:pt x="20654" y="0"/>
                  </a:lnTo>
                  <a:lnTo>
                    <a:pt x="23812" y="0"/>
                  </a:lnTo>
                  <a:lnTo>
                    <a:pt x="6443662" y="0"/>
                  </a:lnTo>
                  <a:lnTo>
                    <a:pt x="6446819" y="0"/>
                  </a:lnTo>
                  <a:lnTo>
                    <a:pt x="6449856" y="604"/>
                  </a:lnTo>
                  <a:lnTo>
                    <a:pt x="6452774" y="1804"/>
                  </a:lnTo>
                  <a:lnTo>
                    <a:pt x="6455691" y="3004"/>
                  </a:lnTo>
                  <a:lnTo>
                    <a:pt x="6458266" y="4725"/>
                  </a:lnTo>
                  <a:lnTo>
                    <a:pt x="6460499" y="6966"/>
                  </a:lnTo>
                  <a:lnTo>
                    <a:pt x="6462732" y="9189"/>
                  </a:lnTo>
                  <a:lnTo>
                    <a:pt x="6467474" y="23812"/>
                  </a:lnTo>
                  <a:lnTo>
                    <a:pt x="6467474" y="1690687"/>
                  </a:lnTo>
                  <a:lnTo>
                    <a:pt x="6452774" y="1712667"/>
                  </a:lnTo>
                  <a:lnTo>
                    <a:pt x="6449856" y="1713885"/>
                  </a:lnTo>
                  <a:lnTo>
                    <a:pt x="6446819" y="1714490"/>
                  </a:lnTo>
                  <a:lnTo>
                    <a:pt x="6443662" y="1714499"/>
                  </a:lnTo>
                  <a:lnTo>
                    <a:pt x="23812" y="1714499"/>
                  </a:lnTo>
                  <a:lnTo>
                    <a:pt x="20654" y="1714490"/>
                  </a:lnTo>
                  <a:lnTo>
                    <a:pt x="17617" y="1713885"/>
                  </a:lnTo>
                  <a:lnTo>
                    <a:pt x="14699" y="1712667"/>
                  </a:lnTo>
                  <a:lnTo>
                    <a:pt x="11782" y="1711458"/>
                  </a:lnTo>
                  <a:lnTo>
                    <a:pt x="0" y="1693831"/>
                  </a:lnTo>
                  <a:lnTo>
                    <a:pt x="0" y="1690687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6905624"/>
              <a:ext cx="34925" cy="1587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2585" y="6905624"/>
              <a:ext cx="34925" cy="15875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7086599"/>
              <a:ext cx="34925" cy="15875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2415" y="7086599"/>
              <a:ext cx="34925" cy="1587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7267574"/>
              <a:ext cx="34925" cy="15875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2415" y="7267574"/>
              <a:ext cx="34925" cy="15875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7448549"/>
              <a:ext cx="34925" cy="15875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2415" y="7448549"/>
              <a:ext cx="34925" cy="15875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749" y="7629524"/>
              <a:ext cx="34925" cy="15875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2585" y="7629524"/>
              <a:ext cx="34925" cy="158750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546099" y="9124943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546099" y="9905993"/>
            <a:ext cx="6477000" cy="19050"/>
          </a:xfrm>
          <a:custGeom>
            <a:avLst/>
            <a:gdLst/>
            <a:ahLst/>
            <a:cxnLst/>
            <a:rect l="l" t="t" r="r" b="b"/>
            <a:pathLst>
              <a:path w="6477000" h="19050">
                <a:moveTo>
                  <a:pt x="6476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476999" y="0"/>
                </a:lnTo>
                <a:lnTo>
                  <a:pt x="647699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533399" y="515593"/>
            <a:ext cx="2747010" cy="2277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840">
                <a:latin typeface="Arial MT"/>
                <a:cs typeface="Arial MT"/>
              </a:rPr>
              <a:t>👥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РУКОВОДСТВО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050" spc="-10" b="1">
                <a:latin typeface="Segoe UI"/>
                <a:cs typeface="Segoe UI"/>
              </a:rPr>
              <a:t>Генеральный</a:t>
            </a:r>
            <a:r>
              <a:rPr dirty="0" sz="1050" spc="-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директор: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Хыдырова</a:t>
            </a:r>
            <a:r>
              <a:rPr dirty="0" sz="1050" spc="-3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Наталья</a:t>
            </a:r>
            <a:r>
              <a:rPr dirty="0" sz="1050" spc="-2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Курбановна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latin typeface="Segoe UI"/>
                <a:cs typeface="Segoe UI"/>
              </a:rPr>
              <a:t>Менеджер</a:t>
            </a:r>
            <a:r>
              <a:rPr dirty="0" sz="1050" spc="-35" b="1">
                <a:latin typeface="Segoe UI"/>
                <a:cs typeface="Segoe UI"/>
              </a:rPr>
              <a:t> </a:t>
            </a:r>
            <a:r>
              <a:rPr dirty="0" sz="1050" b="1">
                <a:latin typeface="Segoe UI"/>
                <a:cs typeface="Segoe UI"/>
              </a:rPr>
              <a:t>отдела</a:t>
            </a:r>
            <a:r>
              <a:rPr dirty="0" sz="1050" spc="-25" b="1">
                <a:latin typeface="Segoe UI"/>
                <a:cs typeface="Segoe UI"/>
              </a:rPr>
              <a:t> </a:t>
            </a:r>
            <a:r>
              <a:rPr dirty="0" sz="1050" spc="-10" b="1">
                <a:latin typeface="Segoe UI"/>
                <a:cs typeface="Segoe UI"/>
              </a:rPr>
              <a:t>продаж: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latin typeface="Segoe UI"/>
                <a:cs typeface="Segoe UI"/>
              </a:rPr>
              <a:t>Смирных</a:t>
            </a:r>
            <a:r>
              <a:rPr dirty="0" sz="1050" spc="-45">
                <a:latin typeface="Segoe UI"/>
                <a:cs typeface="Segoe UI"/>
              </a:rPr>
              <a:t> </a:t>
            </a:r>
            <a:r>
              <a:rPr dirty="0" sz="1050" spc="-10">
                <a:latin typeface="Segoe UI"/>
                <a:cs typeface="Segoe UI"/>
              </a:rPr>
              <a:t>Максим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350" spc="295">
                <a:latin typeface="Arial MT"/>
                <a:cs typeface="Arial MT"/>
              </a:rPr>
              <a:t>🎯</a:t>
            </a:r>
            <a:r>
              <a:rPr dirty="0" sz="1350" spc="465">
                <a:latin typeface="Arial MT"/>
                <a:cs typeface="Arial MT"/>
              </a:rPr>
              <a:t> </a:t>
            </a:r>
            <a:r>
              <a:rPr dirty="0" sz="1200" b="1">
                <a:latin typeface="Segoe UI"/>
                <a:cs typeface="Segoe UI"/>
              </a:rPr>
              <a:t>МЫ</a:t>
            </a:r>
            <a:r>
              <a:rPr dirty="0" sz="1200" spc="20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ГОТОВЫ: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12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┌────────────────────────────────┐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/>
              <a:t>10</a:t>
            </a:fld>
            <a:r>
              <a:rPr dirty="0" spc="-5"/>
              <a:t> </a:t>
            </a:r>
            <a:r>
              <a:rPr dirty="0"/>
              <a:t>/</a:t>
            </a:r>
            <a:r>
              <a:rPr dirty="0" spc="-5"/>
              <a:t> </a:t>
            </a:r>
            <a:r>
              <a:rPr dirty="0" spc="-25"/>
              <a:t>15</a:t>
            </a:r>
          </a:p>
        </p:txBody>
      </p:sp>
      <p:sp>
        <p:nvSpPr>
          <p:cNvPr id="26" name="object 26" descr=""/>
          <p:cNvSpPr txBox="1"/>
          <p:nvPr/>
        </p:nvSpPr>
        <p:spPr>
          <a:xfrm>
            <a:off x="761999" y="3309620"/>
            <a:ext cx="2078355" cy="3873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37909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экспертизу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 оборудования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61999" y="3671570"/>
            <a:ext cx="2334895" cy="5683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✅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Разработать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индивидуальное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37909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решение под ваши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задачи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61999" y="4214495"/>
            <a:ext cx="2225040" cy="3873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✅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Организовать визит </a:t>
            </a:r>
            <a:r>
              <a:rPr dirty="0" sz="1050" spc="-25">
                <a:solidFill>
                  <a:srgbClr val="4D4D4B"/>
                </a:solidFill>
                <a:latin typeface="Consolas"/>
                <a:cs typeface="Consolas"/>
              </a:rPr>
              <a:t>на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379095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производственные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площадки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61999" y="2766695"/>
            <a:ext cx="2555240" cy="18351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65"/>
              </a:spcBef>
              <a:tabLst>
                <a:tab pos="2455545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✅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Предоставить КП за 24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часа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algn="r" marR="41275">
              <a:lnSpc>
                <a:spcPct val="100000"/>
              </a:lnSpc>
              <a:spcBef>
                <a:spcPts val="165"/>
              </a:spcBef>
              <a:tabLst>
                <a:tab pos="2419350" algn="l"/>
              </a:tabLst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algn="r" marR="5080">
              <a:lnSpc>
                <a:spcPct val="100000"/>
              </a:lnSpc>
              <a:spcBef>
                <a:spcPts val="165"/>
              </a:spcBef>
              <a:tabLst>
                <a:tab pos="2455545" algn="l"/>
              </a:tabLst>
            </a:pP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│ </a:t>
            </a: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✅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Провести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техническую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	</a:t>
            </a: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algn="r" marR="41275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algn="r" marR="41275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algn="r" marR="508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algn="r" marR="41275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algn="r" marR="41275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algn="r" marR="5080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  <a:p>
            <a:pPr algn="r" marR="41275">
              <a:lnSpc>
                <a:spcPct val="100000"/>
              </a:lnSpc>
              <a:spcBef>
                <a:spcPts val="165"/>
              </a:spcBef>
            </a:pPr>
            <a:r>
              <a:rPr dirty="0" sz="1050" spc="-50">
                <a:solidFill>
                  <a:srgbClr val="4D4D4B"/>
                </a:solidFill>
                <a:latin typeface="Consolas"/>
                <a:cs typeface="Consolas"/>
              </a:rPr>
              <a:t>│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61999" y="4597400"/>
            <a:ext cx="25184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└────────────────────────────────┘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33399" y="5359399"/>
            <a:ext cx="279971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Segoe UI Emoji"/>
                <a:cs typeface="Segoe UI Emoji"/>
              </a:rPr>
              <a:t>⚙</a:t>
            </a:r>
            <a:r>
              <a:rPr dirty="0" sz="2100" spc="-15">
                <a:latin typeface="Segoe UI Emoji"/>
                <a:cs typeface="Segoe UI Emoji"/>
              </a:rPr>
              <a:t> </a:t>
            </a:r>
            <a:r>
              <a:rPr dirty="0" sz="2100">
                <a:latin typeface="Segoe UI"/>
                <a:cs typeface="Segoe UI"/>
              </a:rPr>
              <a:t>ТД</a:t>
            </a:r>
            <a:r>
              <a:rPr dirty="0" sz="2100" spc="-15">
                <a:latin typeface="Segoe UI"/>
                <a:cs typeface="Segoe UI"/>
              </a:rPr>
              <a:t> </a:t>
            </a:r>
            <a:r>
              <a:rPr dirty="0" sz="2100" spc="-10">
                <a:latin typeface="Segoe UI"/>
                <a:cs typeface="Segoe UI"/>
              </a:rPr>
              <a:t>РУССтанкоСбыт</a:t>
            </a:r>
            <a:endParaRPr sz="2100">
              <a:latin typeface="Segoe UI"/>
              <a:cs typeface="Segoe U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33399" y="5955950"/>
            <a:ext cx="4497070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latin typeface="Segoe UI"/>
                <a:cs typeface="Segoe UI"/>
              </a:rPr>
              <a:t>Надежный</a:t>
            </a:r>
            <a:r>
              <a:rPr dirty="0" sz="1200" spc="5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партнер</a:t>
            </a:r>
            <a:r>
              <a:rPr dirty="0" sz="1200" spc="6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для</a:t>
            </a:r>
            <a:r>
              <a:rPr dirty="0" sz="1200" spc="6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вашего</a:t>
            </a:r>
            <a:r>
              <a:rPr dirty="0" sz="1200" spc="6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производства</a:t>
            </a:r>
            <a:r>
              <a:rPr dirty="0" sz="1200" spc="6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с</a:t>
            </a:r>
            <a:r>
              <a:rPr dirty="0" sz="1200" spc="6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2014</a:t>
            </a:r>
            <a:r>
              <a:rPr dirty="0" sz="1200" spc="65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года!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61999" y="6702425"/>
            <a:ext cx="5158105" cy="1271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╔════════════════════════════════════════════════════════════════════╗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745490">
              <a:lnSpc>
                <a:spcPct val="100000"/>
              </a:lnSpc>
            </a:pPr>
            <a:r>
              <a:rPr dirty="0" sz="1050" spc="65">
                <a:solidFill>
                  <a:srgbClr val="4D4D4B"/>
                </a:solidFill>
                <a:latin typeface="Segoe UI Emoji"/>
                <a:cs typeface="Segoe UI Emoji"/>
              </a:rPr>
              <a:t>🏆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12 ЛЕТ ОПЫТА | 4 ПЛОЩАДКИ |</a:t>
            </a:r>
            <a:r>
              <a:rPr dirty="0" sz="1050" spc="5">
                <a:solidFill>
                  <a:srgbClr val="4D4D4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60+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СПЕЦИАЛИСТОВ</a:t>
            </a:r>
            <a:endParaRPr sz="1050">
              <a:latin typeface="Consolas"/>
              <a:cs typeface="Consolas"/>
            </a:endParaRPr>
          </a:p>
          <a:p>
            <a:pPr marL="74549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⚙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ПОЛНЫЙ ЦИКЛ ОБСЛУЖИВАНИЯ СТАНОЧНОГО </a:t>
            </a: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ПАРКА</a:t>
            </a:r>
            <a:endParaRPr sz="1050">
              <a:latin typeface="Consolas"/>
              <a:cs typeface="Consolas"/>
            </a:endParaRPr>
          </a:p>
          <a:p>
            <a:pPr marL="74549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4D4D4B"/>
                </a:solidFill>
                <a:latin typeface="Segoe UI Emoji"/>
                <a:cs typeface="Segoe UI Emoji"/>
              </a:rPr>
              <a:t>🏗</a:t>
            </a:r>
            <a:r>
              <a:rPr dirty="0" sz="1050" spc="285">
                <a:solidFill>
                  <a:srgbClr val="4D4D4B"/>
                </a:solidFill>
                <a:latin typeface="Segoe UI Emoji"/>
                <a:cs typeface="Segoe UI Emoji"/>
              </a:rPr>
              <a:t> </a:t>
            </a:r>
            <a:r>
              <a:rPr dirty="0" sz="1050">
                <a:solidFill>
                  <a:srgbClr val="4D4D4B"/>
                </a:solidFill>
                <a:latin typeface="Consolas"/>
                <a:cs typeface="Consolas"/>
              </a:rPr>
              <a:t>ОБРАБОТКА ДЕТАЛЕЙ ДО 150 </a:t>
            </a:r>
            <a:r>
              <a:rPr dirty="0" sz="1050" spc="-20">
                <a:solidFill>
                  <a:srgbClr val="4D4D4B"/>
                </a:solidFill>
                <a:latin typeface="Consolas"/>
                <a:cs typeface="Consolas"/>
              </a:rPr>
              <a:t>ТОНН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solidFill>
                  <a:srgbClr val="4D4D4B"/>
                </a:solidFill>
                <a:latin typeface="Consolas"/>
                <a:cs typeface="Consolas"/>
              </a:rPr>
              <a:t>╚════════════════════════════════════════════════════════════════════╝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33399" y="8375300"/>
            <a:ext cx="2707640" cy="5746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latin typeface="Segoe UI"/>
                <a:cs typeface="Segoe UI"/>
              </a:rPr>
              <a:t>СПАСИБО</a:t>
            </a:r>
            <a:r>
              <a:rPr dirty="0" sz="1200" spc="4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ЗА</a:t>
            </a:r>
            <a:r>
              <a:rPr dirty="0" sz="1200" spc="45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ВНИМАНИЕ!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b="1">
                <a:latin typeface="Segoe UI"/>
                <a:cs typeface="Segoe UI"/>
              </a:rPr>
              <a:t>Готовы</a:t>
            </a:r>
            <a:r>
              <a:rPr dirty="0" sz="1200" spc="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ответить</a:t>
            </a:r>
            <a:r>
              <a:rPr dirty="0" sz="1200" spc="1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на</a:t>
            </a:r>
            <a:r>
              <a:rPr dirty="0" sz="1200" spc="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ваши</a:t>
            </a:r>
            <a:r>
              <a:rPr dirty="0" sz="1200" spc="10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вопросы.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33399" y="9334562"/>
            <a:ext cx="4153535" cy="3968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 i="1">
                <a:latin typeface="Segoe UI"/>
                <a:cs typeface="Segoe UI"/>
              </a:rPr>
              <a:t>Презентация</a:t>
            </a:r>
            <a:r>
              <a:rPr dirty="0" sz="850" spc="114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подготовлена</a:t>
            </a:r>
            <a:r>
              <a:rPr dirty="0" sz="850" spc="114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для</a:t>
            </a:r>
            <a:r>
              <a:rPr dirty="0" sz="850" spc="120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АО</a:t>
            </a:r>
            <a:r>
              <a:rPr dirty="0" sz="850" spc="114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"Производственное</a:t>
            </a:r>
            <a:r>
              <a:rPr dirty="0" sz="850" spc="120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объединение</a:t>
            </a:r>
            <a:r>
              <a:rPr dirty="0" sz="850" spc="114" i="1">
                <a:latin typeface="Segoe UI"/>
                <a:cs typeface="Segoe UI"/>
              </a:rPr>
              <a:t> </a:t>
            </a:r>
            <a:r>
              <a:rPr dirty="0" sz="850" spc="-10" i="1">
                <a:latin typeface="Segoe UI"/>
                <a:cs typeface="Segoe UI"/>
              </a:rPr>
              <a:t>"Севмаш"</a:t>
            </a:r>
            <a:endParaRPr sz="8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850" i="1">
                <a:latin typeface="Segoe UI"/>
                <a:cs typeface="Segoe UI"/>
              </a:rPr>
              <a:t>и</a:t>
            </a:r>
            <a:r>
              <a:rPr dirty="0" sz="850" spc="55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АО</a:t>
            </a:r>
            <a:r>
              <a:rPr dirty="0" sz="850" spc="55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"Центр</a:t>
            </a:r>
            <a:r>
              <a:rPr dirty="0" sz="850" spc="60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судоремонта</a:t>
            </a:r>
            <a:r>
              <a:rPr dirty="0" sz="850" spc="55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"Звездочка"</a:t>
            </a:r>
            <a:r>
              <a:rPr dirty="0" sz="850" spc="60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|</a:t>
            </a:r>
            <a:r>
              <a:rPr dirty="0" sz="850" spc="55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Дата:</a:t>
            </a:r>
            <a:r>
              <a:rPr dirty="0" sz="850" spc="60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16</a:t>
            </a:r>
            <a:r>
              <a:rPr dirty="0" sz="850" spc="55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января</a:t>
            </a:r>
            <a:r>
              <a:rPr dirty="0" sz="850" spc="60" i="1">
                <a:latin typeface="Segoe UI"/>
                <a:cs typeface="Segoe UI"/>
              </a:rPr>
              <a:t> </a:t>
            </a:r>
            <a:r>
              <a:rPr dirty="0" sz="850" i="1">
                <a:latin typeface="Segoe UI"/>
                <a:cs typeface="Segoe UI"/>
              </a:rPr>
              <a:t>2026</a:t>
            </a:r>
            <a:r>
              <a:rPr dirty="0" sz="850" spc="55" i="1">
                <a:latin typeface="Segoe UI"/>
                <a:cs typeface="Segoe UI"/>
              </a:rPr>
              <a:t> </a:t>
            </a:r>
            <a:r>
              <a:rPr dirty="0" sz="850" spc="-20" i="1">
                <a:latin typeface="Segoe UI"/>
                <a:cs typeface="Segoe UI"/>
              </a:rPr>
              <a:t>года</a:t>
            </a:r>
            <a:endParaRPr sz="8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2026-01-16T12:21:53Z</dcterms:created>
  <dcterms:modified xsi:type="dcterms:W3CDTF">2026-01-16T12:21:53Z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or">
    <vt:lpwstr>Chromium</vt:lpwstr>
  </property>
  <property fmtid="{D5CDD505-2E9C-101B-9397-08002B2CF9AE}" pid="4" name="LastSaved">
    <vt:filetime>2026-01-16T00:00:00Z</vt:filetime>
  </property>
  <property fmtid="{D5CDD505-2E9C-101B-9397-08002B2CF9AE}" pid="5" name="Producer">
    <vt:lpwstr>Skia/PDF m80</vt:lpwstr>
  </property>
</Properties>
</file>