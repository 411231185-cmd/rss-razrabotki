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7" Type="http://schemas.openxmlformats.org/officeDocument/2006/relationships/viewProps" Target="viewProps.xml" /><Relationship Id="rId3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9" Type="http://schemas.openxmlformats.org/officeDocument/2006/relationships/tableStyles" Target="tableStyles.xml" /><Relationship Id="rId3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🏭 Презентация ТД РУССтанкоСбыт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для АО “ПО”Севмаш” и АО “ЦС”Звездочка”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Слайд 1: Титульный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⚙️ ТД РУССтанкоСбыт</a:t>
            </a:r>
          </a:p>
          <a:p>
            <a:pPr lvl="0" indent="0" marL="0">
              <a:buNone/>
            </a:pPr>
            <a:r>
              <a:rPr b="1"/>
              <a:t>[Логотип компании - взять с сайта tdrusstankosbyt.ru]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Ремонт, модернизация и производство станочного оборудования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🚢 Комплексные решения для судостроительной промышленности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sz="2000" b="1"/>
              <a:t>🏆 Надежный партнер с 2014 года</a:t>
            </a:r>
          </a:p>
          <a:p>
            <a:pPr lvl="0" indent="0" marL="1270000">
              <a:buNone/>
            </a:pPr>
            <a:r>
              <a:rPr sz="2000" b="1"/>
              <a:t>12 лет опыта | 4 площадки | 15 000+ м² | 200+ специалистов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📞 Контакты</a:t>
            </a:r>
          </a:p>
          <a:p>
            <a:pPr lvl="0" indent="0" marL="0">
              <a:buNone/>
            </a:pPr>
            <a:r>
              <a:rPr/>
              <a:t>📧 </a:t>
            </a:r>
            <a:r>
              <a:rPr b="1"/>
              <a:t>Email:</a:t>
            </a:r>
            <a:r>
              <a:rPr/>
              <a:t> zakaz@tdrusstankosbyt.ru</a:t>
            </a:r>
            <a:br/>
            <a:r>
              <a:rPr/>
              <a:t>📱 </a:t>
            </a:r>
            <a:r>
              <a:rPr b="1"/>
              <a:t>Телефон:</a:t>
            </a:r>
            <a:r>
              <a:rPr/>
              <a:t> +7 (499) 390-85-04</a:t>
            </a:r>
            <a:br/>
            <a:r>
              <a:rPr/>
              <a:t>🌐 </a:t>
            </a:r>
            <a:r>
              <a:rPr b="1"/>
              <a:t>Сайт:</a:t>
            </a:r>
            <a:r>
              <a:rPr/>
              <a:t> https://tdrusstankosbyt.ru</a:t>
            </a:r>
            <a:br/>
            <a:r>
              <a:rPr/>
              <a:t>💬 </a:t>
            </a:r>
            <a:r>
              <a:rPr b="1"/>
              <a:t>Telegram:</a:t>
            </a:r>
            <a:r>
              <a:rPr/>
              <a:t> https://t.me/tdrusstankosbyt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Слайд 2: О компании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🏢 ТД РУССтанкоСбыт – Ваш надёжный партнёр в области станкостроения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📊 Краткая справка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Параметр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Значение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🗓️ </a:t>
                      </a:r>
                      <a:r>
                        <a:rPr b="1"/>
                        <a:t>Год основания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2014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⏱️ </a:t>
                      </a:r>
                      <a:r>
                        <a:rPr b="1"/>
                        <a:t>Опыт работы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лет на рынке промышленного оборудования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🎯 </a:t>
                      </a:r>
                      <a:r>
                        <a:rPr b="1"/>
                        <a:t>Специализация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Полный цикл обслуживания станочного парка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🔧 Наша специализация:</a:t>
            </a:r>
          </a:p>
          <a:p>
            <a:pPr lvl="0" indent="0" marL="0">
              <a:buNone/>
            </a:pPr>
            <a:r>
              <a:rPr b="1"/>
              <a:t>🛠️ РЕМОНТ И МОДЕРНИЗАЦИЯ</a:t>
            </a:r>
            <a:r>
              <a:rPr/>
              <a:t> - ✅ Ремонт и восстановление станочного оборудования - ✅ Модернизация производственных линий - ✅ Установка систем ЧПУ</a:t>
            </a:r>
          </a:p>
          <a:p>
            <a:pPr lvl="0" indent="0" marL="0">
              <a:buNone/>
            </a:pPr>
            <a:r>
              <a:rPr b="1"/>
              <a:t>🏭 ПРОИЗВОДСТВО И ПОСТАВКА</a:t>
            </a:r>
            <a:r>
              <a:rPr/>
              <a:t> - ✅ Поставка нового оборудования и запасных частей - ✅ Изготовление индивидуальных заказов - ✅ Производство специализированных узлов и деталей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🤝 Работаем с крупнейшими предприятиями:</a:t>
            </a:r>
          </a:p>
          <a:p>
            <a:pPr lvl="0" indent="0">
              <a:buNone/>
            </a:pPr>
            <a:r>
              <a:rPr>
                <a:latin typeface="Courier"/>
              </a:rPr>
              <a:t>╔══════════════════════════════════════════════════════════╗
║  🏢 АО "Завод "Сельмаш"                                 ║
║  🏢 АО "Таганрогский металлургический завод"            ║
║  🏢 КАО "АЗОТ"                                           ║
║  🏢 АО "Туламашзавод"                                    ║
║  🏢 ПАО "ДНПП"                                           ║
║  🏢 ООО "ТМК НГС-Бузулук"                                ║
║  🏢 ПАО "Брянсксельмаш"                                  ║
║  🏢 И более 100 других промышленных предприятий          ║
╚══════════════════════════════════════════════════════════╝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Слайд 3: Ключевые показатели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📈 Наши цифры говорят сами за себя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🗓️ 12 ЛЕТ</a:t>
            </a:r>
          </a:p>
          <a:p>
            <a:pPr lvl="0" indent="0" marL="0">
              <a:buNone/>
            </a:pPr>
            <a:r>
              <a:rPr b="1"/>
              <a:t>на рынке</a:t>
            </a:r>
            <a:br/>
            <a:r>
              <a:rPr/>
              <a:t>с 2014 года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🏭 4 ПЛОЩАДКИ</a:t>
            </a:r>
          </a:p>
          <a:p>
            <a:pPr lvl="0" indent="0" marL="0">
              <a:buNone/>
            </a:pPr>
            <a:r>
              <a:rPr b="1"/>
              <a:t>производственных</a:t>
            </a:r>
            <a:br/>
            <a:r>
              <a:rPr/>
              <a:t>Рязань, Воронеж, Ижевск, Беларусь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📐 15 000+ м²</a:t>
            </a:r>
          </a:p>
          <a:p>
            <a:pPr lvl="0" indent="0" marL="0">
              <a:buNone/>
            </a:pPr>
            <a:r>
              <a:rPr b="1"/>
              <a:t>производственных</a:t>
            </a:r>
            <a:br/>
            <a:r>
              <a:rPr/>
              <a:t>площадей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👨‍🔧 200+ ЧЕЛОВЕК</a:t>
            </a:r>
          </a:p>
          <a:p>
            <a:pPr lvl="0" indent="0" marL="0">
              <a:buNone/>
            </a:pPr>
            <a:r>
              <a:rPr b="1"/>
              <a:t>квалифицированных</a:t>
            </a:r>
            <a:br/>
            <a:r>
              <a:rPr/>
              <a:t>специалистов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🏗️ 2 ОБЪЕКТА</a:t>
            </a:r>
          </a:p>
          <a:p>
            <a:pPr lvl="0" indent="0" marL="0">
              <a:buNone/>
            </a:pPr>
            <a:r>
              <a:rPr b="1"/>
              <a:t>складских</a:t>
            </a:r>
            <a:br/>
            <a:r>
              <a:rPr/>
              <a:t>помещений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⚙️ 500+ МОДЕЛЕЙ</a:t>
            </a:r>
          </a:p>
          <a:p>
            <a:pPr lvl="0" indent="0" marL="0">
              <a:buNone/>
            </a:pPr>
            <a:r>
              <a:rPr b="1"/>
              <a:t>станков</a:t>
            </a:r>
            <a:br/>
            <a:r>
              <a:rPr/>
              <a:t>в портфеле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👥 Профессиональная команда:</a:t>
            </a:r>
          </a:p>
          <a:p>
            <a:pPr lvl="0" indent="0" marL="0">
              <a:buNone/>
            </a:pPr>
            <a:r>
              <a:rPr b="1"/>
              <a:t>🎨 КОНСТРУКТОРСКИЙ ОТДЕЛ</a:t>
            </a:r>
            <a:r>
              <a:rPr/>
              <a:t> - 👨‍💼 Конструкторы: </a:t>
            </a:r>
            <a:r>
              <a:rPr b="1"/>
              <a:t>25 специалистов</a:t>
            </a:r>
            <a:r>
              <a:rPr/>
              <a:t> - 🛠️ Технологи и технические директора: </a:t>
            </a:r>
            <a:r>
              <a:rPr b="1"/>
              <a:t>7 специалистов</a:t>
            </a:r>
          </a:p>
          <a:p>
            <a:pPr lvl="0" indent="0" marL="0">
              <a:buNone/>
            </a:pPr>
            <a:r>
              <a:rPr b="1"/>
              <a:t>🔧 ПРОИЗВОДСТВЕННЫЙ ПЕРСОНАЛ</a:t>
            </a:r>
            <a:r>
              <a:rPr/>
              <a:t> - 🔩 Токари: </a:t>
            </a:r>
            <a:r>
              <a:rPr b="1"/>
              <a:t>45 человек</a:t>
            </a:r>
            <a:r>
              <a:rPr/>
              <a:t> - ⚙️ Фрезеровщики и шлифовщики: </a:t>
            </a:r>
            <a:r>
              <a:rPr b="1"/>
              <a:t>15 человек</a:t>
            </a:r>
            <a:r>
              <a:rPr/>
              <a:t> - 🔌 Пусконаладчики: </a:t>
            </a:r>
            <a:r>
              <a:rPr b="1"/>
              <a:t>7 специалистов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Слайд 4: География присутствия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🗺️ 4 производственные площадки по всей России и СНГ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Суммарная производственная мощность: 15 000+ м²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📍 Площадка №1 – г. Рязань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┌─────────────────────────────────┐
│ Площадь: 2 000 м²              │
│ Специализация:                  │
│ • Полный цикл производства      │
│   токарных и трубонарезных      │
│   станков                       │
│ • Ремонт и модернизация         │
│   токарно-винторезных,          │
│   трубонарезных и резьбонакатных│
│   станков                       │
│ • Электромонтаж и гидравлика    │
│ • Цех по изготовлению           │
│   шестерен, валов, шпинделей    │
│ • Механическая обработка        │
│ • Отдельный участок по          │
│   производству револьверных     │
│   головок                       │
└─────────────────────────────────┘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📍 Площадка №2 – г. Воронеж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┌─────────────────────────────────┐
│ Площадь: 2 000 м²              │
│ Особенность:                    │
│ • Партнерство с ОАО             │
│   «Тяжмехпресс»                 │
│ • Обработка деталей до 150 тонн │
│ • Мостовой кран 160 тонн ⭐     │
│ • Мехобработка                  │
│ • Шлифовка                      │
└─────────────────────────────────┘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📍 Площадка №3 – г. Ижевск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┌─────────────────────────────────┐
│ Площадь: 2 000 м²              │
│ Специализация:                  │
│ • Изготовление конических       │
│   шестерен                      │
│ • Полный механический цикл      │
│   обработки                     │
│ • Мехобработка                  │
└─────────────────────────────────┘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📍 Площадка №4 – Беларусь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┌─────────────────────────────────┐
│ Назначение:                     │
│ • Расширение географии поставок │
│ • Обслуживание международных    │
│   клиентов                      │
│ • Логистический центр           │
└─────────────────────────────────┘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Слайд 5: Оборудование и технические возможности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⚙️ Современный станочный парк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🔧 Токарная обработка</a:t>
            </a:r>
          </a:p>
          <a:p>
            <a:pPr lvl="0" indent="0">
              <a:buNone/>
            </a:pPr>
            <a:r>
              <a:rPr>
                <a:latin typeface="Courier"/>
              </a:rPr>
              <a:t>╔════════════════════════════════╗
║ Максимальный диаметр: Ø1000 мм ║
║ Максимальная длина: 3000 мм    ║
║ ✓ Станки с ЧПУ                 ║
║ ✓ Высокоточная обработка       ║
╚════════════════════════════════╝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⚙️ Фрезерная обработка</a:t>
            </a:r>
          </a:p>
          <a:p>
            <a:pPr lvl="0" indent="0">
              <a:buNone/>
            </a:pPr>
            <a:r>
              <a:rPr>
                <a:latin typeface="Courier"/>
              </a:rPr>
              <a:t>╔════════════════════════════════╗
║ Максимальные габариты:         ║
║ 1200 × 5000 мм                 ║
║ ✓ Фрезерная группа             ║
║ ✓ Различная конфигурация       ║
╚════════════════════════════════╝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✨ Шлифовальная обработка</a:t>
            </a:r>
          </a:p>
          <a:p>
            <a:pPr lvl="0" indent="0">
              <a:buNone/>
            </a:pPr>
            <a:r>
              <a:rPr>
                <a:latin typeface="Courier"/>
              </a:rPr>
              <a:t>╔════════════════════════════════╗
║ Круглошлифовальная:            ║
║ • Ø 400 мм, длина 1200 мм      ║
║ Плоскошлифовальная группа      ║
║ Координатно-шлифовальная       ║
╚════════════════════════════════╝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🔩 Расточные работы</a:t>
            </a:r>
          </a:p>
          <a:p>
            <a:pPr lvl="0" indent="0">
              <a:buNone/>
            </a:pPr>
            <a:r>
              <a:rPr>
                <a:latin typeface="Courier"/>
              </a:rPr>
              <a:t>╔════════════════════════════════╗
║ Расточный стол:                ║
║ 1200 × 1200 мм                 ║
║ ✓ Прецизионная обработка       ║
╚════════════════════════════════╝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Слайд 6: Специализированное оборудование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🏭 Полный цикл металлообработки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🔨 Дополнительное оборудование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┌───────────────────────────────┐
│ 🔪 Гильотины для резки металла│
│ ⚡ Сварочное оборудование      │
│    (все типы сварки)          │
│ 🎨 Покрасочные участки        │
│ 🔥 Термообработка (Воронеж)   │
└───────────────────────────────┘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⚡ Электромонтажный участок</a:t>
            </a:r>
          </a:p>
          <a:p>
            <a:pPr lvl="0"/>
            <a:r>
              <a:rPr/>
              <a:t>✅ Производство и ремонт электрооборудования станков</a:t>
            </a:r>
          </a:p>
          <a:p>
            <a:pPr lvl="0"/>
            <a:r>
              <a:rPr/>
              <a:t>✅ Модернизация систем ЧПУ</a:t>
            </a:r>
          </a:p>
          <a:p>
            <a:pPr lvl="0"/>
            <a:r>
              <a:rPr/>
              <a:t>✅ Электротехнические работы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💧 Участок гидравлики</a:t>
            </a:r>
          </a:p>
          <a:p>
            <a:pPr lvl="0"/>
            <a:r>
              <a:rPr/>
              <a:t>✅ Ремонт и производство гидравлических систем</a:t>
            </a:r>
          </a:p>
          <a:p>
            <a:pPr lvl="0"/>
            <a:r>
              <a:rPr/>
              <a:t>✅ Диагностика и наладка</a:t>
            </a:r>
          </a:p>
          <a:p>
            <a:pPr lvl="0"/>
            <a:r>
              <a:rPr/>
              <a:t>✅ Испытания под давлением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⚙️ Участок изготовления шестерен</a:t>
            </a:r>
          </a:p>
          <a:p>
            <a:pPr lvl="0"/>
            <a:r>
              <a:rPr/>
              <a:t>✅ Производство зубчатых передач</a:t>
            </a:r>
          </a:p>
          <a:p>
            <a:pPr lvl="0"/>
            <a:r>
              <a:rPr/>
              <a:t>✅ Восстановление изношенных шестерен</a:t>
            </a:r>
          </a:p>
          <a:p>
            <a:pPr lvl="0"/>
            <a:r>
              <a:rPr/>
              <a:t>✅ Высокая точность изготовления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🔄 Участок револьверных головок</a:t>
            </a:r>
          </a:p>
          <a:p>
            <a:pPr lvl="0"/>
            <a:r>
              <a:rPr/>
              <a:t>✅ Производство и ремонт</a:t>
            </a:r>
          </a:p>
          <a:p>
            <a:pPr lvl="0"/>
            <a:r>
              <a:rPr/>
              <a:t>✅ Модернизация под современные требования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Слайд 7: Грузоподъемное оборудование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🏗️ Мощности для работы с крупногабаритными деталями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⭐ УНИКАЛЬНОЕ ПРЕИМУЩЕСТВО: Обработка деталей до 150 тонн ⭐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📍 РЯЗАНЬ</a:t>
            </a:r>
          </a:p>
          <a:p>
            <a:pPr lvl="0" indent="0">
              <a:buNone/>
            </a:pPr>
            <a:r>
              <a:rPr>
                <a:latin typeface="Courier"/>
              </a:rPr>
              <a:t>╔═══════════════════════╗
║  🏗️ Грузоподъемность  ║
╠═══════════════════════╣
║ От 2 до 25 тонн       ║
║ (стационарные краны)  ║
║                       ║
║ Автокран до 65 тонн   ║
╚═══════════════════════╝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📍 ВОРОНЕЖ ⭐</a:t>
            </a:r>
          </a:p>
          <a:p>
            <a:pPr lvl="0" indent="0">
              <a:buNone/>
            </a:pPr>
            <a:r>
              <a:rPr>
                <a:latin typeface="Courier"/>
              </a:rPr>
              <a:t>╔═══════════════════════╗
║ 🏗️ Грузоподъемность   ║
╠═══════════════════════╣
║ МОСТОВОЙ КРАН         ║
║ 60/160 ТОНН! 🌟       ║
║                       ║
║ Детали до 150 тонн    ║
╚═══════════════════════╝</a:t>
            </a:r>
          </a:p>
          <a:p>
            <a:pPr lvl="0" indent="0" marL="0">
              <a:buNone/>
            </a:pPr>
            <a:r>
              <a:rPr b="1"/>
              <a:t>УНИКАЛЬНО!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📍 ИЖЕВСК</a:t>
            </a:r>
          </a:p>
          <a:p>
            <a:pPr lvl="0" indent="0">
              <a:buNone/>
            </a:pPr>
            <a:r>
              <a:rPr>
                <a:latin typeface="Courier"/>
              </a:rPr>
              <a:t>╔═══════════════════════╗
║ 🏗️ Грузоподъемность   ║
╠═══════════════════════╣
║ 2 × 25 тонн           ║
║ (стационарные краны)  ║
║                       ║
║ Автокран до 65 тонн   ║
╚═══════════════════════╝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sz="2000" b="1"/>
              <a:t>💡 Ключевое преимущество:</a:t>
            </a:r>
          </a:p>
          <a:p>
            <a:pPr lvl="0" indent="0" marL="1270000">
              <a:buNone/>
            </a:pPr>
            <a:r>
              <a:rPr sz="2000"/>
              <a:t>Возможность работы с </a:t>
            </a:r>
            <a:r>
              <a:rPr sz="2000" b="1"/>
              <a:t>крупногабаритными</a:t>
            </a:r>
            <a:r>
              <a:rPr sz="2000"/>
              <a:t> и </a:t>
            </a:r>
            <a:r>
              <a:rPr sz="2000" b="1"/>
              <a:t>тяжелыми деталями</a:t>
            </a:r>
            <a:r>
              <a:rPr sz="2000"/>
              <a:t> благодаря партнерству</a:t>
            </a:r>
            <a:br/>
            <a:r>
              <a:rPr sz="2000"/>
              <a:t>с ОАО «Тяжмехпресс» в Воронеже - </a:t>
            </a:r>
            <a:r>
              <a:rPr sz="2000" b="1"/>
              <a:t>мостовой кран грузоподъемностью 160 тонн!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Слайд 8: Наша команда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Высококвалифицированные специалисты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👨‍💼 Управление и проектирование:</a:t>
            </a:r>
          </a:p>
          <a:p>
            <a:pPr lvl="0"/>
            <a:r>
              <a:rPr b="1"/>
              <a:t>Технические директора</a:t>
            </a:r>
            <a:r>
              <a:rPr/>
              <a:t> – руководство проектами</a:t>
            </a:r>
          </a:p>
          <a:p>
            <a:pPr lvl="0"/>
            <a:r>
              <a:rPr b="1"/>
              <a:t>Конструкторы</a:t>
            </a:r>
            <a:r>
              <a:rPr/>
              <a:t> (5 чел.) – разработка технической документации</a:t>
            </a:r>
          </a:p>
          <a:p>
            <a:pPr lvl="0"/>
            <a:r>
              <a:rPr b="1"/>
              <a:t>Технологи</a:t>
            </a:r>
            <a:r>
              <a:rPr/>
              <a:t> – оптимизация производственных процессов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👨‍🔧 Производственный персонал:</a:t>
            </a:r>
          </a:p>
          <a:p>
            <a:pPr lvl="0"/>
            <a:r>
              <a:rPr b="1"/>
              <a:t>Токари</a:t>
            </a:r>
            <a:r>
              <a:rPr/>
              <a:t> (15 чел.) – все виды токарной обработки</a:t>
            </a:r>
          </a:p>
          <a:p>
            <a:pPr lvl="0"/>
            <a:r>
              <a:rPr b="1"/>
              <a:t>Фрезеровщики</a:t>
            </a:r>
            <a:r>
              <a:rPr/>
              <a:t> (5 чел.) – фрезерные работы любой сложности</a:t>
            </a:r>
          </a:p>
          <a:p>
            <a:pPr lvl="0"/>
            <a:r>
              <a:rPr b="1"/>
              <a:t>Шлифовщики</a:t>
            </a:r>
            <a:r>
              <a:rPr/>
              <a:t> (5 чел.) – прецизионная шлифовка</a:t>
            </a:r>
          </a:p>
          <a:p>
            <a:pPr lvl="0"/>
            <a:r>
              <a:rPr b="1"/>
              <a:t>Пусконаладчики</a:t>
            </a:r>
            <a:r>
              <a:rPr/>
              <a:t> (3 чел.) – наладка и запуск оборудования</a:t>
            </a:r>
          </a:p>
          <a:p>
            <a:pPr lvl="0"/>
            <a:r>
              <a:rPr b="1"/>
              <a:t>Сварщики</a:t>
            </a:r>
            <a:r>
              <a:rPr/>
              <a:t> – все типы сварки</a:t>
            </a:r>
          </a:p>
          <a:p>
            <a:pPr lvl="0"/>
            <a:r>
              <a:rPr b="1"/>
              <a:t>Электромонтажники</a:t>
            </a:r>
            <a:r>
              <a:rPr/>
              <a:t> – электротехнические работы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Общая численность: 60+ специалистов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Наши преимущества:</a:t>
            </a:r>
          </a:p>
          <a:p>
            <a:pPr lvl="0" indent="0" marL="0">
              <a:buNone/>
            </a:pPr>
            <a:r>
              <a:rPr/>
              <a:t>✅ Постоянное обучение и повышение квалификации</a:t>
            </a:r>
            <a:br/>
            <a:r>
              <a:rPr/>
              <a:t>✅ Опыт работы с оборонными предприятиями</a:t>
            </a:r>
            <a:br/>
            <a:r>
              <a:rPr/>
              <a:t>✅ Знание специфики судостроительной отрасли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Слайд 9: Комплекс услуг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Полный спектр услуг для вашего производства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🔧 Ремонт оборудования:</a:t>
            </a:r>
          </a:p>
          <a:p>
            <a:pPr lvl="0"/>
            <a:r>
              <a:rPr/>
              <a:t>Капитальный ремонт станков всех типов</a:t>
            </a:r>
          </a:p>
          <a:p>
            <a:pPr lvl="0"/>
            <a:r>
              <a:rPr/>
              <a:t>Восстановление геометрии и точности</a:t>
            </a:r>
          </a:p>
          <a:p>
            <a:pPr lvl="0"/>
            <a:r>
              <a:rPr/>
              <a:t>Замена изношенных узлов и механизмов</a:t>
            </a:r>
          </a:p>
          <a:p>
            <a:pPr lvl="0"/>
            <a:r>
              <a:rPr/>
              <a:t>Гарантия на все виды работ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⚙️ Модернизация:</a:t>
            </a:r>
          </a:p>
          <a:p>
            <a:pPr lvl="0"/>
            <a:r>
              <a:rPr/>
              <a:t>Установка систем ЧПУ на станки</a:t>
            </a:r>
          </a:p>
          <a:p>
            <a:pPr lvl="0"/>
            <a:r>
              <a:rPr/>
              <a:t>Модернизация электрооборудования</a:t>
            </a:r>
          </a:p>
          <a:p>
            <a:pPr lvl="0"/>
            <a:r>
              <a:rPr/>
              <a:t>Повышение производительности</a:t>
            </a:r>
          </a:p>
          <a:p>
            <a:pPr lvl="0"/>
            <a:r>
              <a:rPr/>
              <a:t>Улучшение точностных характеристик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🏭 Производство:</a:t>
            </a:r>
          </a:p>
          <a:p>
            <a:pPr lvl="0"/>
            <a:r>
              <a:rPr/>
              <a:t>Изготовление запасных частей по чертежам</a:t>
            </a:r>
          </a:p>
          <a:p>
            <a:pPr lvl="0"/>
            <a:r>
              <a:rPr/>
              <a:t>Производство нестандартного оборудования</a:t>
            </a:r>
          </a:p>
          <a:p>
            <a:pPr lvl="0"/>
            <a:r>
              <a:rPr/>
              <a:t>Изготовление шестерен и зубчатых передач</a:t>
            </a:r>
          </a:p>
          <a:p>
            <a:pPr lvl="0"/>
            <a:r>
              <a:rPr/>
              <a:t>Производство револьверных головок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📦 Поставка:</a:t>
            </a:r>
          </a:p>
          <a:p>
            <a:pPr lvl="0"/>
            <a:r>
              <a:rPr/>
              <a:t>Новое станочное оборудование</a:t>
            </a:r>
          </a:p>
          <a:p>
            <a:pPr lvl="0"/>
            <a:r>
              <a:rPr/>
              <a:t>Запасные части (30+ моделей станков)</a:t>
            </a:r>
          </a:p>
          <a:p>
            <a:pPr lvl="0"/>
            <a:r>
              <a:rPr/>
              <a:t>Инструмент и оснастка</a:t>
            </a:r>
          </a:p>
          <a:p>
            <a:pPr lvl="0"/>
            <a:r>
              <a:rPr/>
              <a:t>Комплексное оснащение производств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Слайд 10: Портал запасных частей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Онлайн-каталог и оперативные поставки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🌐 Электронный каталог:</a:t>
            </a:r>
          </a:p>
          <a:p>
            <a:pPr lvl="0"/>
            <a:r>
              <a:rPr b="1"/>
              <a:t>500+</a:t>
            </a:r>
            <a:r>
              <a:rPr/>
              <a:t> моделей станочного оборудования</a:t>
            </a:r>
          </a:p>
          <a:p>
            <a:pPr lvl="0"/>
            <a:r>
              <a:rPr b="1"/>
              <a:t>Более 30</a:t>
            </a:r>
            <a:r>
              <a:rPr/>
              <a:t> основных моделей станков с постоянным наличием запчастей</a:t>
            </a:r>
          </a:p>
          <a:p>
            <a:pPr lvl="0"/>
            <a:r>
              <a:rPr/>
              <a:t>Подробные спецификации и чертежи</a:t>
            </a:r>
          </a:p>
          <a:p>
            <a:pPr lvl="0"/>
            <a:r>
              <a:rPr/>
              <a:t>Онлайн-заказ 24/7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📦 Виды запасных частей:</a:t>
            </a:r>
          </a:p>
          <a:p>
            <a:pPr lvl="0"/>
            <a:r>
              <a:rPr/>
              <a:t>Шпиндельные узлы</a:t>
            </a:r>
          </a:p>
          <a:p>
            <a:pPr lvl="0"/>
            <a:r>
              <a:rPr/>
              <a:t>Суппорты и каретки</a:t>
            </a:r>
          </a:p>
          <a:p>
            <a:pPr lvl="0"/>
            <a:r>
              <a:rPr/>
              <a:t>Коробки подач и скоростей</a:t>
            </a:r>
          </a:p>
          <a:p>
            <a:pPr lvl="0"/>
            <a:r>
              <a:rPr/>
              <a:t>Электродвигатели и приводы</a:t>
            </a:r>
          </a:p>
          <a:p>
            <a:pPr lvl="0"/>
            <a:r>
              <a:rPr/>
              <a:t>Гидравлические и пневматические системы</a:t>
            </a:r>
          </a:p>
          <a:p>
            <a:pPr lvl="0"/>
            <a:r>
              <a:rPr/>
              <a:t>Направляющие и станины</a:t>
            </a:r>
          </a:p>
          <a:p>
            <a:pPr lvl="0"/>
            <a:r>
              <a:rPr/>
              <a:t>Зубчатые колеса и валы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⚡ Преимущества:</a:t>
            </a:r>
          </a:p>
          <a:p>
            <a:pPr lvl="0"/>
            <a:r>
              <a:rPr/>
              <a:t>✅ Складская программа – быстрая отгрузка</a:t>
            </a:r>
          </a:p>
          <a:p>
            <a:pPr lvl="0"/>
            <a:r>
              <a:rPr/>
              <a:t>✅ Изготовление под заказ – любые сроки</a:t>
            </a:r>
          </a:p>
          <a:p>
            <a:pPr lvl="0"/>
            <a:r>
              <a:rPr/>
              <a:t>✅ Прямые контракты с производителями</a:t>
            </a:r>
          </a:p>
          <a:p>
            <a:pPr lvl="0"/>
            <a:r>
              <a:rPr/>
              <a:t>✅ Конкурентные цены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Слайд 11: Стандарты качества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Работаем по высшим стандартам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📜 Соответствие требованиям:</a:t>
            </a:r>
          </a:p>
          <a:p>
            <a:pPr lvl="0"/>
            <a:r>
              <a:rPr/>
              <a:t>✅ </a:t>
            </a:r>
            <a:r>
              <a:rPr b="1"/>
              <a:t>ГОСТ</a:t>
            </a:r>
            <a:r>
              <a:rPr/>
              <a:t> – все работы по государственным стандартам</a:t>
            </a:r>
          </a:p>
          <a:p>
            <a:pPr lvl="0"/>
            <a:r>
              <a:rPr/>
              <a:t>✅ </a:t>
            </a:r>
            <a:r>
              <a:rPr b="1"/>
              <a:t>СТО</a:t>
            </a:r>
            <a:r>
              <a:rPr/>
              <a:t> – стандарты организации</a:t>
            </a:r>
          </a:p>
          <a:p>
            <a:pPr lvl="0"/>
            <a:r>
              <a:rPr/>
              <a:t>✅ </a:t>
            </a:r>
            <a:r>
              <a:rPr b="1"/>
              <a:t>ISO</a:t>
            </a:r>
            <a:r>
              <a:rPr/>
              <a:t> – международные стандарты качества</a:t>
            </a:r>
          </a:p>
          <a:p>
            <a:pPr lvl="0"/>
            <a:r>
              <a:rPr/>
              <a:t>✅ </a:t>
            </a:r>
            <a:r>
              <a:rPr b="1"/>
              <a:t>Требования ОПК</a:t>
            </a:r>
            <a:r>
              <a:rPr/>
              <a:t> – соответствие нормам оборонно-промышленного комплекса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🔬 Контроль качества:</a:t>
            </a:r>
          </a:p>
          <a:p>
            <a:pPr lvl="0"/>
            <a:r>
              <a:rPr/>
              <a:t>Входной контроль материалов и комплектующих</a:t>
            </a:r>
          </a:p>
          <a:p>
            <a:pPr lvl="0"/>
            <a:r>
              <a:rPr/>
              <a:t>Операционный контроль в процессе производства</a:t>
            </a:r>
          </a:p>
          <a:p>
            <a:pPr lvl="0"/>
            <a:r>
              <a:rPr/>
              <a:t>Финальная приемка готовой продукции</a:t>
            </a:r>
          </a:p>
          <a:p>
            <a:pPr lvl="0"/>
            <a:r>
              <a:rPr/>
              <a:t>Испытания и тестирование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📋 Документация:</a:t>
            </a:r>
          </a:p>
          <a:p>
            <a:pPr lvl="0"/>
            <a:r>
              <a:rPr/>
              <a:t>Полный пакет исполнительной документации</a:t>
            </a:r>
          </a:p>
          <a:p>
            <a:pPr lvl="0"/>
            <a:r>
              <a:rPr/>
              <a:t>Сертификаты соответствия</a:t>
            </a:r>
          </a:p>
          <a:p>
            <a:pPr lvl="0"/>
            <a:r>
              <a:rPr/>
              <a:t>Паспорта на оборудование</a:t>
            </a:r>
          </a:p>
          <a:p>
            <a:pPr lvl="0"/>
            <a:r>
              <a:rPr/>
              <a:t>Гарантийные обязательства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Слайд 11А: НАШИ ПРЕИМУЩЕСТВА - КРАТКАЯ СВОДКА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🏆 ЧТО НАС ОТЛИЧАЕТ ОТ КОНКУРЕНТОВ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🎯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ОПЫТ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┌──────────────┐
│   12 ЛЕТ     │
│  НА РЫНКЕ    │
│              │
│  С 2014 г.   │
└──────────────┘</a:t>
            </a:r>
          </a:p>
          <a:p>
            <a:pPr lvl="0" indent="0" marL="0">
              <a:buNone/>
            </a:pPr>
            <a:r>
              <a:rPr/>
              <a:t>Проверенная</a:t>
            </a:r>
            <a:br/>
            <a:r>
              <a:rPr/>
              <a:t>репутация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🏭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МАСШТАБ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┌──────────────┐
│ 4 ПЛОЩАДКИ   │
│              │
│ 15 000+ м²   │
│              │
└──────────────┘</a:t>
            </a:r>
          </a:p>
          <a:p>
            <a:pPr lvl="0" indent="0" marL="0">
              <a:buNone/>
            </a:pPr>
            <a:r>
              <a:rPr/>
              <a:t>Географическая</a:t>
            </a:r>
            <a:br/>
            <a:r>
              <a:rPr/>
              <a:t>доступность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⚙️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МОЩНОСТЬ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┌──────────────┐
│   КРАН       │
│  160 ТОНН!   │
│              │
│ до 150 тонн  │
└──────────────┘</a:t>
            </a:r>
          </a:p>
          <a:p>
            <a:pPr lvl="0" indent="0" marL="0">
              <a:buNone/>
            </a:pPr>
            <a:r>
              <a:rPr/>
              <a:t>Уникальные</a:t>
            </a:r>
            <a:br/>
            <a:r>
              <a:rPr/>
              <a:t>возможности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👥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КОМАНДА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┌──────────────┐
│     60+      │
│ СПЕЦИАЛИСТОВ │
│              │
│  Профи ОПК   │
└──────────────┘</a:t>
            </a:r>
          </a:p>
          <a:p>
            <a:pPr lvl="0" indent="0" marL="0">
              <a:buNone/>
            </a:pPr>
            <a:r>
              <a:rPr/>
              <a:t>Высокая</a:t>
            </a:r>
            <a:br/>
            <a:r>
              <a:rPr/>
              <a:t>квалификация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💼 ПОЛНЫЙ ЦИКЛ ОБСЛУЖИВАНИЯ</a:t>
            </a:r>
          </a:p>
          <a:p>
            <a:pPr lvl="0" indent="0">
              <a:buNone/>
            </a:pPr>
            <a:r>
              <a:rPr>
                <a:latin typeface="Courier"/>
              </a:rPr>
              <a:t>╔════════════════════════════════════════════════════════════════════════╗
║                                                                        ║
║  РЕМОНТ ═══► МОДЕРНИЗАЦИЯ ═══► ПРОИЗВОДСТВО ═══► ПОСТГАРАНТИЯ        ║
║                                                                        ║
║  ✓ Восстановление      ✓ Установка ЧПУ      ✓ Собственное           ║
║  ✓ Капремонт           ✓ Повышение точности  ✓ Изготовление          ║
║  ✓ Диагностика         ✓ Автоматизация       ✓ Запчасти 500+ моделей ║
║                                                                        ║
╚════════════════════════════════════════════════════════════════════════╝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✅ КАЧЕСТВО</a:t>
            </a:r>
          </a:p>
          <a:p>
            <a:pPr lvl="0"/>
            <a:r>
              <a:rPr/>
              <a:t>ГОСТ, ISO, ОПК</a:t>
            </a:r>
          </a:p>
          <a:p>
            <a:pPr lvl="0"/>
            <a:r>
              <a:rPr/>
              <a:t>Сертифицированные процессы</a:t>
            </a:r>
          </a:p>
          <a:p>
            <a:pPr lvl="0"/>
            <a:r>
              <a:rPr/>
              <a:t>Многоступенчатый контроль</a:t>
            </a:r>
          </a:p>
          <a:p>
            <a:pPr lvl="0"/>
            <a:r>
              <a:rPr/>
              <a:t>Гарантийные обязательства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⚡ ОПЕРАТИВНОСТЬ</a:t>
            </a:r>
          </a:p>
          <a:p>
            <a:pPr lvl="0"/>
            <a:r>
              <a:rPr/>
              <a:t>Быстрые сроки</a:t>
            </a:r>
          </a:p>
          <a:p>
            <a:pPr lvl="0"/>
            <a:r>
              <a:rPr/>
              <a:t>Складская программа</a:t>
            </a:r>
          </a:p>
          <a:p>
            <a:pPr lvl="0"/>
            <a:r>
              <a:rPr/>
              <a:t>24/7 техподдержка</a:t>
            </a:r>
          </a:p>
          <a:p>
            <a:pPr lvl="0"/>
            <a:r>
              <a:rPr/>
              <a:t>Экстренные работы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🤝 НАДЕЖНОСТЬ</a:t>
            </a:r>
          </a:p>
          <a:p>
            <a:pPr lvl="0"/>
            <a:r>
              <a:rPr/>
              <a:t>12 лет на рынке</a:t>
            </a:r>
          </a:p>
          <a:p>
            <a:pPr lvl="0"/>
            <a:r>
              <a:rPr/>
              <a:t>Работа с ОПК</a:t>
            </a:r>
          </a:p>
          <a:p>
            <a:pPr lvl="0"/>
            <a:r>
              <a:rPr/>
              <a:t>Крупные клиенты</a:t>
            </a:r>
          </a:p>
          <a:p>
            <a:pPr lvl="0"/>
            <a:r>
              <a:rPr/>
              <a:t>Долгосрочные отношения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🌟 КЛЮЧЕВОЕ КОНКУРЕНТНОЕ ПРЕИМУЩЕСТВО:</a:t>
            </a:r>
          </a:p>
          <a:p>
            <a:pPr lvl="0" indent="0">
              <a:buNone/>
            </a:pPr>
            <a:r>
              <a:rPr>
                <a:latin typeface="Courier"/>
              </a:rPr>
              <a:t>╔═══════════════════════════════════════════════════════════════════════╗
║                                                                       ║
║     МЫ ЕДИНСТВЕННЫЕ В РЕГИОНЕ, КТО МОЖЕТ ОБРАБОТАТЬ                 ║
║     ДЕТАЛИ ВЕСОМ ДО 150 ТОНН НА МОСТОВОМ КРАНЕ 160 ТОНН            ║
║                                                                       ║
║           + ПОЛНЫЙ ЦИКЛ ПРОИЗВОДСТВА И МОДЕРНИЗАЦИИ                  ║
║                                                                       ║
╚═══════════════════════════════════════════════════════════════════════╝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Слайд 12: Конкурентные преимущества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🌟 Почему выбирают ТД РУССтанкоСбыт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⚡ ОПЕРАТИВНОСТЬ</a:t>
            </a:r>
          </a:p>
          <a:p>
            <a:pPr lvl="0" indent="0">
              <a:buNone/>
            </a:pPr>
            <a:r>
              <a:rPr>
                <a:latin typeface="Courier"/>
              </a:rPr>
              <a:t>✓ Быстрая реакция на запросы
✓ Короткие сроки изготовления
✓ Наличие складской программы
✓ Круглосуточная техподдержка</a:t>
            </a:r>
          </a:p>
          <a:p>
            <a:pPr lvl="0" indent="0" marL="0">
              <a:buNone/>
            </a:pPr>
            <a:r>
              <a:rPr b="1"/>
              <a:t>Результат:</a:t>
            </a:r>
            <a:r>
              <a:rPr/>
              <a:t> Минимальное время простоя вашего оборудования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💰 ПРОЗРАЧНОСТЬ</a:t>
            </a:r>
          </a:p>
          <a:p>
            <a:pPr lvl="0" indent="0">
              <a:buNone/>
            </a:pPr>
            <a:r>
              <a:rPr>
                <a:latin typeface="Courier"/>
              </a:rPr>
              <a:t>✓ Честное ценообразование
✓ Детальные сметы
✓ Отчетность на всех этапах
✓ Фиксированные сроки</a:t>
            </a:r>
          </a:p>
          <a:p>
            <a:pPr lvl="0" indent="0" marL="0">
              <a:buNone/>
            </a:pPr>
            <a:r>
              <a:rPr b="1"/>
              <a:t>Результат:</a:t>
            </a:r>
            <a:r>
              <a:rPr/>
              <a:t> Полный контроль над бюджетом и сроками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💎 КАЧЕСТВО</a:t>
            </a:r>
          </a:p>
          <a:p>
            <a:pPr lvl="0" indent="0">
              <a:buNone/>
            </a:pPr>
            <a:r>
              <a:rPr>
                <a:latin typeface="Courier"/>
              </a:rPr>
              <a:t>✓ Оригинальные комплектующие
✓ Современное оборудование
✓ Квалифицированный персонал
✓ Многоступенчатый контроль</a:t>
            </a:r>
          </a:p>
          <a:p>
            <a:pPr lvl="0" indent="0" marL="0">
              <a:buNone/>
            </a:pPr>
            <a:r>
              <a:rPr b="1"/>
              <a:t>Результат:</a:t>
            </a:r>
            <a:r>
              <a:rPr/>
              <a:t> Гарантия надежности и долговечности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🤝 ДОЛГОСРОЧНОЕ ПАРТНЕРСТВО</a:t>
            </a:r>
          </a:p>
          <a:p>
            <a:pPr lvl="0" indent="0">
              <a:buNone/>
            </a:pPr>
            <a:r>
              <a:rPr>
                <a:latin typeface="Courier"/>
              </a:rPr>
              <a:t>✓ Индивидуальный подход
✓ Гибкие условия сотрудничества
✓ Постгарантийное обслуживание
✓ Накопительные скидки</a:t>
            </a:r>
          </a:p>
          <a:p>
            <a:pPr lvl="0" indent="0" marL="0">
              <a:buNone/>
            </a:pPr>
            <a:r>
              <a:rPr b="1"/>
              <a:t>Результат:</a:t>
            </a:r>
            <a:r>
              <a:rPr/>
              <a:t> Выгодное долгосрочное сотрудничество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🏆 НАШЕ ГЛАВНОЕ ПРЕИМУЩЕСТВО</a:t>
            </a:r>
          </a:p>
          <a:p>
            <a:pPr lvl="0" indent="0">
              <a:buNone/>
            </a:pPr>
            <a:r>
              <a:rPr>
                <a:latin typeface="Courier"/>
              </a:rPr>
              <a:t>╔══════════════════════════════════════════════════════════════════╗
║                                                                  ║
║   🏭 4 ПРОИЗВОДСТВЕННЫЕ ПЛОЩАДКИ В РАЗНЫХ РЕГИОНАХ              ║
║   📐 15 000+ М² ПРОИЗВОДСТВЕННЫХ ПЛОЩАДЕЙ                       ║
║   🏗️ МОСТОВОЙ КРАН 160 ТОНН - ОБРАБОТКА ДЕТАЛЕЙ ДО 150 ТОНН   ║
║   👨‍🔧 60+ КВАЛИФИЦИРОВАННЫХ СПЕЦИАЛИСТОВ                        ║
║   ⚙️ СОБСТВЕННЫЙ ПАРК СОВРЕМЕННОГО ОБОРУДОВАНИЯ                 ║
║                                                                  ║
╚══════════════════════════════════════════════════════════════════╝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МЫ МОЖЕМ ТО, ЧТО НЕ МОГУТ ДРУГИЕ!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Слайд 13: Портфолио работ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Примеры реализованных проектов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🏗️ Судостроительная промышленность:</a:t>
            </a:r>
          </a:p>
          <a:p>
            <a:pPr lvl="0"/>
            <a:r>
              <a:rPr/>
              <a:t>Ремонт и модернизация токарных станков больших диаметров</a:t>
            </a:r>
          </a:p>
          <a:p>
            <a:pPr lvl="0"/>
            <a:r>
              <a:rPr/>
              <a:t>Изготовление крупногабаритных валов</a:t>
            </a:r>
          </a:p>
          <a:p>
            <a:pPr lvl="0"/>
            <a:r>
              <a:rPr/>
              <a:t>Производство специализированных шестерен</a:t>
            </a:r>
          </a:p>
          <a:p>
            <a:pPr lvl="0"/>
            <a:r>
              <a:rPr/>
              <a:t>Восстановление уникального оборудования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🏭 Металлургия и машиностроение:</a:t>
            </a:r>
          </a:p>
          <a:p>
            <a:pPr lvl="0"/>
            <a:r>
              <a:rPr/>
              <a:t>Капитальный ремонт прессового оборудования</a:t>
            </a:r>
          </a:p>
          <a:p>
            <a:pPr lvl="0"/>
            <a:r>
              <a:rPr/>
              <a:t>Модернизация фрезерных станков</a:t>
            </a:r>
          </a:p>
          <a:p>
            <a:pPr lvl="0"/>
            <a:r>
              <a:rPr/>
              <a:t>Изготовление нестандартных деталей по чертежам</a:t>
            </a:r>
          </a:p>
          <a:p>
            <a:pPr lvl="0"/>
            <a:r>
              <a:rPr/>
              <a:t>Комплексное оснащение производственных участков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⚙️ Специальные проекты:</a:t>
            </a:r>
          </a:p>
          <a:p>
            <a:pPr lvl="0"/>
            <a:r>
              <a:rPr/>
              <a:t>Изготовление револьверных головок под индивидуальные требования</a:t>
            </a:r>
          </a:p>
          <a:p>
            <a:pPr lvl="0"/>
            <a:r>
              <a:rPr/>
              <a:t>Производство зубчатых передач повышенной точности</a:t>
            </a:r>
          </a:p>
          <a:p>
            <a:pPr lvl="0"/>
            <a:r>
              <a:rPr/>
              <a:t>Восстановление станков 50-70х годов выпуска</a:t>
            </a:r>
          </a:p>
          <a:p>
            <a:pPr lvl="0"/>
            <a:r>
              <a:rPr/>
              <a:t>Модернизация станков с установкой ЧПУ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📸 Фотогалерея оборудования и выполненных работ:</a:t>
            </a:r>
          </a:p>
          <a:p>
            <a:pPr lvl="0" indent="0" marL="0">
              <a:buNone/>
            </a:pPr>
            <a:r>
              <a:rPr i="1"/>
              <a:t>[Место для вставки фотографий производственных площадок, оборудования и готовых изделий]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Слайд 14: Сертификация и партнеры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Официальные допуски и партнерства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📜 Наши сертификаты и допуски:</a:t>
            </a:r>
          </a:p>
          <a:p>
            <a:pPr lvl="0"/>
            <a:r>
              <a:rPr/>
              <a:t>✅ Сертификаты соответствия ГОСТ</a:t>
            </a:r>
          </a:p>
          <a:p>
            <a:pPr lvl="0"/>
            <a:r>
              <a:rPr/>
              <a:t>✅ Сертификаты ISO (система менеджмента качества)</a:t>
            </a:r>
          </a:p>
          <a:p>
            <a:pPr lvl="0"/>
            <a:r>
              <a:rPr/>
              <a:t>✅ Допуск к работам на режимных объектах</a:t>
            </a:r>
          </a:p>
          <a:p>
            <a:pPr lvl="0"/>
            <a:r>
              <a:rPr/>
              <a:t>✅ Допуск к работе с объектами гособоронзаказа (ГПЗ)</a:t>
            </a:r>
          </a:p>
          <a:p>
            <a:pPr lvl="0"/>
            <a:r>
              <a:rPr/>
              <a:t>✅ Лицензии на производство специализированной продукции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🤝 Партнерские отношения:</a:t>
            </a:r>
          </a:p>
          <a:p>
            <a:pPr lvl="0"/>
            <a:r>
              <a:rPr b="1"/>
              <a:t>ОАО «Тяжмехпресс»</a:t>
            </a:r>
            <a:r>
              <a:rPr/>
              <a:t> (Воронеж) – совместное использование производственных мощностей</a:t>
            </a:r>
          </a:p>
          <a:p>
            <a:pPr lvl="0"/>
            <a:r>
              <a:rPr b="1"/>
              <a:t>Заводы-производители</a:t>
            </a:r>
            <a:r>
              <a:rPr/>
              <a:t> станочного оборудования</a:t>
            </a:r>
          </a:p>
          <a:p>
            <a:pPr lvl="0"/>
            <a:r>
              <a:rPr b="1"/>
              <a:t>Поставщики материалов</a:t>
            </a:r>
            <a:r>
              <a:rPr/>
              <a:t> – прямые контракты</a:t>
            </a:r>
          </a:p>
          <a:p>
            <a:pPr lvl="0"/>
            <a:r>
              <a:rPr b="1"/>
              <a:t>Конструкторские бюро</a:t>
            </a:r>
            <a:r>
              <a:rPr/>
              <a:t> – совместная разработка решений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🏆 Рекомендации от:</a:t>
            </a:r>
          </a:p>
          <a:p>
            <a:pPr lvl="0"/>
            <a:r>
              <a:rPr/>
              <a:t>🏢 Корпорация “Звездочка”</a:t>
            </a:r>
          </a:p>
          <a:p>
            <a:pPr lvl="0"/>
            <a:r>
              <a:rPr/>
              <a:t>🏢 ПАО “Севмаш”</a:t>
            </a:r>
          </a:p>
          <a:p>
            <a:pPr lvl="0"/>
            <a:r>
              <a:rPr/>
              <a:t>🏢 АО “Уральская Сталь”</a:t>
            </a:r>
          </a:p>
          <a:p>
            <a:pPr lvl="0"/>
            <a:r>
              <a:rPr/>
              <a:t>🏢 И других крупных предприятий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Слайд 15: Контакты и готовность к сотрудничеству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📞 Свяжитесь с нами прямо сейчас!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📧 КОНТАКТЫ</a:t>
            </a:r>
          </a:p>
          <a:p>
            <a:pPr lvl="0" indent="0">
              <a:buNone/>
            </a:pPr>
            <a:r>
              <a:rPr>
                <a:latin typeface="Courier"/>
              </a:rPr>
              <a:t>╔════════════════════════════════════╗
║                                    ║
║  📧 zakaz@tdrusstankosbyt.ru      ║
║  📱 +7 (499) 390-85-04            ║
║  🌐 tdrusstankosbyt.ru            ║
║  💬 t.me/tdrusstankosbyt          ║
║                                    ║
╚════════════════════════════════════╝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👥 РУКОВОДСТВО</a:t>
            </a:r>
          </a:p>
          <a:p>
            <a:pPr lvl="0" indent="0" marL="0">
              <a:buNone/>
            </a:pPr>
            <a:r>
              <a:rPr b="1"/>
              <a:t>Генеральный директор:</a:t>
            </a:r>
            <a:br/>
            <a:r>
              <a:rPr/>
              <a:t>Хыдырова Наталья Курбановна</a:t>
            </a:r>
          </a:p>
          <a:p>
            <a:pPr lvl="0" indent="0" marL="0">
              <a:buNone/>
            </a:pPr>
            <a:r>
              <a:rPr b="1"/>
              <a:t>Менеджер отдела продаж:</a:t>
            </a:r>
            <a:br/>
            <a:r>
              <a:rPr/>
              <a:t>Смирных Максим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🎯 МЫ ГОТОВЫ: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┌────────────────────────────────┐
│ ✅ Предоставить КП за 24 часа  │
│                                │
│ ✅ Провести техническую        │
│    экспертизу оборудования     │
│                                │
│ ✅ Разработать индивидуальное  │
│    решение под ваши задачи     │
│                                │
│ ✅ Организовать визит на       │
│    производственные площадки   │
└────────────────────────────────┘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⚙️ ТД РУССтанкоСбыт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Надежный партнер для вашего производства с 2014 года!</a:t>
            </a:r>
          </a:p>
          <a:p>
            <a:pPr lvl="0" indent="0">
              <a:buNone/>
            </a:pPr>
            <a:r>
              <a:rPr>
                <a:latin typeface="Courier"/>
              </a:rPr>
              <a:t>╔════════════════════════════════════════════════════════════════════╗
║                                                                    ║
║         🏆 12 ЛЕТ ОПЫТА | 4 ПЛОЩАДКИ | 60+ СПЕЦИАЛИСТОВ          ║
║         ⚙️ ПОЛНЫЙ ЦИКЛ ОБСЛУЖИВАНИЯ СТАНОЧНОГО ПАРКА             ║
║         🏗️ ОБРАБОТКА ДЕТАЛЕЙ ДО 150 ТОНН                         ║
║                                                                    ║
╚════════════════════════════════════════════════════════════════════╝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СПАСИБО ЗА ВНИМАНИЕ!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Готовы ответить на ваши вопросы.</a:t>
            </a:r>
          </a:p>
          <a:p>
            <a:pPr lvl="0" indent="0" marL="0">
              <a:buNone/>
            </a:pPr>
            <a:r>
              <a:rPr i="1"/>
              <a:t>Презентация подготовлена для АО “Производственное объединение”Севмаш”</a:t>
            </a:r>
            <a:br/>
            <a:r>
              <a:rPr i="1"/>
              <a:t>и АО “Центр судоремонта”Звездочка” | Дата: 16 января 2026 года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2026-01-16T14:23:10Z</dcterms:created>
  <dcterms:modified xsi:type="dcterms:W3CDTF">2026-01-16T14:23:10Z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