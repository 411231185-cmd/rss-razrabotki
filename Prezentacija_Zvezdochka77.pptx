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ТД РУССтанкоСбыт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/>
            </a:pPr>
            <a:r>
              <a:t>Презентация для АО "ПО "Севмаш" и АО "ЦС "Звездочка"</a:t>
            </a:r>
          </a:p>
          <a:p>
            <a:pPr lvl="1">
              <a:spcAft>
                <a:spcPts val="600"/>
              </a:spcAft>
              <a:defRPr sz="1400"/>
            </a:pPr>
            <a:r>
              <a:t>• Ремонт, модернизация и производство станочного оборудования</a:t>
            </a:r>
          </a:p>
          <a:p>
            <a:pPr>
              <a:spcAft>
                <a:spcPts val="600"/>
              </a:spcAft>
              <a:defRPr sz="1400"/>
            </a:pPr>
            <a:r>
              <a:t>Ключевые показатели:</a:t>
            </a:r>
          </a:p>
          <a:p>
            <a:pPr>
              <a:spcAft>
                <a:spcPts val="600"/>
              </a:spcAft>
              <a:defRPr sz="1400"/>
            </a:pPr>
            <a:r>
              <a:t>- 12 лет на рынке</a:t>
            </a:r>
          </a:p>
          <a:p>
            <a:pPr>
              <a:spcAft>
                <a:spcPts val="600"/>
              </a:spcAft>
              <a:defRPr sz="1400"/>
            </a:pPr>
            <a:r>
              <a:t>- 4 производственных площадки</a:t>
            </a:r>
          </a:p>
          <a:p>
            <a:pPr>
              <a:spcAft>
                <a:spcPts val="600"/>
              </a:spcAft>
              <a:defRPr sz="1400"/>
            </a:pPr>
            <a:r>
              <a:t>- 15 000+ м² производственных площадей</a:t>
            </a:r>
          </a:p>
          <a:p>
            <a:pPr>
              <a:spcAft>
                <a:spcPts val="600"/>
              </a:spcAft>
              <a:defRPr sz="1400"/>
            </a:pPr>
            <a:r>
              <a:t>- 200+ специалистов</a:t>
            </a:r>
          </a:p>
          <a:p>
            <a:pPr>
              <a:spcAft>
                <a:spcPts val="600"/>
              </a:spcAft>
              <a:defRPr sz="1400"/>
            </a:pPr>
            <a:r>
              <a:t>Контакты:</a:t>
            </a:r>
          </a:p>
          <a:p>
            <a:pPr>
              <a:spcAft>
                <a:spcPts val="600"/>
              </a:spcAft>
              <a:defRPr sz="1400"/>
            </a:pPr>
            <a:r>
              <a:t>- Email: zakaz@tdrusstankosbyt.ru</a:t>
            </a:r>
          </a:p>
          <a:p>
            <a:pPr>
              <a:spcAft>
                <a:spcPts val="600"/>
              </a:spcAft>
              <a:defRPr sz="1400"/>
            </a:pPr>
            <a:r>
              <a:t>- Телефон: +7 (499) 390-85-04</a:t>
            </a:r>
          </a:p>
          <a:p>
            <a:pPr>
              <a:spcAft>
                <a:spcPts val="600"/>
              </a:spcAft>
              <a:defRPr sz="1400"/>
            </a:pPr>
            <a:r>
              <a:t>- Сайт: https://tdrusstankosbyt.ru</a:t>
            </a:r>
          </a:p>
          <a:p>
            <a:pPr>
              <a:spcAft>
                <a:spcPts val="600"/>
              </a:spcAft>
              <a:defRPr sz="1400"/>
            </a:pPr>
            <a:r>
              <a:t>- Telegram: https://t.me/tdrusstankosbyt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О компании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Основана в 2014 году</a:t>
            </a:r>
          </a:p>
          <a:p>
            <a:pPr>
              <a:spcAft>
                <a:spcPts val="600"/>
              </a:spcAft>
              <a:defRPr sz="1400"/>
            </a:pPr>
            <a:r>
              <a:t>Специализация: Комплексное обслуживание станочного оборудования полного цикла</a:t>
            </a:r>
          </a:p>
          <a:p>
            <a:pPr lvl="1">
              <a:spcAft>
                <a:spcPts val="600"/>
              </a:spcAft>
              <a:defRPr sz="1400"/>
            </a:pPr>
            <a:r>
              <a:t>• Наши услуги</a:t>
            </a:r>
          </a:p>
          <a:p>
            <a:pPr>
              <a:spcAft>
                <a:spcPts val="600"/>
              </a:spcAft>
              <a:defRPr sz="1400"/>
            </a:pPr>
            <a:r>
              <a:t>  Направление   Описание  </a:t>
            </a:r>
          </a:p>
          <a:p>
            <a:pPr>
              <a:spcAft>
                <a:spcPts val="600"/>
              </a:spcAft>
              <a:defRPr sz="1400"/>
            </a:pPr>
            <a:r>
              <a:t> ------------- ---------- </a:t>
            </a:r>
          </a:p>
          <a:p>
            <a:pPr>
              <a:spcAft>
                <a:spcPts val="600"/>
              </a:spcAft>
              <a:defRPr sz="1400"/>
            </a:pPr>
            <a:r>
              <a:t>  Ремонт и модернизация   Восстановление и улучшение характеристик станков  </a:t>
            </a:r>
          </a:p>
          <a:p>
            <a:pPr>
              <a:spcAft>
                <a:spcPts val="600"/>
              </a:spcAft>
              <a:defRPr sz="1400"/>
            </a:pPr>
            <a:r>
              <a:t>  Производство и поставка   Изготовление нового оборудования и запасных частей  </a:t>
            </a:r>
          </a:p>
          <a:p>
            <a:pPr lvl="1">
              <a:spcAft>
                <a:spcPts val="600"/>
              </a:spcAft>
              <a:defRPr sz="1400"/>
            </a:pPr>
            <a:r>
              <a:t>• Крупнейшие клиенты</a:t>
            </a:r>
          </a:p>
          <a:p>
            <a:pPr>
              <a:spcAft>
                <a:spcPts val="600"/>
              </a:spcAft>
              <a:defRPr sz="1400"/>
            </a:pPr>
            <a:r>
              <a:t>- АО "Завод "Сельмаш"</a:t>
            </a:r>
          </a:p>
          <a:p>
            <a:pPr>
              <a:spcAft>
                <a:spcPts val="600"/>
              </a:spcAft>
              <a:defRPr sz="1400"/>
            </a:pPr>
            <a:r>
              <a:t>- АО "Таганрогский металлургический завод"</a:t>
            </a:r>
          </a:p>
          <a:p>
            <a:pPr>
              <a:spcAft>
                <a:spcPts val="600"/>
              </a:spcAft>
              <a:defRPr sz="1400"/>
            </a:pPr>
            <a:r>
              <a:t>- КАО "АЗОТ"</a:t>
            </a:r>
          </a:p>
          <a:p>
            <a:pPr>
              <a:spcAft>
                <a:spcPts val="600"/>
              </a:spcAft>
              <a:defRPr sz="1400"/>
            </a:pPr>
            <a:r>
              <a:t>- АО "Туламашзавод"</a:t>
            </a:r>
          </a:p>
          <a:p>
            <a:pPr>
              <a:spcAft>
                <a:spcPts val="600"/>
              </a:spcAft>
              <a:defRPr sz="1400"/>
            </a:pPr>
            <a:r>
              <a:t>- ПАО "ДНПП"</a:t>
            </a:r>
          </a:p>
          <a:p>
            <a:pPr>
              <a:spcAft>
                <a:spcPts val="600"/>
              </a:spcAft>
              <a:defRPr sz="1400"/>
            </a:pPr>
            <a:r>
              <a:t>- ООО "ТМК НГС-Бузулук"</a:t>
            </a:r>
          </a:p>
          <a:p>
            <a:pPr>
              <a:spcAft>
                <a:spcPts val="600"/>
              </a:spcAft>
              <a:defRPr sz="1400"/>
            </a:pPr>
            <a:r>
              <a:t>- ПАО "Брянсксельмаш"</a:t>
            </a:r>
          </a:p>
          <a:p>
            <a:pPr>
              <a:spcAft>
                <a:spcPts val="600"/>
              </a:spcAft>
              <a:defRPr sz="1400"/>
            </a:pPr>
            <a:r>
              <a:t>- Более 100 других предприятий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Ключевые показатели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Опыт и масштаб</a:t>
            </a:r>
          </a:p>
          <a:p>
            <a:pPr>
              <a:spcAft>
                <a:spcPts val="600"/>
              </a:spcAft>
              <a:defRPr sz="1400"/>
            </a:pPr>
            <a:r>
              <a:t>  Показатель   Значение  </a:t>
            </a:r>
          </a:p>
          <a:p>
            <a:pPr>
              <a:spcAft>
                <a:spcPts val="600"/>
              </a:spcAft>
              <a:defRPr sz="1400"/>
            </a:pPr>
            <a:r>
              <a:t> ------------ ---------- </a:t>
            </a:r>
          </a:p>
          <a:p>
            <a:pPr>
              <a:spcAft>
                <a:spcPts val="600"/>
              </a:spcAft>
              <a:defRPr sz="1400"/>
            </a:pPr>
            <a:r>
              <a:t>  Опыт работы   12 лет (с 2014 года)  </a:t>
            </a:r>
          </a:p>
          <a:p>
            <a:pPr>
              <a:spcAft>
                <a:spcPts val="600"/>
              </a:spcAft>
              <a:defRPr sz="1400"/>
            </a:pPr>
            <a:r>
              <a:t>  Производственные площадки   4 объекта  </a:t>
            </a:r>
          </a:p>
          <a:p>
            <a:pPr>
              <a:spcAft>
                <a:spcPts val="600"/>
              </a:spcAft>
              <a:defRPr sz="1400"/>
            </a:pPr>
            <a:r>
              <a:t>  Общая площадь   Более 15 000 м²  </a:t>
            </a:r>
          </a:p>
          <a:p>
            <a:pPr>
              <a:spcAft>
                <a:spcPts val="600"/>
              </a:spcAft>
              <a:defRPr sz="1400"/>
            </a:pPr>
            <a:r>
              <a:t>  Квалифицированные специалисты   Более 200 человек  </a:t>
            </a:r>
          </a:p>
          <a:p>
            <a:pPr lvl="1">
              <a:spcAft>
                <a:spcPts val="600"/>
              </a:spcAft>
              <a:defRPr sz="1400"/>
            </a:pPr>
            <a:r>
              <a:t>• Состав команды</a:t>
            </a:r>
          </a:p>
          <a:p>
            <a:pPr>
              <a:spcAft>
                <a:spcPts val="600"/>
              </a:spcAft>
              <a:defRPr sz="1400"/>
            </a:pPr>
            <a:r>
              <a:t>- Конструкторы: 25 человек</a:t>
            </a:r>
          </a:p>
          <a:p>
            <a:pPr>
              <a:spcAft>
                <a:spcPts val="600"/>
              </a:spcAft>
              <a:defRPr sz="1400"/>
            </a:pPr>
            <a:r>
              <a:t>- Технологи: 7 человек</a:t>
            </a:r>
          </a:p>
          <a:p>
            <a:pPr>
              <a:spcAft>
                <a:spcPts val="600"/>
              </a:spcAft>
              <a:defRPr sz="1400"/>
            </a:pPr>
            <a:r>
              <a:t>- Токари: 45 человек</a:t>
            </a:r>
          </a:p>
          <a:p>
            <a:pPr>
              <a:spcAft>
                <a:spcPts val="600"/>
              </a:spcAft>
              <a:defRPr sz="1400"/>
            </a:pPr>
            <a:r>
              <a:t>- Фрезеровщики/шлифовщики: 15 человек</a:t>
            </a:r>
          </a:p>
          <a:p>
            <a:pPr>
              <a:spcAft>
                <a:spcPts val="600"/>
              </a:spcAft>
              <a:defRPr sz="1400"/>
            </a:pPr>
            <a:r>
              <a:t>- Специалисты по пусконаладке: 7 человек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География производства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Площадка 1 - Рязань (2 000 м²)</a:t>
            </a:r>
          </a:p>
          <a:p>
            <a:pPr>
              <a:spcAft>
                <a:spcPts val="600"/>
              </a:spcAft>
              <a:defRPr sz="1400"/>
            </a:pPr>
            <a:r>
              <a:t>- Производство полного цикла токарных и трубонарезных станков</a:t>
            </a:r>
          </a:p>
          <a:p>
            <a:pPr>
              <a:spcAft>
                <a:spcPts val="600"/>
              </a:spcAft>
              <a:defRPr sz="1400"/>
            </a:pPr>
            <a:r>
              <a:t>- Ремонт и модернизация оборудования</a:t>
            </a:r>
          </a:p>
          <a:p>
            <a:pPr>
              <a:spcAft>
                <a:spcPts val="600"/>
              </a:spcAft>
              <a:defRPr sz="1400"/>
            </a:pPr>
            <a:r>
              <a:t>- Участок производства зубчатых колес, валов, шпинделей</a:t>
            </a:r>
          </a:p>
          <a:p>
            <a:pPr>
              <a:spcAft>
                <a:spcPts val="600"/>
              </a:spcAft>
              <a:defRPr sz="1400"/>
            </a:pPr>
            <a:r>
              <a:t>- Участок производства револьверных головок</a:t>
            </a:r>
          </a:p>
          <a:p>
            <a:pPr lvl="1">
              <a:spcAft>
                <a:spcPts val="600"/>
              </a:spcAft>
              <a:defRPr sz="1400"/>
            </a:pPr>
            <a:r>
              <a:t>• Площадка 2 - Воронеж (2 000 м²)</a:t>
            </a:r>
          </a:p>
          <a:p>
            <a:pPr>
              <a:spcAft>
                <a:spcPts val="600"/>
              </a:spcAft>
              <a:defRPr sz="1400"/>
            </a:pPr>
            <a:r>
              <a:t>- Мостовой кран грузоподъемностью 60/160 тонн</a:t>
            </a:r>
          </a:p>
          <a:p>
            <a:pPr>
              <a:spcAft>
                <a:spcPts val="600"/>
              </a:spcAft>
              <a:defRPr sz="1400"/>
            </a:pPr>
            <a:r>
              <a:t>- Обработка деталей массой до 150 тонн</a:t>
            </a:r>
          </a:p>
          <a:p>
            <a:pPr>
              <a:spcAft>
                <a:spcPts val="600"/>
              </a:spcAft>
              <a:defRPr sz="1400"/>
            </a:pPr>
            <a:r>
              <a:t>- Токарная и расточная обработка</a:t>
            </a:r>
          </a:p>
          <a:p>
            <a:pPr>
              <a:spcAft>
                <a:spcPts val="600"/>
              </a:spcAft>
              <a:defRPr sz="1400"/>
            </a:pPr>
            <a:r>
              <a:t>- Шлифование</a:t>
            </a:r>
          </a:p>
          <a:p>
            <a:pPr lvl="1">
              <a:spcAft>
                <a:spcPts val="600"/>
              </a:spcAft>
              <a:defRPr sz="1400"/>
            </a:pPr>
            <a:r>
              <a:t>• Площадка 3 - Ижевск (2 000 м²)</a:t>
            </a:r>
          </a:p>
          <a:p>
            <a:pPr>
              <a:spcAft>
                <a:spcPts val="600"/>
              </a:spcAft>
              <a:defRPr sz="1400"/>
            </a:pPr>
            <a:r>
              <a:t>- Производство конических зубчатых колес</a:t>
            </a:r>
          </a:p>
          <a:p>
            <a:pPr>
              <a:spcAft>
                <a:spcPts val="600"/>
              </a:spcAft>
              <a:defRPr sz="1400"/>
            </a:pPr>
            <a:r>
              <a:t>- Полный цикл механической обработки</a:t>
            </a:r>
          </a:p>
          <a:p>
            <a:pPr lvl="1">
              <a:spcAft>
                <a:spcPts val="600"/>
              </a:spcAft>
              <a:defRPr sz="1400"/>
            </a:pPr>
            <a:r>
              <a:t>• Площадка 4 - Беларусь</a:t>
            </a:r>
          </a:p>
          <a:p>
            <a:pPr>
              <a:spcAft>
                <a:spcPts val="600"/>
              </a:spcAft>
              <a:defRPr sz="1400"/>
            </a:pPr>
            <a:r>
              <a:t>- Партнерская производственная площадка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Оборудование и технические возможности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Основные типы обработки</a:t>
            </a:r>
          </a:p>
          <a:p>
            <a:pPr>
              <a:spcAft>
                <a:spcPts val="600"/>
              </a:spcAft>
              <a:defRPr sz="1400"/>
            </a:pPr>
            <a:r>
              <a:t>  Тип обработки   Технические характеристики  </a:t>
            </a:r>
          </a:p>
          <a:p>
            <a:pPr>
              <a:spcAft>
                <a:spcPts val="600"/>
              </a:spcAft>
              <a:defRPr sz="1400"/>
            </a:pPr>
            <a:r>
              <a:t> --------------- ---------------------------- </a:t>
            </a:r>
          </a:p>
          <a:p>
            <a:pPr>
              <a:spcAft>
                <a:spcPts val="600"/>
              </a:spcAft>
              <a:defRPr sz="1400"/>
            </a:pPr>
            <a:r>
              <a:t>  Токарная обработка   До Ø1000 мм × 3000 мм, станки с ЧПУ  </a:t>
            </a:r>
          </a:p>
          <a:p>
            <a:pPr>
              <a:spcAft>
                <a:spcPts val="600"/>
              </a:spcAft>
              <a:defRPr sz="1400"/>
            </a:pPr>
            <a:r>
              <a:t>  Фрезерная обработка   Рабочее поле 1200×5000 мм  </a:t>
            </a:r>
          </a:p>
          <a:p>
            <a:pPr>
              <a:spcAft>
                <a:spcPts val="600"/>
              </a:spcAft>
              <a:defRPr sz="1400"/>
            </a:pPr>
            <a:r>
              <a:t>  Шлифование   Круглое Ø400 мм × 1200 мм, плоское, координатное  </a:t>
            </a:r>
          </a:p>
          <a:p>
            <a:pPr>
              <a:spcAft>
                <a:spcPts val="600"/>
              </a:spcAft>
              <a:defRPr sz="1400"/>
            </a:pPr>
            <a:r>
              <a:t>  Расточная обработка   Стол 1200×1200 мм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Специализированное оборудование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Уникальные производственные возможности</a:t>
            </a:r>
          </a:p>
          <a:p>
            <a:pPr>
              <a:spcAft>
                <a:spcPts val="600"/>
              </a:spcAft>
              <a:defRPr sz="1400"/>
            </a:pPr>
            <a:r>
              <a:t>- Зубообработка</a:t>
            </a:r>
          </a:p>
          <a:p>
            <a:pPr>
              <a:spcAft>
                <a:spcPts val="600"/>
              </a:spcAft>
              <a:defRPr sz="1400"/>
            </a:pPr>
            <a:r>
              <a:t>- Производство цилиндрических и конических зубчатых колес</a:t>
            </a:r>
          </a:p>
          <a:p>
            <a:pPr>
              <a:spcAft>
                <a:spcPts val="600"/>
              </a:spcAft>
              <a:defRPr sz="1400"/>
            </a:pPr>
            <a:r>
              <a:t>- Различные модули и диаметры</a:t>
            </a:r>
          </a:p>
          <a:p>
            <a:pPr>
              <a:spcAft>
                <a:spcPts val="600"/>
              </a:spcAft>
              <a:defRPr sz="1400"/>
            </a:pPr>
            <a:r>
              <a:t>- Производство револьверных головок</a:t>
            </a:r>
          </a:p>
          <a:p>
            <a:pPr>
              <a:spcAft>
                <a:spcPts val="600"/>
              </a:spcAft>
              <a:defRPr sz="1400"/>
            </a:pPr>
            <a:r>
              <a:t>- Собственная технология изготовления</a:t>
            </a:r>
          </a:p>
          <a:p>
            <a:pPr>
              <a:spcAft>
                <a:spcPts val="600"/>
              </a:spcAft>
              <a:defRPr sz="1400"/>
            </a:pPr>
            <a:r>
              <a:t>- Высокая точность и надежность</a:t>
            </a:r>
          </a:p>
          <a:p>
            <a:pPr>
              <a:spcAft>
                <a:spcPts val="600"/>
              </a:spcAft>
              <a:defRPr sz="1400"/>
            </a:pPr>
            <a:r>
              <a:t>- Производство валов и шпинделей</a:t>
            </a:r>
          </a:p>
          <a:p>
            <a:pPr>
              <a:spcAft>
                <a:spcPts val="600"/>
              </a:spcAft>
              <a:defRPr sz="1400"/>
            </a:pPr>
            <a:r>
              <a:t>- Полный цикл изготовления</a:t>
            </a:r>
          </a:p>
          <a:p>
            <a:pPr>
              <a:spcAft>
                <a:spcPts val="600"/>
              </a:spcAft>
              <a:defRPr sz="1400"/>
            </a:pPr>
            <a:r>
              <a:t>- Термообработка и финишная обработка</a:t>
            </a:r>
          </a:p>
          <a:p>
            <a:pPr>
              <a:spcAft>
                <a:spcPts val="600"/>
              </a:spcAft>
              <a:defRPr sz="1400"/>
            </a:pPr>
            <a:r>
              <a:t>- Электросборка и гидравлика</a:t>
            </a:r>
          </a:p>
          <a:p>
            <a:pPr>
              <a:spcAft>
                <a:spcPts val="600"/>
              </a:spcAft>
              <a:defRPr sz="1400"/>
            </a:pPr>
            <a:r>
              <a:t>- Комплектация станков электрикой</a:t>
            </a:r>
          </a:p>
          <a:p>
            <a:pPr>
              <a:spcAft>
                <a:spcPts val="600"/>
              </a:spcAft>
              <a:defRPr sz="1400"/>
            </a:pPr>
            <a:r>
              <a:t>- Монтаж гидравлических систем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Грузоподъемное оборудование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Подъемные мощности по площадкам</a:t>
            </a:r>
          </a:p>
          <a:p>
            <a:pPr>
              <a:spcAft>
                <a:spcPts val="600"/>
              </a:spcAft>
              <a:defRPr sz="1400"/>
            </a:pPr>
            <a:r>
              <a:t>  Площадка   Грузоподъемное оборудование  </a:t>
            </a:r>
          </a:p>
          <a:p>
            <a:pPr>
              <a:spcAft>
                <a:spcPts val="600"/>
              </a:spcAft>
              <a:defRPr sz="1400"/>
            </a:pPr>
            <a:r>
              <a:t> ---------- ---------------------------- </a:t>
            </a:r>
          </a:p>
          <a:p>
            <a:pPr>
              <a:spcAft>
                <a:spcPts val="600"/>
              </a:spcAft>
              <a:defRPr sz="1400"/>
            </a:pPr>
            <a:r>
              <a:t>  Рязань   Краны 2-25 тонн, мобильный кран 65 тонн  </a:t>
            </a:r>
          </a:p>
          <a:p>
            <a:pPr>
              <a:spcAft>
                <a:spcPts val="600"/>
              </a:spcAft>
              <a:defRPr sz="1400"/>
            </a:pPr>
            <a:r>
              <a:t>  Воронеж   Мостовой кран 60/160 тонн (УНИКАЛЬНОЕ ПРЕИМУЩЕСТВО!)  </a:t>
            </a:r>
          </a:p>
          <a:p>
            <a:pPr>
              <a:spcAft>
                <a:spcPts val="600"/>
              </a:spcAft>
              <a:defRPr sz="1400"/>
            </a:pPr>
            <a:r>
              <a:t>  Ижевск   2 крана по 25 тонн, мобильный кран 65 тонн  </a:t>
            </a:r>
          </a:p>
          <a:p>
            <a:pPr lvl="1">
              <a:spcAft>
                <a:spcPts val="600"/>
              </a:spcAft>
              <a:defRPr sz="1400"/>
            </a:pPr>
            <a:r>
              <a:t>• Преимущества</a:t>
            </a:r>
          </a:p>
          <a:p>
            <a:pPr>
              <a:spcAft>
                <a:spcPts val="600"/>
              </a:spcAft>
              <a:defRPr sz="1400"/>
            </a:pPr>
            <a:r>
              <a:t>- Обработка крупногабаритных деталей массой до 150 тонн</a:t>
            </a:r>
          </a:p>
          <a:p>
            <a:pPr>
              <a:spcAft>
                <a:spcPts val="600"/>
              </a:spcAft>
              <a:defRPr sz="1400"/>
            </a:pPr>
            <a:r>
              <a:t>- Уникальная возможность работы с тяжелым оборудованием</a:t>
            </a:r>
          </a:p>
          <a:p>
            <a:pPr>
              <a:spcAft>
                <a:spcPts val="600"/>
              </a:spcAft>
              <a:defRPr sz="1400"/>
            </a:pPr>
            <a:r>
              <a:t>- Минимальные сроки выполнения заказов на крупные детали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Наша команда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Более 200 квалифицированных специалистов</a:t>
            </a:r>
          </a:p>
          <a:p>
            <a:pPr>
              <a:spcAft>
                <a:spcPts val="600"/>
              </a:spcAft>
              <a:defRPr sz="1400"/>
            </a:pPr>
            <a:r>
              <a:t>  Специализация   Количество   Функции  </a:t>
            </a:r>
          </a:p>
          <a:p>
            <a:pPr>
              <a:spcAft>
                <a:spcPts val="600"/>
              </a:spcAft>
              <a:defRPr sz="1400"/>
            </a:pPr>
            <a:r>
              <a:t> --------------- ------------ --------- </a:t>
            </a:r>
          </a:p>
          <a:p>
            <a:pPr>
              <a:spcAft>
                <a:spcPts val="600"/>
              </a:spcAft>
              <a:defRPr sz="1400"/>
            </a:pPr>
            <a:r>
              <a:t>  Конструкторский отдел   25 человек   Разработка технической документации, модернизация  </a:t>
            </a:r>
          </a:p>
          <a:p>
            <a:pPr>
              <a:spcAft>
                <a:spcPts val="600"/>
              </a:spcAft>
              <a:defRPr sz="1400"/>
            </a:pPr>
            <a:r>
              <a:t>  Технологи   7 человек   Разработка технологических процессов  </a:t>
            </a:r>
          </a:p>
          <a:p>
            <a:pPr>
              <a:spcAft>
                <a:spcPts val="600"/>
              </a:spcAft>
              <a:defRPr sz="1400"/>
            </a:pPr>
            <a:r>
              <a:t>  Токари   45 человек   Токарная обработка различной сложности  </a:t>
            </a:r>
          </a:p>
          <a:p>
            <a:pPr>
              <a:spcAft>
                <a:spcPts val="600"/>
              </a:spcAft>
              <a:defRPr sz="1400"/>
            </a:pPr>
            <a:r>
              <a:t>  Фрезеровщики/шлифовщики   15 человек   Фрезерная и шлифовальная обработка  </a:t>
            </a:r>
          </a:p>
          <a:p>
            <a:pPr>
              <a:spcAft>
                <a:spcPts val="600"/>
              </a:spcAft>
              <a:defRPr sz="1400"/>
            </a:pPr>
            <a:r>
              <a:t>  Специалисты по пусконаладке   7 человек   Запуск и настройка оборудования  </a:t>
            </a:r>
          </a:p>
          <a:p>
            <a:pPr lvl="1">
              <a:spcAft>
                <a:spcPts val="600"/>
              </a:spcAft>
              <a:defRPr sz="1400"/>
            </a:pPr>
            <a:r>
              <a:t>• Квалификация</a:t>
            </a:r>
          </a:p>
          <a:p>
            <a:pPr>
              <a:spcAft>
                <a:spcPts val="600"/>
              </a:spcAft>
              <a:defRPr sz="1400"/>
            </a:pPr>
            <a:r>
              <a:t>- Опытные специалисты со стажем работы от 5 лет</a:t>
            </a:r>
          </a:p>
          <a:p>
            <a:pPr>
              <a:spcAft>
                <a:spcPts val="600"/>
              </a:spcAft>
              <a:defRPr sz="1400"/>
            </a:pPr>
            <a:r>
              <a:t>- Регулярное повышение квалификации</a:t>
            </a:r>
          </a:p>
          <a:p>
            <a:pPr>
              <a:spcAft>
                <a:spcPts val="600"/>
              </a:spcAft>
              <a:defRPr sz="1400"/>
            </a:pPr>
            <a:r>
              <a:t>- Опыт работы с оборонными предприятиями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Комплекс услуг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Полный цикл обслуживания станочного оборудования</a:t>
            </a:r>
          </a:p>
          <a:p>
            <a:pPr>
              <a:spcAft>
                <a:spcPts val="600"/>
              </a:spcAft>
              <a:defRPr sz="1400"/>
            </a:pPr>
            <a:r>
              <a:t>1. Ремонт и восстановление</a:t>
            </a:r>
          </a:p>
          <a:p>
            <a:pPr>
              <a:spcAft>
                <a:spcPts val="600"/>
              </a:spcAft>
              <a:defRPr sz="1400"/>
            </a:pPr>
            <a:r>
              <a:t>- Капитальный и текущий ремонт</a:t>
            </a:r>
          </a:p>
          <a:p>
            <a:pPr>
              <a:spcAft>
                <a:spcPts val="600"/>
              </a:spcAft>
              <a:defRPr sz="1400"/>
            </a:pPr>
            <a:r>
              <a:t>- Восстановление геометрии и точности</a:t>
            </a:r>
          </a:p>
          <a:p>
            <a:pPr>
              <a:spcAft>
                <a:spcPts val="600"/>
              </a:spcAft>
              <a:defRPr sz="1400"/>
            </a:pPr>
            <a:r>
              <a:t>- Замена изношенных узлов и агрегатов</a:t>
            </a:r>
          </a:p>
          <a:p>
            <a:pPr>
              <a:spcAft>
                <a:spcPts val="600"/>
              </a:spcAft>
              <a:defRPr sz="1400"/>
            </a:pPr>
            <a:r>
              <a:t>2. Модернизация</a:t>
            </a:r>
          </a:p>
          <a:p>
            <a:pPr>
              <a:spcAft>
                <a:spcPts val="600"/>
              </a:spcAft>
              <a:defRPr sz="1400"/>
            </a:pPr>
            <a:r>
              <a:t>- Установка систем ЧПУ</a:t>
            </a:r>
          </a:p>
          <a:p>
            <a:pPr>
              <a:spcAft>
                <a:spcPts val="600"/>
              </a:spcAft>
              <a:defRPr sz="1400"/>
            </a:pPr>
            <a:r>
              <a:t>- Улучшение технических характеристик</a:t>
            </a:r>
          </a:p>
          <a:p>
            <a:pPr>
              <a:spcAft>
                <a:spcPts val="600"/>
              </a:spcAft>
              <a:defRPr sz="1400"/>
            </a:pPr>
            <a:r>
              <a:t>- Автоматизация производственных процессов</a:t>
            </a:r>
          </a:p>
          <a:p>
            <a:pPr>
              <a:spcAft>
                <a:spcPts val="600"/>
              </a:spcAft>
              <a:defRPr sz="1400"/>
            </a:pPr>
            <a:r>
              <a:t>3. Поставка нового оборудования</a:t>
            </a:r>
          </a:p>
          <a:p>
            <a:pPr>
              <a:spcAft>
                <a:spcPts val="600"/>
              </a:spcAft>
              <a:defRPr sz="1400"/>
            </a:pPr>
            <a:r>
              <a:t>- Подбор оптимальных решений</a:t>
            </a:r>
          </a:p>
          <a:p>
            <a:pPr>
              <a:spcAft>
                <a:spcPts val="600"/>
              </a:spcAft>
              <a:defRPr sz="1400"/>
            </a:pPr>
            <a:r>
              <a:t>- Поставка станков отечественного и зарубежного производства</a:t>
            </a:r>
          </a:p>
          <a:p>
            <a:pPr>
              <a:spcAft>
                <a:spcPts val="600"/>
              </a:spcAft>
              <a:defRPr sz="1400"/>
            </a:pPr>
            <a:r>
              <a:t>4. Производство запасных частей</a:t>
            </a:r>
          </a:p>
          <a:p>
            <a:pPr>
              <a:spcAft>
                <a:spcPts val="600"/>
              </a:spcAft>
              <a:defRPr sz="1400"/>
            </a:pPr>
            <a:r>
              <a:t>- Изготовление деталей по чертежам и образцам</a:t>
            </a:r>
          </a:p>
          <a:p>
            <a:pPr>
              <a:spcAft>
                <a:spcPts val="600"/>
              </a:spcAft>
              <a:defRPr sz="1400"/>
            </a:pPr>
            <a:r>
              <a:t>- Широкая номенклатура</a:t>
            </a:r>
          </a:p>
          <a:p>
            <a:pPr>
              <a:spcAft>
                <a:spcPts val="600"/>
              </a:spcAft>
              <a:defRPr sz="1400"/>
            </a:pPr>
            <a:r>
              <a:t>5. Выполнение заказов под ключ</a:t>
            </a:r>
          </a:p>
          <a:p>
            <a:pPr>
              <a:spcAft>
                <a:spcPts val="600"/>
              </a:spcAft>
              <a:defRPr sz="1400"/>
            </a:pPr>
            <a:r>
              <a:t>- Индивидуальные технические решения</a:t>
            </a:r>
          </a:p>
          <a:p>
            <a:pPr>
              <a:spcAft>
                <a:spcPts val="600"/>
              </a:spcAft>
              <a:defRPr sz="1400"/>
            </a:pPr>
            <a:r>
              <a:t>- Комплексный подход</a:t>
            </a:r>
          </a:p>
          <a:p>
            <a:pPr>
              <a:spcAft>
                <a:spcPts val="600"/>
              </a:spcAft>
              <a:defRPr sz="1400"/>
            </a:pPr>
            <a:r>
              <a:t>6. Постгарантийное обслуживание</a:t>
            </a:r>
          </a:p>
          <a:p>
            <a:pPr>
              <a:spcAft>
                <a:spcPts val="600"/>
              </a:spcAft>
              <a:defRPr sz="1400"/>
            </a:pPr>
            <a:r>
              <a:t>- Техническая поддержка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Портал запасных частей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Онлайн-заказ запасных частей</a:t>
            </a:r>
          </a:p>
          <a:p>
            <a:pPr>
              <a:spcAft>
                <a:spcPts val="600"/>
              </a:spcAft>
              <a:defRPr sz="1400"/>
            </a:pPr>
            <a:r>
              <a:t>- Более 30 моделей станков в базе данных</a:t>
            </a:r>
          </a:p>
          <a:p>
            <a:pPr>
              <a:spcAft>
                <a:spcPts val="600"/>
              </a:spcAft>
              <a:defRPr sz="1400"/>
            </a:pPr>
            <a:r>
              <a:t>- Более 500 наименований в портфеле</a:t>
            </a:r>
          </a:p>
          <a:p>
            <a:pPr>
              <a:spcAft>
                <a:spcPts val="600"/>
              </a:spcAft>
              <a:defRPr sz="1400"/>
            </a:pPr>
            <a:r>
              <a:t>- Удобный онлайн-заказ через сайт</a:t>
            </a:r>
          </a:p>
          <a:p>
            <a:pPr>
              <a:spcAft>
                <a:spcPts val="600"/>
              </a:spcAft>
              <a:defRPr sz="1400"/>
            </a:pPr>
            <a:r>
              <a:t>- Быстрая обработка заявок</a:t>
            </a:r>
          </a:p>
          <a:p>
            <a:pPr lvl="1">
              <a:spcAft>
                <a:spcPts val="600"/>
              </a:spcAft>
              <a:defRPr sz="1400"/>
            </a:pPr>
            <a:r>
              <a:t>• Преимущества портала</a:t>
            </a:r>
          </a:p>
          <a:p>
            <a:pPr>
              <a:spcAft>
                <a:spcPts val="600"/>
              </a:spcAft>
              <a:defRPr sz="1400"/>
            </a:pPr>
            <a:r>
              <a:t>- Наглядные схемы и чертежи</a:t>
            </a:r>
          </a:p>
          <a:p>
            <a:pPr>
              <a:spcAft>
                <a:spcPts val="600"/>
              </a:spcAft>
              <a:defRPr sz="1400"/>
            </a:pPr>
            <a:r>
              <a:t>- Точное определение необходимой детали</a:t>
            </a:r>
          </a:p>
          <a:p>
            <a:pPr>
              <a:spcAft>
                <a:spcPts val="600"/>
              </a:spcAft>
              <a:defRPr sz="1400"/>
            </a:pPr>
            <a:r>
              <a:t>- Прозрачное ценообразование</a:t>
            </a:r>
          </a:p>
          <a:p>
            <a:pPr>
              <a:spcAft>
                <a:spcPts val="600"/>
              </a:spcAft>
              <a:defRPr sz="1400"/>
            </a:pPr>
            <a:r>
              <a:t>- Оперативная доставка</a:t>
            </a:r>
          </a:p>
          <a:p>
            <a:pPr>
              <a:spcAft>
                <a:spcPts val="600"/>
              </a:spcAft>
              <a:defRPr sz="1400"/>
            </a:pPr>
            <a:r>
              <a:t>Сайт: https://tdrusstankosbyt.ru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Стандарты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Соответствие требованиям</a:t>
            </a:r>
          </a:p>
          <a:p>
            <a:pPr>
              <a:spcAft>
                <a:spcPts val="600"/>
              </a:spcAft>
              <a:defRPr sz="1400"/>
            </a:pPr>
            <a:r>
              <a:t>  Стандарт   Применение  </a:t>
            </a:r>
          </a:p>
          <a:p>
            <a:pPr>
              <a:spcAft>
                <a:spcPts val="600"/>
              </a:spcAft>
              <a:defRPr sz="1400"/>
            </a:pPr>
            <a:r>
              <a:t> ---------- ------------ </a:t>
            </a:r>
          </a:p>
          <a:p>
            <a:pPr>
              <a:spcAft>
                <a:spcPts val="600"/>
              </a:spcAft>
              <a:defRPr sz="1400"/>
            </a:pPr>
            <a:r>
              <a:t>  ГОСТ   Соблюдение государственных стандартов  </a:t>
            </a:r>
          </a:p>
          <a:p>
            <a:pPr>
              <a:spcAft>
                <a:spcPts val="600"/>
              </a:spcAft>
              <a:defRPr sz="1400"/>
            </a:pPr>
            <a:r>
              <a:t>  СТО   Стандарты организации  </a:t>
            </a:r>
          </a:p>
          <a:p>
            <a:pPr>
              <a:spcAft>
                <a:spcPts val="600"/>
              </a:spcAft>
              <a:defRPr sz="1400"/>
            </a:pPr>
            <a:r>
              <a:t>  ISO   Международные требования к качеству  </a:t>
            </a:r>
          </a:p>
          <a:p>
            <a:pPr>
              <a:spcAft>
                <a:spcPts val="600"/>
              </a:spcAft>
              <a:defRPr sz="1400"/>
            </a:pPr>
            <a:r>
              <a:t>  Требования ОПК   Соответствие стандартам оборонно-промышленного комплекса  </a:t>
            </a:r>
          </a:p>
          <a:p>
            <a:pPr lvl="1">
              <a:spcAft>
                <a:spcPts val="600"/>
              </a:spcAft>
              <a:defRPr sz="1400"/>
            </a:pPr>
            <a:r>
              <a:t>• Система контроля качества</a:t>
            </a:r>
          </a:p>
          <a:p>
            <a:pPr>
              <a:spcAft>
                <a:spcPts val="600"/>
              </a:spcAft>
              <a:defRPr sz="1400"/>
            </a:pPr>
            <a:r>
              <a:t>- Входной контроль материалов и комплектующих</a:t>
            </a:r>
          </a:p>
          <a:p>
            <a:pPr>
              <a:spcAft>
                <a:spcPts val="600"/>
              </a:spcAft>
              <a:defRPr sz="1400"/>
            </a:pPr>
            <a:r>
              <a:t>- Пооперационный контроль в процессе производства</a:t>
            </a:r>
          </a:p>
          <a:p>
            <a:pPr>
              <a:spcAft>
                <a:spcPts val="600"/>
              </a:spcAft>
              <a:defRPr sz="1400"/>
            </a:pPr>
            <a:r>
              <a:t>- Финальная приемка готовой продукции</a:t>
            </a:r>
          </a:p>
          <a:p>
            <a:pPr>
              <a:spcAft>
                <a:spcPts val="600"/>
              </a:spcAft>
              <a:defRPr sz="1400"/>
            </a:pPr>
            <a:r>
              <a:t>- Испытания и настройка перед отгрузкой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Наши преимущества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Ключевые конкурентные преимущества</a:t>
            </a:r>
          </a:p>
          <a:p>
            <a:pPr>
              <a:spcAft>
                <a:spcPts val="600"/>
              </a:spcAft>
              <a:defRPr sz="1400"/>
            </a:pPr>
            <a:r>
              <a:t>  Преимущество   Описание  </a:t>
            </a:r>
          </a:p>
          <a:p>
            <a:pPr>
              <a:spcAft>
                <a:spcPts val="600"/>
              </a:spcAft>
              <a:defRPr sz="1400"/>
            </a:pPr>
            <a:r>
              <a:t> -------------- ---------- </a:t>
            </a:r>
          </a:p>
          <a:p>
            <a:pPr>
              <a:spcAft>
                <a:spcPts val="600"/>
              </a:spcAft>
              <a:defRPr sz="1400"/>
            </a:pPr>
            <a:r>
              <a:t>  12 лет опыта   Проверенная экспертиза с 2014 года  </a:t>
            </a:r>
          </a:p>
          <a:p>
            <a:pPr>
              <a:spcAft>
                <a:spcPts val="600"/>
              </a:spcAft>
              <a:defRPr sz="1400"/>
            </a:pPr>
            <a:r>
              <a:t>  15 000+ м² площадей   4 современные производственные площадки  </a:t>
            </a:r>
          </a:p>
          <a:p>
            <a:pPr>
              <a:spcAft>
                <a:spcPts val="600"/>
              </a:spcAft>
              <a:defRPr sz="1400"/>
            </a:pPr>
            <a:r>
              <a:t>  Кран 160 тонн   Уникальная возможность работы с крупногабаритными деталями  </a:t>
            </a:r>
          </a:p>
          <a:p>
            <a:pPr>
              <a:spcAft>
                <a:spcPts val="600"/>
              </a:spcAft>
              <a:defRPr sz="1400"/>
            </a:pPr>
            <a:r>
              <a:t>  Полный цикл услуг   От ремонта до производства нового оборудования  </a:t>
            </a:r>
          </a:p>
          <a:p>
            <a:pPr>
              <a:spcAft>
                <a:spcPts val="600"/>
              </a:spcAft>
              <a:defRPr sz="1400"/>
            </a:pPr>
            <a:r>
              <a:t>  200+ специалистов   Высококвалифицированная команда профессионалов  </a:t>
            </a:r>
          </a:p>
          <a:p>
            <a:pPr lvl="1">
              <a:spcAft>
                <a:spcPts val="600"/>
              </a:spcAft>
              <a:defRPr sz="1400"/>
            </a:pPr>
            <a:r>
              <a:t>• Дополнительные преимущества</a:t>
            </a:r>
          </a:p>
          <a:p>
            <a:pPr>
              <a:spcAft>
                <a:spcPts val="600"/>
              </a:spcAft>
              <a:defRPr sz="1400"/>
            </a:pPr>
            <a:r>
              <a:t>- Собственное конструкторское бюро</a:t>
            </a:r>
          </a:p>
          <a:p>
            <a:pPr>
              <a:spcAft>
                <a:spcPts val="600"/>
              </a:spcAft>
              <a:defRPr sz="1400"/>
            </a:pPr>
            <a:r>
              <a:t>- Гибкая ценовая политика</a:t>
            </a:r>
          </a:p>
          <a:p>
            <a:pPr>
              <a:spcAft>
                <a:spcPts val="600"/>
              </a:spcAft>
              <a:defRPr sz="1400"/>
            </a:pPr>
            <a:r>
              <a:t>- Короткие сроки выполнения заказов</a:t>
            </a:r>
          </a:p>
          <a:p>
            <a:pPr>
              <a:spcAft>
                <a:spcPts val="600"/>
              </a:spcAft>
              <a:defRPr sz="1400"/>
            </a:pPr>
            <a:r>
              <a:t>- Гарантия на все виды работ</a:t>
            </a:r>
          </a:p>
          <a:p>
            <a:pPr>
              <a:spcAft>
                <a:spcPts val="600"/>
              </a:spcAft>
              <a:defRPr sz="1400"/>
            </a:pPr>
            <a:r>
              <a:t>- Постгарантийное обслуживание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Конкурентные преимущества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Комплексный подход к обслуживанию</a:t>
            </a:r>
          </a:p>
          <a:p>
            <a:pPr>
              <a:spcAft>
                <a:spcPts val="600"/>
              </a:spcAft>
              <a:defRPr sz="1400"/>
            </a:pPr>
            <a:r>
              <a:t>Ремонт → Модернизация → Производство → Постгарантийное обслуживание</a:t>
            </a:r>
          </a:p>
          <a:p>
            <a:pPr lvl="1">
              <a:spcAft>
                <a:spcPts val="600"/>
              </a:spcAft>
              <a:defRPr sz="1400"/>
            </a:pPr>
            <a:r>
              <a:t>• Оперативность и качество</a:t>
            </a:r>
          </a:p>
          <a:p>
            <a:pPr>
              <a:spcAft>
                <a:spcPts val="600"/>
              </a:spcAft>
              <a:defRPr sz="1400"/>
            </a:pPr>
            <a:r>
              <a:t>- Быстрое реагирование на запросы клиентов</a:t>
            </a:r>
          </a:p>
          <a:p>
            <a:pPr>
              <a:spcAft>
                <a:spcPts val="600"/>
              </a:spcAft>
              <a:defRPr sz="1400"/>
            </a:pPr>
            <a:r>
              <a:t>- Соблюдение сроков выполнения работ</a:t>
            </a:r>
          </a:p>
          <a:p>
            <a:pPr>
              <a:spcAft>
                <a:spcPts val="600"/>
              </a:spcAft>
              <a:defRPr sz="1400"/>
            </a:pPr>
            <a:r>
              <a:t>- Высокое качество на всех этапах</a:t>
            </a:r>
          </a:p>
          <a:p>
            <a:pPr>
              <a:spcAft>
                <a:spcPts val="600"/>
              </a:spcAft>
              <a:defRPr sz="1400"/>
            </a:pPr>
            <a:r>
              <a:t>- Контроль качества на каждом этапе производства</a:t>
            </a:r>
          </a:p>
          <a:p>
            <a:pPr lvl="1">
              <a:spcAft>
                <a:spcPts val="600"/>
              </a:spcAft>
              <a:defRPr sz="1400"/>
            </a:pPr>
            <a:r>
              <a:t>• Прозрачность и партнерство</a:t>
            </a:r>
          </a:p>
          <a:p>
            <a:pPr>
              <a:spcAft>
                <a:spcPts val="600"/>
              </a:spcAft>
              <a:defRPr sz="1400"/>
            </a:pPr>
            <a:r>
              <a:t>- Открытое ценообразование</a:t>
            </a:r>
          </a:p>
          <a:p>
            <a:pPr>
              <a:spcAft>
                <a:spcPts val="600"/>
              </a:spcAft>
              <a:defRPr sz="1400"/>
            </a:pPr>
            <a:r>
              <a:t>- Регулярная отчетность о ходе работ</a:t>
            </a:r>
          </a:p>
          <a:p>
            <a:pPr>
              <a:spcAft>
                <a:spcPts val="600"/>
              </a:spcAft>
              <a:defRPr sz="1400"/>
            </a:pPr>
            <a:r>
              <a:t>- Индивидуальный подход к каждому клиенту</a:t>
            </a:r>
          </a:p>
          <a:p>
            <a:pPr>
              <a:spcAft>
                <a:spcPts val="600"/>
              </a:spcAft>
              <a:defRPr sz="1400"/>
            </a:pPr>
            <a:r>
              <a:t>- Гибкие условия сотрудничества</a:t>
            </a:r>
          </a:p>
          <a:p>
            <a:pPr lvl="1">
              <a:spcAft>
                <a:spcPts val="600"/>
              </a:spcAft>
              <a:defRPr sz="1400"/>
            </a:pPr>
            <a:r>
              <a:t>• Долгосрочные отношения</a:t>
            </a:r>
          </a:p>
          <a:p>
            <a:pPr>
              <a:spcAft>
                <a:spcPts val="600"/>
              </a:spcAft>
              <a:defRPr sz="1400"/>
            </a:pPr>
            <a:r>
              <a:t>- Постоянная техническая поддержка</a:t>
            </a:r>
          </a:p>
          <a:p>
            <a:pPr>
              <a:spcAft>
                <a:spcPts val="600"/>
              </a:spcAft>
              <a:defRPr sz="1400"/>
            </a:pPr>
            <a:r>
              <a:t>- Программы лояльности для постоянных клиентов</a:t>
            </a:r>
          </a:p>
          <a:p>
            <a:pPr>
              <a:spcAft>
                <a:spcPts val="600"/>
              </a:spcAft>
              <a:defRPr sz="1400"/>
            </a:pPr>
            <a:r>
              <a:t>- Консультационное сопровождение</a:t>
            </a:r>
          </a:p>
          <a:p>
            <a:pPr>
              <a:spcAft>
                <a:spcPts val="600"/>
              </a:spcAft>
              <a:defRPr sz="1400"/>
            </a:pPr>
            <a:r>
              <a:t>- Помощь в оптимизации производственных процессов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Портфолио выполненных работ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Примеры реализованных проектов</a:t>
            </a:r>
          </a:p>
          <a:p>
            <a:pPr>
              <a:spcAft>
                <a:spcPts val="600"/>
              </a:spcAft>
              <a:defRPr sz="1400"/>
            </a:pPr>
            <a:r>
              <a:t>- Капитальный ремонт токарных станков для АО "Завод "Сельмаш"</a:t>
            </a:r>
          </a:p>
          <a:p>
            <a:pPr>
              <a:spcAft>
                <a:spcPts val="600"/>
              </a:spcAft>
              <a:defRPr sz="1400"/>
            </a:pPr>
            <a:r>
              <a:t>- Модернизация расточных станков для АО "Таганрогский металлургический завод"</a:t>
            </a:r>
          </a:p>
          <a:p>
            <a:pPr>
              <a:spcAft>
                <a:spcPts val="600"/>
              </a:spcAft>
              <a:defRPr sz="1400"/>
            </a:pPr>
            <a:r>
              <a:t>- Производство комплекта зубчатых колес для КАО "АЗОТ"</a:t>
            </a:r>
          </a:p>
          <a:p>
            <a:pPr>
              <a:spcAft>
                <a:spcPts val="600"/>
              </a:spcAft>
              <a:defRPr sz="1400"/>
            </a:pPr>
            <a:r>
              <a:t>- Изготовление шпинделей и валов для АО "Туламашзавод"</a:t>
            </a:r>
          </a:p>
          <a:p>
            <a:pPr>
              <a:spcAft>
                <a:spcPts val="600"/>
              </a:spcAft>
              <a:defRPr sz="1400"/>
            </a:pPr>
            <a:r>
              <a:t>- Ремонт и модернизация оборудования для ПАО "ДНПП"</a:t>
            </a:r>
          </a:p>
          <a:p>
            <a:pPr>
              <a:spcAft>
                <a:spcPts val="600"/>
              </a:spcAft>
              <a:defRPr sz="1400"/>
            </a:pPr>
            <a:r>
              <a:t>- Поставка запасных частей для ООО "ТМК НГС-Бузулук"</a:t>
            </a:r>
          </a:p>
          <a:p>
            <a:pPr lvl="1">
              <a:spcAft>
                <a:spcPts val="600"/>
              </a:spcAft>
              <a:defRPr sz="1400"/>
            </a:pPr>
            <a:r>
              <a:t>• Работа с крупными предприятиями</a:t>
            </a:r>
          </a:p>
          <a:p>
            <a:pPr>
              <a:spcAft>
                <a:spcPts val="600"/>
              </a:spcAft>
              <a:defRPr sz="1400"/>
            </a:pPr>
            <a:r>
              <a:t>Опыт работы с ведущими промышленными предприятиями России подтверждает высокое качество наших услуг и надежность как партнера.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Сертификация и партнеры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Сертификация</a:t>
            </a:r>
          </a:p>
          <a:p>
            <a:pPr>
              <a:spcAft>
                <a:spcPts val="600"/>
              </a:spcAft>
              <a:defRPr sz="1400"/>
            </a:pPr>
            <a:r>
              <a:t>- Сертификаты ГОСТ - соответствие государственным стандартам</a:t>
            </a:r>
          </a:p>
          <a:p>
            <a:pPr>
              <a:spcAft>
                <a:spcPts val="600"/>
              </a:spcAft>
              <a:defRPr sz="1400"/>
            </a:pPr>
            <a:r>
              <a:t>- Сертификаты ISO - международные стандарты качества</a:t>
            </a:r>
          </a:p>
          <a:p>
            <a:pPr>
              <a:spcAft>
                <a:spcPts val="600"/>
              </a:spcAft>
              <a:defRPr sz="1400"/>
            </a:pPr>
            <a:r>
              <a:t>- Допуски ОПК - разрешения на работу с предприятиями оборонно-промышленного комплекса</a:t>
            </a:r>
          </a:p>
          <a:p>
            <a:pPr lvl="1">
              <a:spcAft>
                <a:spcPts val="600"/>
              </a:spcAft>
              <a:defRPr sz="1400"/>
            </a:pPr>
            <a:r>
              <a:t>• Партнеры</a:t>
            </a:r>
          </a:p>
          <a:p>
            <a:pPr>
              <a:spcAft>
                <a:spcPts val="600"/>
              </a:spcAft>
              <a:defRPr sz="1400"/>
            </a:pPr>
            <a:r>
              <a:t>- ОАО "Тяжмехпресс" - стратегическое партнерство в области производства оборудования</a:t>
            </a:r>
          </a:p>
          <a:p>
            <a:pPr>
              <a:spcAft>
                <a:spcPts val="600"/>
              </a:spcAft>
              <a:defRPr sz="1400"/>
            </a:pPr>
            <a:r>
              <a:t>- Сотрудничество с ведущими производителями комплектующих</a:t>
            </a:r>
          </a:p>
          <a:p>
            <a:pPr>
              <a:spcAft>
                <a:spcPts val="600"/>
              </a:spcAft>
              <a:defRPr sz="1400"/>
            </a:pPr>
            <a:r>
              <a:t>- Партнерские отношения с транспортными компаниями для оперативной доставки</a:t>
            </a:r>
          </a:p>
          <a:p>
            <a:pPr lvl="1">
              <a:spcAft>
                <a:spcPts val="600"/>
              </a:spcAft>
              <a:defRPr sz="1400"/>
            </a:pPr>
            <a:r>
              <a:t>• Гарантии качества</a:t>
            </a:r>
          </a:p>
          <a:p>
            <a:pPr>
              <a:spcAft>
                <a:spcPts val="600"/>
              </a:spcAft>
              <a:defRPr sz="1400"/>
            </a:pPr>
            <a:r>
              <a:t>- Все работы выполняются в соответствии с действующими стандартами</a:t>
            </a:r>
          </a:p>
          <a:p>
            <a:pPr>
              <a:spcAft>
                <a:spcPts val="600"/>
              </a:spcAft>
              <a:defRPr sz="1400"/>
            </a:pPr>
            <a:r>
              <a:t>- Предоставляется гарантия на выполненные работы</a:t>
            </a:r>
          </a:p>
          <a:p>
            <a:pPr>
              <a:spcAft>
                <a:spcPts val="600"/>
              </a:spcAft>
              <a:defRPr sz="1400"/>
            </a:pPr>
            <a:r>
              <a:t>- Полный пакет технической документации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Контакты и сотрудничество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600"/>
              </a:spcAft>
              <a:defRPr sz="1400"/>
            </a:pPr>
            <a:r>
              <a:t>• Мы готовы к сотрудничеству!</a:t>
            </a:r>
          </a:p>
          <a:p>
            <a:pPr>
              <a:spcAft>
                <a:spcPts val="600"/>
              </a:spcAft>
              <a:defRPr sz="1400"/>
            </a:pPr>
            <a:r>
              <a:t>ТД РУССтанкоСбыт предлагает комплексные решения для обслуживания станочного парка АО "ПО "Севмаш" и АО "ЦС "Звездочка".</a:t>
            </a:r>
          </a:p>
          <a:p>
            <a:pPr lvl="1">
              <a:spcAft>
                <a:spcPts val="600"/>
              </a:spcAft>
              <a:defRPr sz="1400"/>
            </a:pPr>
            <a:r>
              <a:t>• Наши контакты</a:t>
            </a:r>
          </a:p>
          <a:p>
            <a:pPr>
              <a:spcAft>
                <a:spcPts val="600"/>
              </a:spcAft>
              <a:defRPr sz="1400"/>
            </a:pPr>
            <a:r>
              <a:t>Адрес главного офиса:</a:t>
            </a:r>
          </a:p>
          <a:p>
            <a:pPr>
              <a:spcAft>
                <a:spcPts val="600"/>
              </a:spcAft>
              <a:defRPr sz="1400"/>
            </a:pPr>
            <a:r>
              <a:t>г. Москва</a:t>
            </a:r>
          </a:p>
          <a:p>
            <a:pPr>
              <a:spcAft>
                <a:spcPts val="600"/>
              </a:spcAft>
              <a:defRPr sz="1400"/>
            </a:pPr>
            <a:r>
              <a:t>Производственные площадки:</a:t>
            </a:r>
          </a:p>
          <a:p>
            <a:pPr>
              <a:spcAft>
                <a:spcPts val="600"/>
              </a:spcAft>
              <a:defRPr sz="1400"/>
            </a:pPr>
            <a:r>
              <a:t>- Рязань (2 000 м²)</a:t>
            </a:r>
          </a:p>
          <a:p>
            <a:pPr>
              <a:spcAft>
                <a:spcPts val="600"/>
              </a:spcAft>
              <a:defRPr sz="1400"/>
            </a:pPr>
            <a:r>
              <a:t>- Воронеж (2 000 м²)</a:t>
            </a:r>
          </a:p>
          <a:p>
            <a:pPr>
              <a:spcAft>
                <a:spcPts val="600"/>
              </a:spcAft>
              <a:defRPr sz="1400"/>
            </a:pPr>
            <a:r>
              <a:t>- Ижевск (2 000 м²)</a:t>
            </a:r>
          </a:p>
          <a:p>
            <a:pPr>
              <a:spcAft>
                <a:spcPts val="600"/>
              </a:spcAft>
              <a:defRPr sz="1400"/>
            </a:pPr>
            <a:r>
              <a:t>- Беларусь (партнерская площадка)</a:t>
            </a:r>
          </a:p>
          <a:p>
            <a:pPr>
              <a:spcAft>
                <a:spcPts val="600"/>
              </a:spcAft>
              <a:defRPr sz="1400"/>
            </a:pPr>
            <a:r>
              <a:t>Контактная информация:</a:t>
            </a:r>
          </a:p>
          <a:p>
            <a:pPr>
              <a:spcAft>
                <a:spcPts val="600"/>
              </a:spcAft>
              <a:defRPr sz="1400"/>
            </a:pPr>
            <a:r>
              <a:t>- Email: zakaz@tdrusstankosbyt.ru</a:t>
            </a:r>
          </a:p>
          <a:p>
            <a:pPr>
              <a:spcAft>
                <a:spcPts val="600"/>
              </a:spcAft>
              <a:defRPr sz="1400"/>
            </a:pPr>
            <a:r>
              <a:t>- Телефон: +7 (499) 390-85-04</a:t>
            </a:r>
          </a:p>
          <a:p>
            <a:pPr>
              <a:spcAft>
                <a:spcPts val="600"/>
              </a:spcAft>
              <a:defRPr sz="1400"/>
            </a:pPr>
            <a:r>
              <a:t>- Сайт: https://tdrusstankosbyt.ru</a:t>
            </a:r>
          </a:p>
          <a:p>
            <a:pPr>
              <a:spcAft>
                <a:spcPts val="600"/>
              </a:spcAft>
              <a:defRPr sz="1400"/>
            </a:pPr>
            <a:r>
              <a:t>- Telegram: https://t.me/tdrusstankosbyt</a:t>
            </a:r>
          </a:p>
          <a:p>
            <a:pPr lvl="1">
              <a:spcAft>
                <a:spcPts val="600"/>
              </a:spcAft>
              <a:defRPr sz="1400"/>
            </a:pPr>
            <a:r>
              <a:t>• Призыв к действию</a:t>
            </a:r>
          </a:p>
          <a:p>
            <a:pPr>
              <a:spcAft>
                <a:spcPts val="600"/>
              </a:spcAft>
              <a:defRPr sz="1400"/>
            </a:pPr>
            <a:r>
              <a:t>Свяжитесь с нами для обсуждения условий сотрудничества!</a:t>
            </a:r>
          </a:p>
          <a:p>
            <a:pPr>
              <a:spcAft>
                <a:spcPts val="600"/>
              </a:spcAft>
              <a:defRPr sz="1400"/>
            </a:pPr>
            <a:r>
              <a:t>Мы готовы предложить:</a:t>
            </a:r>
          </a:p>
          <a:p>
            <a:pPr>
              <a:spcAft>
                <a:spcPts val="600"/>
              </a:spcAft>
              <a:defRPr sz="1400"/>
            </a:pPr>
            <a:r>
              <a:t>- Бесплатную консультацию по вашему оборудованию</a:t>
            </a:r>
          </a:p>
          <a:p>
            <a:pPr>
              <a:spcAft>
                <a:spcPts val="600"/>
              </a:spcAft>
              <a:defRPr sz="1400"/>
            </a:pPr>
            <a:r>
              <a:t>- Выезд специалиста для оценки технического состояния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